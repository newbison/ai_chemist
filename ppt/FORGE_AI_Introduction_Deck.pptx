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90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6217920" y="-1097280"/>
            <a:ext cx="4572000" cy="4114800"/>
          </a:xfrm>
          <a:prstGeom prst="rect">
            <a:avLst/>
          </a:prstGeom>
          <a:solidFill>
            <a:srgbClr val="0D9488">
              <a:alpha val="12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 rot="-1080000">
            <a:off x="5303520" y="2011680"/>
            <a:ext cx="5029200" cy="4114800"/>
          </a:xfrm>
          <a:prstGeom prst="rect">
            <a:avLst/>
          </a:prstGeom>
          <a:solidFill>
            <a:srgbClr val="14B8A6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⚒️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27875" y="15316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FORGE AI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27874" y="3127099"/>
            <a:ext cx="70445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Revolutionize Your Innovation Process Today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  ·  Human in the Loop  ·  For Every Materials Company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F09F7-8CFA-2526-1F30-97D9EEC317CA}"/>
              </a:ext>
            </a:extLst>
          </p:cNvPr>
          <p:cNvSpPr txBox="1"/>
          <p:nvPr/>
        </p:nvSpPr>
        <p:spPr>
          <a:xfrm>
            <a:off x="639908" y="2683354"/>
            <a:ext cx="7707466" cy="375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altLang="zh-CN" sz="1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world's best materials are built by the world's slowest R&amp;D process.</a:t>
            </a:r>
            <a:endParaRPr lang="en-US" altLang="zh-CN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R&amp;D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materials innovation takes too long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06750"/>
            <a:ext cx="3474720" cy="1321448"/>
          </a:xfrm>
          <a:prstGeom prst="rect">
            <a:avLst/>
          </a:prstGeom>
          <a:solidFill>
            <a:srgbClr val="0D9488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40581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06113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R&amp;D time spent on searching &amp; reading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innovation is painstakingly time-consuming</a:t>
            </a:r>
            <a:endParaRPr lang="en-US" sz="11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E42D61-E5F3-B3A2-4577-C2E442D6A75B}"/>
              </a:ext>
            </a:extLst>
          </p:cNvPr>
          <p:cNvGrpSpPr/>
          <p:nvPr/>
        </p:nvGrpSpPr>
        <p:grpSpPr>
          <a:xfrm>
            <a:off x="4572000" y="1306750"/>
            <a:ext cx="3931920" cy="548640"/>
            <a:chOff x="4572000" y="1306750"/>
            <a:chExt cx="3931920" cy="548640"/>
          </a:xfrm>
        </p:grpSpPr>
        <p:sp>
          <p:nvSpPr>
            <p:cNvPr id="8" name="Shape 6"/>
            <p:cNvSpPr/>
            <p:nvPr/>
          </p:nvSpPr>
          <p:spPr>
            <a:xfrm>
              <a:off x="4572000" y="1306750"/>
              <a:ext cx="3931920" cy="54864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4754880" y="1306750"/>
              <a:ext cx="4114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</a:rPr>
                <a:t>🔍</a:t>
              </a:r>
              <a:endParaRPr lang="en-US" sz="16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212080" y="1306750"/>
              <a:ext cx="3108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Screen 50+ patents per formulation</a:t>
              </a:r>
              <a:endParaRPr lang="en-US" sz="12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A8CB18-7F49-35E1-2EA2-73863942BEAE}"/>
              </a:ext>
            </a:extLst>
          </p:cNvPr>
          <p:cNvGrpSpPr/>
          <p:nvPr/>
        </p:nvGrpSpPr>
        <p:grpSpPr>
          <a:xfrm>
            <a:off x="4572000" y="2079558"/>
            <a:ext cx="3931920" cy="548640"/>
            <a:chOff x="4572000" y="1965118"/>
            <a:chExt cx="3931920" cy="548640"/>
          </a:xfrm>
        </p:grpSpPr>
        <p:sp>
          <p:nvSpPr>
            <p:cNvPr id="11" name="Shape 9"/>
            <p:cNvSpPr/>
            <p:nvPr/>
          </p:nvSpPr>
          <p:spPr>
            <a:xfrm>
              <a:off x="4572000" y="1965118"/>
              <a:ext cx="3931920" cy="54864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754880" y="1965118"/>
              <a:ext cx="4114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</a:rPr>
                <a:t>📋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212080" y="1965118"/>
              <a:ext cx="3108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Manual extraction into spreadsheets</a:t>
              </a:r>
              <a:endParaRPr lang="en-US" sz="12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F8AE02E-8C89-54C5-144B-EDD333769438}"/>
              </a:ext>
            </a:extLst>
          </p:cNvPr>
          <p:cNvGrpSpPr/>
          <p:nvPr/>
        </p:nvGrpSpPr>
        <p:grpSpPr>
          <a:xfrm>
            <a:off x="4572000" y="2852366"/>
            <a:ext cx="3931920" cy="548640"/>
            <a:chOff x="4572000" y="2623486"/>
            <a:chExt cx="3931920" cy="548640"/>
          </a:xfrm>
        </p:grpSpPr>
        <p:sp>
          <p:nvSpPr>
            <p:cNvPr id="14" name="Shape 12"/>
            <p:cNvSpPr/>
            <p:nvPr/>
          </p:nvSpPr>
          <p:spPr>
            <a:xfrm>
              <a:off x="4572000" y="2623486"/>
              <a:ext cx="3931920" cy="54864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754880" y="2623486"/>
              <a:ext cx="4114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</a:rPr>
                <a:t>🧪</a:t>
              </a:r>
              <a:endParaRPr lang="en-US" sz="16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212080" y="2623486"/>
              <a:ext cx="3108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DOE based on intuition, not evidence</a:t>
              </a:r>
              <a:endParaRPr lang="en-US" sz="12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6A433F-4835-092A-11CB-46C0ABFE5898}"/>
              </a:ext>
            </a:extLst>
          </p:cNvPr>
          <p:cNvGrpSpPr/>
          <p:nvPr/>
        </p:nvGrpSpPr>
        <p:grpSpPr>
          <a:xfrm>
            <a:off x="4572000" y="3625175"/>
            <a:ext cx="3931920" cy="548640"/>
            <a:chOff x="4572000" y="3281854"/>
            <a:chExt cx="3931920" cy="548640"/>
          </a:xfrm>
        </p:grpSpPr>
        <p:sp>
          <p:nvSpPr>
            <p:cNvPr id="17" name="Shape 15"/>
            <p:cNvSpPr/>
            <p:nvPr/>
          </p:nvSpPr>
          <p:spPr>
            <a:xfrm>
              <a:off x="4572000" y="3281854"/>
              <a:ext cx="3931920" cy="54864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38100" dist="127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4754880" y="3281854"/>
              <a:ext cx="4114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</a:rPr>
                <a:t>📄</a:t>
              </a:r>
              <a:endParaRPr lang="en-US" sz="16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212080" y="3281854"/>
              <a:ext cx="3108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Days spent writing reports &amp; slides</a:t>
              </a:r>
              <a:endParaRPr lang="en-US" sz="125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55793EC-6355-2086-CA69-FF6E786B2BED}"/>
              </a:ext>
            </a:extLst>
          </p:cNvPr>
          <p:cNvGrpSpPr/>
          <p:nvPr/>
        </p:nvGrpSpPr>
        <p:grpSpPr>
          <a:xfrm>
            <a:off x="640080" y="2852367"/>
            <a:ext cx="3474720" cy="1327124"/>
            <a:chOff x="640080" y="2642896"/>
            <a:chExt cx="3474720" cy="1327124"/>
          </a:xfrm>
        </p:grpSpPr>
        <p:sp>
          <p:nvSpPr>
            <p:cNvPr id="20" name="Shape 18"/>
            <p:cNvSpPr/>
            <p:nvPr/>
          </p:nvSpPr>
          <p:spPr>
            <a:xfrm>
              <a:off x="640080" y="2642896"/>
              <a:ext cx="3474720" cy="1327124"/>
            </a:xfrm>
            <a:prstGeom prst="rect">
              <a:avLst/>
            </a:prstGeom>
            <a:solidFill>
              <a:srgbClr val="0F172A"/>
            </a:solidFill>
            <a:ln/>
            <a:effectLst>
              <a:outerShdw blurRad="38100" dist="12700" dir="81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1154430" y="2942590"/>
              <a:ext cx="244602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EF4444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8 days  </a:t>
              </a:r>
            </a:p>
            <a:p>
              <a:pPr marL="0" indent="0" algn="ctr">
                <a:buNone/>
              </a:pPr>
              <a:r>
                <a:rPr lang="en-US" sz="1300" dirty="0">
                  <a:solidFill>
                    <a:srgbClr val="CBD5E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manual, not reusable     </a:t>
              </a:r>
            </a:p>
            <a:p>
              <a:pPr marL="0" indent="0" algn="ctr">
                <a:buNone/>
              </a:pPr>
              <a:endPara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endParaRPr>
            </a:p>
            <a:p>
              <a:pPr marL="0" indent="0" algn="ctr">
                <a:buNone/>
              </a:pPr>
              <a:r>
                <a:rPr lang="en-US" b="1" dirty="0">
                  <a:solidFill>
                    <a:srgbClr val="10B981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8</a:t>
              </a:r>
              <a:r>
                <a:rPr lang="en-US" sz="1800" b="1" dirty="0">
                  <a:solidFill>
                    <a:srgbClr val="10B981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minutes  </a:t>
              </a:r>
            </a:p>
            <a:p>
              <a:pPr marL="0" indent="0" algn="ctr">
                <a:buNone/>
              </a:pPr>
              <a:r>
                <a:rPr lang="en-US" sz="1300" dirty="0">
                  <a:solidFill>
                    <a:srgbClr val="CBD5E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AI-driven, compounding knowledge</a:t>
              </a:r>
              <a:endParaRPr lang="en-US" sz="1800" dirty="0"/>
            </a:p>
          </p:txBody>
        </p:sp>
      </p:grpSp>
      <p:sp>
        <p:nvSpPr>
          <p:cNvPr id="22" name="Shape 2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548640" y="4846320"/>
            <a:ext cx="7315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R&amp;D Intelligence Platform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800" dirty="0"/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7C3F23A2-42D4-41A5-EEFB-D7A3A0810B96}"/>
              </a:ext>
            </a:extLst>
          </p:cNvPr>
          <p:cNvSpPr/>
          <p:nvPr/>
        </p:nvSpPr>
        <p:spPr>
          <a:xfrm>
            <a:off x="2282757" y="3392520"/>
            <a:ext cx="233464" cy="27886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FORGE AI Way   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CN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Revolutionize Your Innovation Process</a:t>
            </a:r>
            <a:r>
              <a:rPr lang="en-US" altLang="zh-CN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8 Minutes </a:t>
            </a:r>
            <a:endParaRPr lang="en-US" altLang="zh-CN" sz="1400" dirty="0"/>
          </a:p>
        </p:txBody>
      </p:sp>
      <p:sp>
        <p:nvSpPr>
          <p:cNvPr id="4" name="Shape 2"/>
          <p:cNvSpPr/>
          <p:nvPr/>
        </p:nvSpPr>
        <p:spPr>
          <a:xfrm>
            <a:off x="662940" y="1463040"/>
            <a:ext cx="1417320" cy="22860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662940" y="1463040"/>
            <a:ext cx="14173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62940" y="1645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62940" y="21031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 Input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2940" y="25603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80260" y="21031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63140" y="1463040"/>
            <a:ext cx="1417320" cy="22860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2263140" y="1463040"/>
            <a:ext cx="14173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2263140" y="1645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263140" y="21031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Search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63140" y="25603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Convergence across multiple sources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80460" y="21031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863340" y="1463040"/>
            <a:ext cx="1417320" cy="22860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3863340" y="1463040"/>
            <a:ext cx="14173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863340" y="1645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🧬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863340" y="21031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Deep Read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63340" y="25603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Map-reduce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texts processed in 5 minutes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80660" y="21031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463540" y="1463040"/>
            <a:ext cx="1417320" cy="22860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463540" y="1463040"/>
            <a:ext cx="14173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5463540" y="1645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463540" y="21031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Analyze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63540" y="25603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DOE design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80860" y="21031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063740" y="1463040"/>
            <a:ext cx="1417320" cy="22860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7063740" y="1463040"/>
            <a:ext cx="14173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7063740" y="1645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063740" y="21031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63740" y="25603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report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AI slides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solidFill>
            <a:srgbClr val="0D9488">
              <a:alpha val="2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projects. The more you use it, the smarter it gets.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Global Patent Intelligence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sources · full-text deep reading · automatic fallback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22860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54864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22960" y="1325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94560" y="1325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108960" y="1325880"/>
            <a:ext cx="22860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3108960" y="1325880"/>
            <a:ext cx="54864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291840" y="1325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0" y="1325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40080" y="1984248"/>
            <a:ext cx="22860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640080" y="1984248"/>
            <a:ext cx="54864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22960" y="1984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Espacenet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198424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108960" y="1984248"/>
            <a:ext cx="22860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3108960" y="1984248"/>
            <a:ext cx="54864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3291840" y="1984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Patentscope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8424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PCT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40080" y="2642616"/>
            <a:ext cx="22860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640080" y="2642616"/>
            <a:ext cx="54864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22960" y="26426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94560" y="26426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642616"/>
            <a:ext cx="22860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3108960" y="2642616"/>
            <a:ext cx="54864" cy="548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291840" y="26426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</a:t>
            </a:r>
            <a:r>
              <a:rPr lang="en-US" altLang="zh-CN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63440" y="26426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knowledge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577840" y="1325880"/>
            <a:ext cx="292608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580644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patent is real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06440" y="178308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10,000+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675120" y="1783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 extracted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patent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221992"/>
            <a:ext cx="24688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5806440" y="224028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75120" y="2240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patents analyzed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~3 minutes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10655" y="2679289"/>
            <a:ext cx="24688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5806440" y="269748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675120" y="2697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" y="3337560"/>
            <a:ext cx="78638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82296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Full-Text Deep Analysis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22960" y="36576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patent: Abstract + Claims + Description — all extracted, parsed, and fed to the LLM. No summaries. No truncation. Every claim is citeable.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548640" y="4846320"/>
            <a:ext cx="7315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R&amp;D Intelligence Platform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X-Y Extraction &amp; Evidence Grading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patent text to structured technical knowledge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37490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X → Y?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8288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material, composition, or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process parameter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performance or effect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Adhesion strength increased from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→ 8.7 N/cm when silane content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raised from 1.5 → 3.0 wt%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32588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37490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93776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5-Level Evidence Grading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1847088"/>
            <a:ext cx="73152" cy="21945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12064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94360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disclosure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37760" y="2167128"/>
            <a:ext cx="73152" cy="21945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512064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0" y="2148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normalization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37760" y="2487168"/>
            <a:ext cx="73152" cy="21945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120640" y="2468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inference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37760" y="2807208"/>
            <a:ext cx="73152" cy="21945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5120640" y="2788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hypothesis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37760" y="3127248"/>
            <a:ext cx="73152" cy="21945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5120640" y="3108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suggestion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solidFill>
            <a:srgbClr val="0F172A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⛓️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extraction cites its patent number.  </a:t>
            </a:r>
            <a:r>
              <a:rPr lang="en-US" sz="1200" dirty="0">
                <a:solidFill>
                  <a:srgbClr val="000000"/>
                </a:solidFill>
              </a:rPr>
              <a:t>🔬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≠ experimental evidence.  </a:t>
            </a:r>
            <a:r>
              <a:rPr lang="en-US" sz="1200" dirty="0">
                <a:solidFill>
                  <a:srgbClr val="000000"/>
                </a:solidFill>
              </a:rPr>
              <a:t>📊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Cross-patent comparison with concrete numbers.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548640" y="4846320"/>
            <a:ext cx="7315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R&amp;D Intelligence Platform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Competitive Intelligence &amp; White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everyone is — and where nobody is looking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3794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1508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Competitor Products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18745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who is working 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problem and what they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achieved so far.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3794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4892040" y="150876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8920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0" y="1508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Benchmark Analysis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18745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performance data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found solutions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concrete numbers.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3794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22960" y="301752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229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🗺️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017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White Space Mapping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33832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gaps — compositions,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processes, and applications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patent covers.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880360"/>
            <a:ext cx="3794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4892040" y="3017520"/>
            <a:ext cx="457200" cy="457200"/>
          </a:xfrm>
          <a:prstGeom prst="ellipse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48920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0" y="3017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Critical X Ranking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33832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which input variables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drive your CTQs.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right things first.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548640" y="4846320"/>
            <a:ext cx="7315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R&amp;D Intelligence Platform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AI-Designed DOE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patent evidence to experimental plans — in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37490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r>
              <a:rPr lang="en-US" sz="1500" b="1" baseline="300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</a:t>
            </a: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DOE  ·  Screening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factorial design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3383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dominant X variables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IV — no confounding of main effects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down from many factors to few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center points for curvature detection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4754880" y="1325880"/>
            <a:ext cx="37490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93776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r>
              <a:rPr lang="en-US" sz="1500" b="1" baseline="300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nd</a:t>
            </a: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DOE  ·  Optimization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composite design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383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optimal formulation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surface modeling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 function — multi-objective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sweet spot confirmation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7863840" cy="594360"/>
          </a:xfrm>
          <a:prstGeom prst="rect">
            <a:avLst/>
          </a:prstGeom>
          <a:solidFill>
            <a:srgbClr val="0F172A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 You run experiments  →  </a:t>
            </a: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 analyzes your DOE data  →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Model updates. Learning compounds.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548640" y="4846320"/>
            <a:ext cx="7315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R&amp;D Intelligence Platform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Complete R&amp;D Report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9-step workflow · 3 export formats · AI-designed slides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86384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3268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Intake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80644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80644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51384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VOC→CTQ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68020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268020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8760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Mining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55396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55396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6136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X-Y Extract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42772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442772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3512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Synthesize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30148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530148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888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Risk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17524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17524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8264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DOE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04900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704900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75640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Learn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7922768" y="1280160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7922768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3016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Replicate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40080" y="2286000"/>
            <a:ext cx="24688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640080" y="2286000"/>
            <a:ext cx="24688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640080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640080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Markdown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40080" y="31089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3291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— paste into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Notion, wiki, or docs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383280" y="2286000"/>
            <a:ext cx="24688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3383280" y="2286000"/>
            <a:ext cx="24688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3383280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3383280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Word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3383280" y="31089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383280" y="3291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document 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CJK-optimized fonts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26480" y="2286000"/>
            <a:ext cx="24688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6126480" y="2286000"/>
            <a:ext cx="24688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6126480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6126480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PowerPoint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126480" y="31089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.pptx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126480" y="3291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AI-designed slides 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color palettes, premium look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solidFill>
            <a:srgbClr val="0F172A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includes:  Patent priority scoring  ·  X/Y dictionaries  ·  X-Y relationship matrix  ·  Risk screening  ·  DOE portfolio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/>
          <p:nvPr/>
        </p:nvSpPr>
        <p:spPr>
          <a:xfrm>
            <a:off x="548640" y="4846320"/>
            <a:ext cx="7315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R&amp;D Intelligence Platform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Closed-Loop R&amp;D: FORGE AI + SPC Platform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literature to production — a unified learning system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89888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8288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640080" y="1527048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40080" y="1527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5270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FORGE AI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intelligence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extraction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DOE design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377440" y="18470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4B8A6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51760" y="1389888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2651760" y="1389888"/>
            <a:ext cx="18288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2743200" y="1527048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2743200" y="1527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54680" y="15270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Run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34640" y="193852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or pilot plant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80560" y="18470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4B8A6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754880" y="1389888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4754880" y="1389888"/>
            <a:ext cx="18288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4846320" y="1527048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4846320" y="1527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15270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SPC Platform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93852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surfaces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 optimization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18470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4B8A6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858000" y="1389888"/>
            <a:ext cx="182880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1389888"/>
            <a:ext cx="18288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6949440" y="1527048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949440" y="1527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60920" y="15270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FORGE AI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040880" y="193852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Refines the model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2nd-round DOE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82880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Learning loop — each cycle makes the model smarter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3657600"/>
            <a:ext cx="7863840" cy="411480"/>
          </a:xfrm>
          <a:prstGeom prst="rect">
            <a:avLst/>
          </a:prstGeom>
          <a:solidFill>
            <a:srgbClr val="0F172A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4008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test and why.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SPC Platform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548640" y="4846320"/>
            <a:ext cx="7315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R&amp;D Intelligence Platform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0">
            <a:off x="-914400" y="3200400"/>
            <a:ext cx="4572000" cy="3200400"/>
          </a:xfrm>
          <a:prstGeom prst="rect">
            <a:avLst/>
          </a:prstGeom>
          <a:solidFill>
            <a:srgbClr val="0D9488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 rot="900000">
            <a:off x="5486400" y="-914400"/>
            <a:ext cx="4572000" cy="3200400"/>
          </a:xfrm>
          <a:prstGeom prst="rect">
            <a:avLst/>
          </a:prstGeom>
          <a:solidFill>
            <a:srgbClr val="14B8A6">
              <a:alpha val="6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Your Project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university lab to R&amp;D floor — FORGE AI works at every scale.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246888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554480" y="178308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5544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Describe Your VOC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788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research question 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specific, the better.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645920"/>
            <a:ext cx="246888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297680" y="178308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2976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Does the 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66160" y="2788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Searches, reads, extracts, and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30+ patents in minutes.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645920"/>
            <a:ext cx="246888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7040880" y="178308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0408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Your Report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788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R&amp;D report + AI-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slides in one click.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931920"/>
            <a:ext cx="7863840" cy="594360"/>
          </a:xfrm>
          <a:prstGeom prst="rect">
            <a:avLst/>
          </a:prstGeom>
          <a:solidFill>
            <a:srgbClr val="0D9488"/>
          </a:solidFill>
          <a:ln/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9319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⚒️  Try FORGE AI Live  →  ai-chemist.zeabur.app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4572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github.com/newbison/AI_CHEMIST  ·  Built with DeepSeek + FastAPI + React + Docker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7240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920</Words>
  <Application>Microsoft Office PowerPoint</Application>
  <PresentationFormat>On-screen Show (16:9)</PresentationFormat>
  <Paragraphs>238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Introduction Deck</dc:title>
  <dc:subject>PptxGenJS Presentation</dc:subject>
  <dc:creator>FORGE AI</dc:creator>
  <cp:lastModifiedBy>JUN NIE</cp:lastModifiedBy>
  <cp:revision>11</cp:revision>
  <dcterms:created xsi:type="dcterms:W3CDTF">2026-06-21T13:12:51Z</dcterms:created>
  <dcterms:modified xsi:type="dcterms:W3CDTF">2026-06-23T05:35:55Z</dcterms:modified>
</cp:coreProperties>
</file>