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7" d="100"/>
          <a:sy n="147" d="100"/>
        </p:scale>
        <p:origin x="564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099966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0E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Shape 1"/>
          <p:cNvSpPr/>
          <p:nvPr/>
        </p:nvSpPr>
        <p:spPr>
          <a:xfrm>
            <a:off x="502920" y="0"/>
            <a:ext cx="1188720" cy="27432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" name="Shape 2"/>
          <p:cNvSpPr/>
          <p:nvPr/>
        </p:nvSpPr>
        <p:spPr>
          <a:xfrm>
            <a:off x="8503920" y="731520"/>
            <a:ext cx="91440" cy="9144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718938" y="1937619"/>
            <a:ext cx="4388407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zh-CN" altLang="en-US" dirty="0"/>
          </a:p>
        </p:txBody>
      </p:sp>
      <p:sp>
        <p:nvSpPr>
          <p:cNvPr id="7" name="Text 5"/>
          <p:cNvSpPr/>
          <p:nvPr/>
        </p:nvSpPr>
        <p:spPr>
          <a:xfrm>
            <a:off x="731520" y="1042675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kern="0" spc="1000" dirty="0">
                <a:solidFill>
                  <a:srgbClr val="00BFA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FORGE AI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731520" y="1957075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Revolutionize Your Innovation Process – </a:t>
            </a:r>
            <a:r>
              <a:rPr lang="en-US" altLang="zh-CN" sz="1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AI-Native R&amp;D Platform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2578867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007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by a Chemist · Human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777240" y="2898907"/>
            <a:ext cx="54864" cy="54864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1" name="Text 9"/>
          <p:cNvSpPr/>
          <p:nvPr/>
        </p:nvSpPr>
        <p:spPr>
          <a:xfrm>
            <a:off x="960120" y="2844043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translates VOC into CTQs + test methods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777240" y="3100075"/>
            <a:ext cx="54864" cy="54864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1"/>
          <p:cNvSpPr/>
          <p:nvPr/>
        </p:nvSpPr>
        <p:spPr>
          <a:xfrm>
            <a:off x="960120" y="3045211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researches competitors · finds white space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777240" y="3301243"/>
            <a:ext cx="54864" cy="54864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5" name="Text 13"/>
          <p:cNvSpPr/>
          <p:nvPr/>
        </p:nvSpPr>
        <p:spPr>
          <a:xfrm>
            <a:off x="960120" y="3246379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extracts X-Y from patents with evidence grading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777240" y="3502411"/>
            <a:ext cx="54864" cy="54864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7" name="Text 15"/>
          <p:cNvSpPr/>
          <p:nvPr/>
        </p:nvSpPr>
        <p:spPr>
          <a:xfrm>
            <a:off x="960120" y="3447547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designs your 1st and 2nd DOE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777240" y="3703579"/>
            <a:ext cx="54864" cy="54864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9" name="Text 17"/>
          <p:cNvSpPr/>
          <p:nvPr/>
        </p:nvSpPr>
        <p:spPr>
          <a:xfrm>
            <a:off x="960120" y="3648715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run experiments · AI analyzes your DOE data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777240" y="3904747"/>
            <a:ext cx="54864" cy="54864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1" name="Text 19"/>
          <p:cNvSpPr/>
          <p:nvPr/>
        </p:nvSpPr>
        <p:spPr>
          <a:xfrm>
            <a:off x="960120" y="3849883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generates your report · AI designs your slides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777240" y="4105915"/>
            <a:ext cx="54864" cy="54864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3" name="Text 21"/>
          <p:cNvSpPr/>
          <p:nvPr/>
        </p:nvSpPr>
        <p:spPr>
          <a:xfrm>
            <a:off x="960120" y="4051051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compounds across projects · Human in the loop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502920" y="4809744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5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· Built by a Chemist · Human in the Loop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8046720" y="4809744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/ 10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561286" y="4787240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60E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Human in the Loop · Input Determines Output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02920" y="866864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3977640" cy="347472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502920" y="1234440"/>
            <a:ext cx="45720" cy="347472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731520" y="137160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BFA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⚡ Humans Decide. AI Accelerates.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1783080"/>
            <a:ext cx="3566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60000"/>
              </a:lnSpc>
              <a:buNone/>
            </a:pPr>
            <a:r>
              <a:rPr lang="en-US" sz="9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finds evidence, extracts relationships, and recommends experiments. But an experienced engineer still decides which patents matter, which X variables to prioritize, and whether a DOE makes practical sense on the production floor. AI accelerates the grunt work. The chemist owns the judgment.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663440" y="1234440"/>
            <a:ext cx="3977640" cy="347472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4846320" y="137160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💡 Precise VOC = Precise Results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846320" y="1828800"/>
            <a:ext cx="3566160" cy="731520"/>
          </a:xfrm>
          <a:prstGeom prst="rect">
            <a:avLst/>
          </a:prstGeom>
          <a:solidFill>
            <a:srgbClr val="0A3A3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1" name="Text 9"/>
          <p:cNvSpPr/>
          <p:nvPr/>
        </p:nvSpPr>
        <p:spPr>
          <a:xfrm>
            <a:off x="4983480" y="19019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Good VOC: "UV-curable hard coat for polycarbonate, 9H pencil hardness, &gt;90% T at 550nm, &lt;2% haze after 1000 Taber cycles"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846320" y="2743200"/>
            <a:ext cx="3566160" cy="457200"/>
          </a:xfrm>
          <a:prstGeom prst="rect">
            <a:avLst/>
          </a:prstGeom>
          <a:solidFill>
            <a:srgbClr val="E85D7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1"/>
          <p:cNvSpPr/>
          <p:nvPr/>
        </p:nvSpPr>
        <p:spPr>
          <a:xfrm>
            <a:off x="4983480" y="28346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Poor VOC: "I need a better coating"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846320" y="3429000"/>
            <a:ext cx="3566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9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your material, target properties with numbers, constraints, and application. The more you put in, the more you get out.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02920" y="4809744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5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· Built by a Chemist · Human in the Loop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8046720" y="4809744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10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502920" y="4754880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60E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Traditional R&amp;D vs. FORGE AI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Shape 2"/>
          <p:cNvSpPr/>
          <p:nvPr/>
        </p:nvSpPr>
        <p:spPr>
          <a:xfrm>
            <a:off x="502920" y="1188720"/>
            <a:ext cx="3931920" cy="352044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685800" y="1298448"/>
            <a:ext cx="3566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4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685800" y="1572768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E8D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51560" y="157276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customer email · guess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2029968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E8D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51560" y="202996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Manually search patents · hope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85800" y="2487168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E8D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051560" y="248716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50 papers · Excel notes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85800" y="2944368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E8D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051560" y="294436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Guess X variables · guess DOE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85800" y="3401568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E8D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51560" y="340156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experiments · Excel analysis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85800" y="3858768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E8D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51560" y="385876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report · make slides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85800" y="4315968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E8D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51560" y="431596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project · start from zero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85800" y="4553712"/>
            <a:ext cx="35661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3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DAYS · NOT REUSABLE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4233672" y="2377440"/>
            <a:ext cx="685800" cy="502920"/>
          </a:xfrm>
          <a:prstGeom prst="rect">
            <a:avLst/>
          </a:prstGeom>
          <a:solidFill>
            <a:srgbClr val="060E1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2" name="Shape 20"/>
          <p:cNvSpPr/>
          <p:nvPr/>
        </p:nvSpPr>
        <p:spPr>
          <a:xfrm>
            <a:off x="4270248" y="2414016"/>
            <a:ext cx="612648" cy="429768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3" name="Text 21"/>
          <p:cNvSpPr/>
          <p:nvPr/>
        </p:nvSpPr>
        <p:spPr>
          <a:xfrm>
            <a:off x="4270248" y="2450592"/>
            <a:ext cx="612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650" b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2,300×</a:t>
            </a:r>
            <a:endParaRPr lang="en-US" sz="65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650" b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FASTER</a:t>
            </a:r>
            <a:endParaRPr lang="en-US" sz="650" dirty="0"/>
          </a:p>
        </p:txBody>
      </p:sp>
      <p:sp>
        <p:nvSpPr>
          <p:cNvPr id="24" name="Shape 22"/>
          <p:cNvSpPr/>
          <p:nvPr/>
        </p:nvSpPr>
        <p:spPr>
          <a:xfrm>
            <a:off x="4709160" y="1188720"/>
            <a:ext cx="3931920" cy="352044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5" name="Text 23"/>
          <p:cNvSpPr/>
          <p:nvPr/>
        </p:nvSpPr>
        <p:spPr>
          <a:xfrm>
            <a:off x="4892040" y="1298448"/>
            <a:ext cx="3566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4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4892040" y="1572768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5257800" y="157276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reads VOC · translates to CTQs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892040" y="2029968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5257800" y="202996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searches 6 global patent DBs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2487168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5257800" y="248716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reads every patent in full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892040" y="2944368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5257800" y="294436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maps white space · recommends DOE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92040" y="3401568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5257800" y="340156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run experiments · AI analyzes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892040" y="3858768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5257800" y="385876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generates report + designs slides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892040" y="4315968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5257800" y="431596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compounds · gets smarter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4892040" y="4553712"/>
            <a:ext cx="35661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3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· COMPOUNDING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502920" y="4809744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5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· Built by a Chemist · Human in the Loop</a:t>
            </a:r>
            <a:endParaRPr lang="en-US" sz="650" dirty="0"/>
          </a:p>
        </p:txBody>
      </p:sp>
      <p:sp>
        <p:nvSpPr>
          <p:cNvPr id="42" name="Text 40"/>
          <p:cNvSpPr/>
          <p:nvPr/>
        </p:nvSpPr>
        <p:spPr>
          <a:xfrm>
            <a:off x="8046720" y="4809744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10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502920" y="4754880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60E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Translates VOC into CTQs + Test Methods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4114800" cy="146304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502920" y="1234440"/>
            <a:ext cx="45720" cy="146304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731520" y="1325880"/>
            <a:ext cx="2743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kern="0" spc="300" dirty="0">
                <a:solidFill>
                  <a:srgbClr val="00BFA5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VOICE OF CUSTOMER</a:t>
            </a:r>
            <a:endParaRPr lang="en-US" sz="7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731520" y="155448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"We need a titanium alloy for bone implants that promotes osseointegration, resists wear under cyclic loading, does not release toxic ions over 15+ years, and can be 3D-printed for patient-specific geometries."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846320" y="1234440"/>
            <a:ext cx="3794760" cy="146304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5029200" y="1325880"/>
            <a:ext cx="3200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kern="0" spc="300" dirty="0">
                <a:solidFill>
                  <a:srgbClr val="0A0A0A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AI OUTPUT: CTQs + TEST METHODS</a:t>
            </a:r>
            <a:endParaRPr lang="en-US" sz="7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029200" y="1554480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 modulus &lt; 50 GPa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7360920" y="1554480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ASTM E111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5029200" y="1737360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Wear rate &lt; 0.1 mm³/Nm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7360920" y="1737360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ASTM G133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5029200" y="1920240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 viability &gt; 90%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7360920" y="1920240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10993-5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5029200" y="2103120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Ion release &lt; 10 ppb/90d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360920" y="2103120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10993-12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5029200" y="2286000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Fatigue &gt; 10⁷ cycles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7360920" y="2286000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ASTM F1160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5029200" y="2468880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Printable · &gt; 99.5% dense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7360920" y="2468880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μCT</a:t>
            </a:r>
            <a:endParaRPr lang="en-US" sz="650" dirty="0"/>
          </a:p>
        </p:txBody>
      </p:sp>
      <p:sp>
        <p:nvSpPr>
          <p:cNvPr id="22" name="Shape 20"/>
          <p:cNvSpPr/>
          <p:nvPr/>
        </p:nvSpPr>
        <p:spPr>
          <a:xfrm>
            <a:off x="502920" y="2971800"/>
            <a:ext cx="1920240" cy="187452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3" name="Shape 21"/>
          <p:cNvSpPr/>
          <p:nvPr/>
        </p:nvSpPr>
        <p:spPr>
          <a:xfrm>
            <a:off x="502920" y="2971800"/>
            <a:ext cx="192024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4" name="Text 22"/>
          <p:cNvSpPr/>
          <p:nvPr/>
        </p:nvSpPr>
        <p:spPr>
          <a:xfrm>
            <a:off x="640080" y="310896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00" b="1" kern="0" spc="15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COMPETITOR</a:t>
            </a:r>
            <a:endParaRPr lang="en-US" sz="8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800" b="1" kern="0" spc="15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INTELLIGENCE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40080" y="370332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Identifies commercial</a:t>
            </a:r>
            <a:endParaRPr lang="en-US" sz="8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 and competitor</a:t>
            </a:r>
            <a:endParaRPr lang="en-US" sz="8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patent portfolios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2606040" y="2971800"/>
            <a:ext cx="1920240" cy="187452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7" name="Shape 25"/>
          <p:cNvSpPr/>
          <p:nvPr/>
        </p:nvSpPr>
        <p:spPr>
          <a:xfrm>
            <a:off x="2606040" y="2971800"/>
            <a:ext cx="192024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8" name="Text 26"/>
          <p:cNvSpPr/>
          <p:nvPr/>
        </p:nvSpPr>
        <p:spPr>
          <a:xfrm>
            <a:off x="2743200" y="310896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00" b="1" kern="0" spc="15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8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800" b="1" kern="0" spc="15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2743200" y="370332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Compares performance</a:t>
            </a:r>
            <a:endParaRPr lang="en-US" sz="8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all found</a:t>
            </a:r>
            <a:endParaRPr lang="en-US" sz="8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solutions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709160" y="2971800"/>
            <a:ext cx="1920240" cy="187452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1" name="Shape 29"/>
          <p:cNvSpPr/>
          <p:nvPr/>
        </p:nvSpPr>
        <p:spPr>
          <a:xfrm>
            <a:off x="4709160" y="2971800"/>
            <a:ext cx="192024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2" name="Text 30"/>
          <p:cNvSpPr/>
          <p:nvPr/>
        </p:nvSpPr>
        <p:spPr>
          <a:xfrm>
            <a:off x="4846320" y="310896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00" b="1" kern="0" spc="15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 SPACE</a:t>
            </a:r>
            <a:endParaRPr lang="en-US" sz="8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800" b="1" kern="0" spc="15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846320" y="370332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where no one</a:t>
            </a:r>
            <a:endParaRPr lang="en-US" sz="8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solved the</a:t>
            </a:r>
            <a:endParaRPr lang="en-US" sz="8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yet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812280" y="2971800"/>
            <a:ext cx="1920240" cy="187452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5" name="Shape 33"/>
          <p:cNvSpPr/>
          <p:nvPr/>
        </p:nvSpPr>
        <p:spPr>
          <a:xfrm>
            <a:off x="6812280" y="2971800"/>
            <a:ext cx="192024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6" name="Text 34"/>
          <p:cNvSpPr/>
          <p:nvPr/>
        </p:nvSpPr>
        <p:spPr>
          <a:xfrm>
            <a:off x="6949440" y="310896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00" b="1" kern="0" spc="15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X</a:t>
            </a:r>
            <a:endParaRPr lang="en-US" sz="8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800" b="1" kern="0" spc="15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DETERMINATION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6949440" y="370332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Ranks which input</a:t>
            </a:r>
            <a:endParaRPr lang="en-US" sz="8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actually</a:t>
            </a:r>
            <a:endParaRPr lang="en-US" sz="8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 your CTQs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502920" y="4809744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5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· Built by a Chemist · Human in the Loop</a:t>
            </a:r>
            <a:endParaRPr lang="en-US" sz="650" dirty="0"/>
          </a:p>
        </p:txBody>
      </p:sp>
      <p:sp>
        <p:nvSpPr>
          <p:cNvPr id="39" name="Text 37"/>
          <p:cNvSpPr/>
          <p:nvPr/>
        </p:nvSpPr>
        <p:spPr>
          <a:xfrm>
            <a:off x="8046720" y="4809744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10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502920" y="4754880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60E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Maps Competitors + Identifies White Space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Shape 2"/>
          <p:cNvSpPr/>
          <p:nvPr/>
        </p:nvSpPr>
        <p:spPr>
          <a:xfrm>
            <a:off x="502920" y="1188720"/>
            <a:ext cx="4754880" cy="420624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502920" y="1188720"/>
            <a:ext cx="36576" cy="420624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685800" y="1216152"/>
            <a:ext cx="1188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Stryker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920240" y="1216152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Tritanium®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685800" y="1371600"/>
            <a:ext cx="155448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SLM-printed Ti cage + HA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2286000" y="1371600"/>
            <a:ext cx="155448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FDA cleared · 10yr data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685800" y="1490472"/>
            <a:ext cx="320040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E8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Modulus 3× bone</a:t>
            </a:r>
            <a:endParaRPr lang="en-US" sz="650" dirty="0"/>
          </a:p>
        </p:txBody>
      </p:sp>
      <p:sp>
        <p:nvSpPr>
          <p:cNvPr id="11" name="Shape 9"/>
          <p:cNvSpPr/>
          <p:nvPr/>
        </p:nvSpPr>
        <p:spPr>
          <a:xfrm>
            <a:off x="502920" y="1691640"/>
            <a:ext cx="4754880" cy="420624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2" name="Shape 10"/>
          <p:cNvSpPr/>
          <p:nvPr/>
        </p:nvSpPr>
        <p:spPr>
          <a:xfrm>
            <a:off x="502920" y="1691640"/>
            <a:ext cx="36576" cy="420624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1"/>
          <p:cNvSpPr/>
          <p:nvPr/>
        </p:nvSpPr>
        <p:spPr>
          <a:xfrm>
            <a:off x="685800" y="1719072"/>
            <a:ext cx="1188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Zimmer Biomet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1920240" y="1719072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Trabecular Metal™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685800" y="1874520"/>
            <a:ext cx="155448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vapor deposition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2286000" y="1874520"/>
            <a:ext cx="155448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Bone-like modulus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685800" y="1993392"/>
            <a:ext cx="320040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E8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costly · not printable</a:t>
            </a:r>
            <a:endParaRPr lang="en-US" sz="650" dirty="0"/>
          </a:p>
        </p:txBody>
      </p:sp>
      <p:sp>
        <p:nvSpPr>
          <p:cNvPr id="18" name="Shape 16"/>
          <p:cNvSpPr/>
          <p:nvPr/>
        </p:nvSpPr>
        <p:spPr>
          <a:xfrm>
            <a:off x="502920" y="2194560"/>
            <a:ext cx="4754880" cy="420624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9" name="Shape 17"/>
          <p:cNvSpPr/>
          <p:nvPr/>
        </p:nvSpPr>
        <p:spPr>
          <a:xfrm>
            <a:off x="502920" y="2194560"/>
            <a:ext cx="36576" cy="420624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0" name="Text 18"/>
          <p:cNvSpPr/>
          <p:nvPr/>
        </p:nvSpPr>
        <p:spPr>
          <a:xfrm>
            <a:off x="685800" y="2221992"/>
            <a:ext cx="1188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 Properties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1920240" y="2221992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Ti-35Nb-7Zr-5Ta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685800" y="2377440"/>
            <a:ext cx="155448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Beta-Ti, low modulus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2286000" y="2377440"/>
            <a:ext cx="155448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 GPa · ISO 10993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685800" y="2496312"/>
            <a:ext cx="320040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E8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AM qualification</a:t>
            </a:r>
            <a:endParaRPr lang="en-US" sz="650" dirty="0"/>
          </a:p>
        </p:txBody>
      </p:sp>
      <p:sp>
        <p:nvSpPr>
          <p:cNvPr id="25" name="Shape 23"/>
          <p:cNvSpPr/>
          <p:nvPr/>
        </p:nvSpPr>
        <p:spPr>
          <a:xfrm>
            <a:off x="502920" y="2697480"/>
            <a:ext cx="4754880" cy="420624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6" name="Shape 24"/>
          <p:cNvSpPr/>
          <p:nvPr/>
        </p:nvSpPr>
        <p:spPr>
          <a:xfrm>
            <a:off x="502920" y="2697480"/>
            <a:ext cx="36576" cy="420624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7" name="Text 25"/>
          <p:cNvSpPr/>
          <p:nvPr/>
        </p:nvSpPr>
        <p:spPr>
          <a:xfrm>
            <a:off x="685800" y="2724912"/>
            <a:ext cx="1188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 / IMR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1920240" y="2724912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Ti-Nb-Zr-Sn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685800" y="2880360"/>
            <a:ext cx="155448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Nb+Zr reduce toxicity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286000" y="2880360"/>
            <a:ext cx="155448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cost · biocompatible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685800" y="2999232"/>
            <a:ext cx="320040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E8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clinical translation</a:t>
            </a:r>
            <a:endParaRPr lang="en-US" sz="650" dirty="0"/>
          </a:p>
        </p:txBody>
      </p:sp>
      <p:sp>
        <p:nvSpPr>
          <p:cNvPr id="32" name="Shape 30"/>
          <p:cNvSpPr/>
          <p:nvPr/>
        </p:nvSpPr>
        <p:spPr>
          <a:xfrm>
            <a:off x="5486400" y="1188720"/>
            <a:ext cx="3154680" cy="201168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3" name="Text 31"/>
          <p:cNvSpPr/>
          <p:nvPr/>
        </p:nvSpPr>
        <p:spPr>
          <a:xfrm>
            <a:off x="5715000" y="13716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WHITE SPACE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5715000" y="1828800"/>
            <a:ext cx="1097280" cy="0"/>
          </a:xfrm>
          <a:prstGeom prst="line">
            <a:avLst/>
          </a:prstGeom>
          <a:noFill/>
          <a:ln w="12700">
            <a:solidFill>
              <a:srgbClr val="0A0A0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" name="Text 33"/>
          <p:cNvSpPr/>
          <p:nvPr/>
        </p:nvSpPr>
        <p:spPr>
          <a:xfrm>
            <a:off x="5715000" y="1965960"/>
            <a:ext cx="274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6035040" y="19659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850" dirty="0">
                <a:solidFill>
                  <a:srgbClr val="0A2A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product combines low-modulus beta-Ti + AM printability + bioactive coating in one system.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5715000" y="2423160"/>
            <a:ext cx="274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6035040" y="24231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850" dirty="0">
                <a:solidFill>
                  <a:srgbClr val="0A2A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Zr reduces ion release — proven. But nobody optimized Zr + Ta + Sn simultaneously for AM processing.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502920" y="4809744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5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· Built by a Chemist · Human in the Loop</a:t>
            </a:r>
            <a:endParaRPr lang="en-US" sz="650" dirty="0"/>
          </a:p>
        </p:txBody>
      </p:sp>
      <p:sp>
        <p:nvSpPr>
          <p:cNvPr id="40" name="Text 38"/>
          <p:cNvSpPr/>
          <p:nvPr/>
        </p:nvSpPr>
        <p:spPr>
          <a:xfrm>
            <a:off x="8046720" y="4809744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10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502920" y="4754880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60E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Extracts X-Y from Every Patent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Text 2"/>
          <p:cNvSpPr/>
          <p:nvPr/>
        </p:nvSpPr>
        <p:spPr>
          <a:xfrm>
            <a:off x="502920" y="98755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text: Abstract + Claims + Description. Evidence-graded. Cross-referenced.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02920" y="1325880"/>
            <a:ext cx="8138160" cy="27432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640080" y="135331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VARIABLE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560320" y="1353312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OUTCOME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663440" y="135331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5669280" y="135331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7406640" y="135331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502920" y="1627632"/>
            <a:ext cx="8138160" cy="338328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2" name="Text 10"/>
          <p:cNvSpPr/>
          <p:nvPr/>
        </p:nvSpPr>
        <p:spPr>
          <a:xfrm>
            <a:off x="640080" y="1682496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 28→35 wt%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2560320" y="1682496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Modulus 62→48 GPa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663440" y="168249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007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L4 · Comparative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5669280" y="1682496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7E8D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US10895000B2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7452360" y="1719072"/>
            <a:ext cx="137160" cy="128016"/>
          </a:xfrm>
          <a:prstGeom prst="ellipse">
            <a:avLst/>
          </a:prstGeom>
          <a:solidFill>
            <a:srgbClr val="2ECC7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7" name="Text 15"/>
          <p:cNvSpPr/>
          <p:nvPr/>
        </p:nvSpPr>
        <p:spPr>
          <a:xfrm>
            <a:off x="7680960" y="1682496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502920" y="2011680"/>
            <a:ext cx="8138160" cy="338328"/>
          </a:xfrm>
          <a:prstGeom prst="rect">
            <a:avLst/>
          </a:prstGeom>
          <a:solidFill>
            <a:srgbClr val="060E1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9" name="Text 17"/>
          <p:cNvSpPr/>
          <p:nvPr/>
        </p:nvSpPr>
        <p:spPr>
          <a:xfrm>
            <a:off x="640080" y="2066544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Zr 5→10 wt%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2560320" y="2066544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Ion release ↓ 60% (90d)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663440" y="206654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007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L5 · ICP-MS 90d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5669280" y="2066544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7E8D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CN109234569B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7452360" y="2103120"/>
            <a:ext cx="137160" cy="128016"/>
          </a:xfrm>
          <a:prstGeom prst="ellipse">
            <a:avLst/>
          </a:prstGeom>
          <a:solidFill>
            <a:srgbClr val="2ECC7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4" name="Text 22"/>
          <p:cNvSpPr/>
          <p:nvPr/>
        </p:nvSpPr>
        <p:spPr>
          <a:xfrm>
            <a:off x="7680960" y="2066544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502920" y="2395728"/>
            <a:ext cx="8138160" cy="338328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6" name="Text 24"/>
          <p:cNvSpPr/>
          <p:nvPr/>
        </p:nvSpPr>
        <p:spPr>
          <a:xfrm>
            <a:off x="640080" y="2450592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diffusion hardening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2560320" y="2450592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Wear rate ↓ 3×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4663440" y="245059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007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L4 · ASTM G133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5669280" y="2450592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7E8D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US10188778B2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7452360" y="2487168"/>
            <a:ext cx="137160" cy="128016"/>
          </a:xfrm>
          <a:prstGeom prst="ellipse">
            <a:avLst/>
          </a:prstGeom>
          <a:solidFill>
            <a:srgbClr val="2ECC7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1" name="Text 29"/>
          <p:cNvSpPr/>
          <p:nvPr/>
        </p:nvSpPr>
        <p:spPr>
          <a:xfrm>
            <a:off x="7680960" y="245059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700" dirty="0"/>
          </a:p>
        </p:txBody>
      </p:sp>
      <p:sp>
        <p:nvSpPr>
          <p:cNvPr id="32" name="Shape 30"/>
          <p:cNvSpPr/>
          <p:nvPr/>
        </p:nvSpPr>
        <p:spPr>
          <a:xfrm>
            <a:off x="502920" y="2779776"/>
            <a:ext cx="8138160" cy="338328"/>
          </a:xfrm>
          <a:prstGeom prst="rect">
            <a:avLst/>
          </a:prstGeom>
          <a:solidFill>
            <a:srgbClr val="060E1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3" name="Text 31"/>
          <p:cNvSpPr/>
          <p:nvPr/>
        </p:nvSpPr>
        <p:spPr>
          <a:xfrm>
            <a:off x="640080" y="283464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SLM 300-600μm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2560320" y="2834640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Bone ingrowth ↑ 65%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4663440" y="283464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007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L5 · Histomorphometry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5669280" y="283464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7E8D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EP3428288B1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7452360" y="2871216"/>
            <a:ext cx="137160" cy="128016"/>
          </a:xfrm>
          <a:prstGeom prst="ellipse">
            <a:avLst/>
          </a:prstGeom>
          <a:solidFill>
            <a:srgbClr val="2ECC7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8" name="Text 36"/>
          <p:cNvSpPr/>
          <p:nvPr/>
        </p:nvSpPr>
        <p:spPr>
          <a:xfrm>
            <a:off x="7680960" y="2834640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502920" y="3163824"/>
            <a:ext cx="8138160" cy="338328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0" name="Text 38"/>
          <p:cNvSpPr/>
          <p:nvPr/>
        </p:nvSpPr>
        <p:spPr>
          <a:xfrm>
            <a:off x="640080" y="321868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0→5 wt%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2560320" y="3218688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Tensile +150 MPa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4663440" y="321868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007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L4 · ASTM E8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5669280" y="321868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7E8D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CN109234569B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7452360" y="3255264"/>
            <a:ext cx="137160" cy="128016"/>
          </a:xfrm>
          <a:prstGeom prst="ellipse">
            <a:avLst/>
          </a:prstGeom>
          <a:solidFill>
            <a:srgbClr val="F39C12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5" name="Text 43"/>
          <p:cNvSpPr/>
          <p:nvPr/>
        </p:nvSpPr>
        <p:spPr>
          <a:xfrm>
            <a:off x="7680960" y="3218688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502920" y="3547872"/>
            <a:ext cx="8138160" cy="338328"/>
          </a:xfrm>
          <a:prstGeom prst="rect">
            <a:avLst/>
          </a:prstGeom>
          <a:solidFill>
            <a:srgbClr val="060E1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7" name="Text 45"/>
          <p:cNvSpPr/>
          <p:nvPr/>
        </p:nvSpPr>
        <p:spPr>
          <a:xfrm>
            <a:off x="640080" y="3602736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Aging 450 vs 500°C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2560320" y="3602736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ω-phase fraction 2×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4663440" y="36027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007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L4 · TEM+XRD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5669280" y="3602736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7E8D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US10895000B2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7452360" y="3639312"/>
            <a:ext cx="137160" cy="128016"/>
          </a:xfrm>
          <a:prstGeom prst="ellipse">
            <a:avLst/>
          </a:prstGeom>
          <a:solidFill>
            <a:srgbClr val="F39C12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2" name="Text 50"/>
          <p:cNvSpPr/>
          <p:nvPr/>
        </p:nvSpPr>
        <p:spPr>
          <a:xfrm>
            <a:off x="7680960" y="3602736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502920" y="4809744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5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· Built by a Chemist · Human in the Loop</a:t>
            </a:r>
            <a:endParaRPr lang="en-US" sz="650" dirty="0"/>
          </a:p>
        </p:txBody>
      </p:sp>
      <p:sp>
        <p:nvSpPr>
          <p:cNvPr id="54" name="Text 52"/>
          <p:cNvSpPr/>
          <p:nvPr/>
        </p:nvSpPr>
        <p:spPr>
          <a:xfrm>
            <a:off x="8046720" y="4809744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10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502920" y="4754880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60E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Designs Your 1st and 2nd DOE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Text 2"/>
          <p:cNvSpPr/>
          <p:nvPr/>
        </p:nvSpPr>
        <p:spPr>
          <a:xfrm>
            <a:off x="502920" y="98755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 patent evidence, white space, and critical X ranking — AI recommends what to test.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02920" y="1234440"/>
            <a:ext cx="3931920" cy="347472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502920" y="1234440"/>
            <a:ext cx="3931920" cy="4572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685800" y="1371600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BFA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1ST DOE · SCREENING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1572768"/>
            <a:ext cx="35661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07A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Fractional factorial 2⁴⁻¹ · Resolution IV · 12 runs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685800" y="1828800"/>
            <a:ext cx="3566160" cy="182880"/>
          </a:xfrm>
          <a:prstGeom prst="rect">
            <a:avLst/>
          </a:prstGeom>
          <a:solidFill>
            <a:srgbClr val="13243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0" name="Text 8"/>
          <p:cNvSpPr/>
          <p:nvPr/>
        </p:nvSpPr>
        <p:spPr>
          <a:xfrm>
            <a:off x="777240" y="184708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1965960" y="1847088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(-1)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2743200" y="1847088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(+1)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3520440" y="1847088"/>
            <a:ext cx="640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777240" y="2039112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 content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965960" y="203911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wt%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2743200" y="203911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wt%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3520440" y="2039112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Dominant modulus lever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777240" y="2423160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Zr content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965960" y="242316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wt%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2743200" y="242316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wt%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3520440" y="2423160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Dominant biocompat. lever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777240" y="2807208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content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965960" y="280720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wt%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2743200" y="280720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wt%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3520440" y="2807208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 + AM compatible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777240" y="3191256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Aging temp.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965960" y="319125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400°C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2743200" y="319125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500°C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3520440" y="3191256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ω-phase optimization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4663440" y="1234440"/>
            <a:ext cx="3977640" cy="347472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1" name="Shape 29"/>
          <p:cNvSpPr/>
          <p:nvPr/>
        </p:nvSpPr>
        <p:spPr>
          <a:xfrm>
            <a:off x="4663440" y="1234440"/>
            <a:ext cx="3977640" cy="4572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2" name="Text 30"/>
          <p:cNvSpPr/>
          <p:nvPr/>
        </p:nvSpPr>
        <p:spPr>
          <a:xfrm>
            <a:off x="4846320" y="1371600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BFA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2ND DOE · OPTIMIZATION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846320" y="1572768"/>
            <a:ext cx="35661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07A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Central composite · 2 factors · α=1.414 · 8 runs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4846320" y="18745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screening identifies top 2 levers (likely Nb + Zr), optimize the sweet spot with response surface design.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4846320" y="2423160"/>
            <a:ext cx="35661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kern="0" spc="2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SURFACE CONTOUR</a:t>
            </a:r>
            <a:endParaRPr lang="en-US" sz="650" dirty="0"/>
          </a:p>
        </p:txBody>
      </p:sp>
      <p:sp>
        <p:nvSpPr>
          <p:cNvPr id="36" name="Shape 34"/>
          <p:cNvSpPr/>
          <p:nvPr/>
        </p:nvSpPr>
        <p:spPr>
          <a:xfrm>
            <a:off x="4846320" y="2606040"/>
            <a:ext cx="621792" cy="320040"/>
          </a:xfrm>
          <a:prstGeom prst="rect">
            <a:avLst/>
          </a:prstGeom>
          <a:solidFill>
            <a:srgbClr val="13243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7" name="Shape 35"/>
          <p:cNvSpPr/>
          <p:nvPr/>
        </p:nvSpPr>
        <p:spPr>
          <a:xfrm>
            <a:off x="5559552" y="2606040"/>
            <a:ext cx="621792" cy="320040"/>
          </a:xfrm>
          <a:prstGeom prst="rect">
            <a:avLst/>
          </a:prstGeom>
          <a:solidFill>
            <a:srgbClr val="007A6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8" name="Shape 36"/>
          <p:cNvSpPr/>
          <p:nvPr/>
        </p:nvSpPr>
        <p:spPr>
          <a:xfrm>
            <a:off x="6272784" y="2606040"/>
            <a:ext cx="621792" cy="320040"/>
          </a:xfrm>
          <a:prstGeom prst="rect">
            <a:avLst/>
          </a:prstGeom>
          <a:solidFill>
            <a:srgbClr val="007A6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9" name="Shape 37"/>
          <p:cNvSpPr/>
          <p:nvPr/>
        </p:nvSpPr>
        <p:spPr>
          <a:xfrm>
            <a:off x="6986016" y="2606040"/>
            <a:ext cx="621792" cy="32004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0" name="Shape 38"/>
          <p:cNvSpPr/>
          <p:nvPr/>
        </p:nvSpPr>
        <p:spPr>
          <a:xfrm>
            <a:off x="7699248" y="2606040"/>
            <a:ext cx="621792" cy="32004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1" name="Shape 39"/>
          <p:cNvSpPr/>
          <p:nvPr/>
        </p:nvSpPr>
        <p:spPr>
          <a:xfrm>
            <a:off x="4846320" y="3017520"/>
            <a:ext cx="621792" cy="320040"/>
          </a:xfrm>
          <a:prstGeom prst="rect">
            <a:avLst/>
          </a:prstGeom>
          <a:solidFill>
            <a:srgbClr val="007A6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2" name="Shape 40"/>
          <p:cNvSpPr/>
          <p:nvPr/>
        </p:nvSpPr>
        <p:spPr>
          <a:xfrm>
            <a:off x="5559552" y="3017520"/>
            <a:ext cx="621792" cy="32004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3" name="Shape 41"/>
          <p:cNvSpPr/>
          <p:nvPr/>
        </p:nvSpPr>
        <p:spPr>
          <a:xfrm>
            <a:off x="6272784" y="3017520"/>
            <a:ext cx="621792" cy="320040"/>
          </a:xfrm>
          <a:prstGeom prst="rect">
            <a:avLst/>
          </a:prstGeom>
          <a:solidFill>
            <a:srgbClr val="007A6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4" name="Shape 42"/>
          <p:cNvSpPr/>
          <p:nvPr/>
        </p:nvSpPr>
        <p:spPr>
          <a:xfrm>
            <a:off x="6986016" y="3017520"/>
            <a:ext cx="621792" cy="320040"/>
          </a:xfrm>
          <a:prstGeom prst="rect">
            <a:avLst/>
          </a:prstGeom>
          <a:solidFill>
            <a:srgbClr val="13243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5" name="Shape 43"/>
          <p:cNvSpPr/>
          <p:nvPr/>
        </p:nvSpPr>
        <p:spPr>
          <a:xfrm>
            <a:off x="7699248" y="3017520"/>
            <a:ext cx="621792" cy="320040"/>
          </a:xfrm>
          <a:prstGeom prst="rect">
            <a:avLst/>
          </a:prstGeom>
          <a:solidFill>
            <a:srgbClr val="007A6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6" name="Shape 44"/>
          <p:cNvSpPr/>
          <p:nvPr/>
        </p:nvSpPr>
        <p:spPr>
          <a:xfrm>
            <a:off x="4846320" y="3429000"/>
            <a:ext cx="621792" cy="32004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7" name="Shape 45"/>
          <p:cNvSpPr/>
          <p:nvPr/>
        </p:nvSpPr>
        <p:spPr>
          <a:xfrm>
            <a:off x="5559552" y="3429000"/>
            <a:ext cx="621792" cy="32004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8" name="Shape 46"/>
          <p:cNvSpPr/>
          <p:nvPr/>
        </p:nvSpPr>
        <p:spPr>
          <a:xfrm>
            <a:off x="6272784" y="3429000"/>
            <a:ext cx="621792" cy="32004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9" name="Shape 47"/>
          <p:cNvSpPr/>
          <p:nvPr/>
        </p:nvSpPr>
        <p:spPr>
          <a:xfrm>
            <a:off x="6986016" y="3429000"/>
            <a:ext cx="621792" cy="320040"/>
          </a:xfrm>
          <a:prstGeom prst="rect">
            <a:avLst/>
          </a:prstGeom>
          <a:solidFill>
            <a:srgbClr val="13243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0" name="Shape 48"/>
          <p:cNvSpPr/>
          <p:nvPr/>
        </p:nvSpPr>
        <p:spPr>
          <a:xfrm>
            <a:off x="7699248" y="3429000"/>
            <a:ext cx="621792" cy="32004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1" name="Shape 49"/>
          <p:cNvSpPr/>
          <p:nvPr/>
        </p:nvSpPr>
        <p:spPr>
          <a:xfrm>
            <a:off x="4846320" y="3840480"/>
            <a:ext cx="621792" cy="320040"/>
          </a:xfrm>
          <a:prstGeom prst="rect">
            <a:avLst/>
          </a:prstGeom>
          <a:solidFill>
            <a:srgbClr val="007A6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2" name="Shape 50"/>
          <p:cNvSpPr/>
          <p:nvPr/>
        </p:nvSpPr>
        <p:spPr>
          <a:xfrm>
            <a:off x="5559552" y="3840480"/>
            <a:ext cx="621792" cy="320040"/>
          </a:xfrm>
          <a:prstGeom prst="rect">
            <a:avLst/>
          </a:prstGeom>
          <a:solidFill>
            <a:srgbClr val="13243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3" name="Shape 51"/>
          <p:cNvSpPr/>
          <p:nvPr/>
        </p:nvSpPr>
        <p:spPr>
          <a:xfrm>
            <a:off x="6272784" y="3840480"/>
            <a:ext cx="621792" cy="320040"/>
          </a:xfrm>
          <a:prstGeom prst="rect">
            <a:avLst/>
          </a:prstGeom>
          <a:solidFill>
            <a:srgbClr val="007A6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4" name="Shape 52"/>
          <p:cNvSpPr/>
          <p:nvPr/>
        </p:nvSpPr>
        <p:spPr>
          <a:xfrm>
            <a:off x="6986016" y="3840480"/>
            <a:ext cx="621792" cy="320040"/>
          </a:xfrm>
          <a:prstGeom prst="rect">
            <a:avLst/>
          </a:prstGeom>
          <a:solidFill>
            <a:srgbClr val="007A6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5" name="Shape 53"/>
          <p:cNvSpPr/>
          <p:nvPr/>
        </p:nvSpPr>
        <p:spPr>
          <a:xfrm>
            <a:off x="7699248" y="3840480"/>
            <a:ext cx="621792" cy="32004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6" name="Shape 54"/>
          <p:cNvSpPr/>
          <p:nvPr/>
        </p:nvSpPr>
        <p:spPr>
          <a:xfrm>
            <a:off x="685800" y="4407408"/>
            <a:ext cx="3566160" cy="0"/>
          </a:xfrm>
          <a:prstGeom prst="line">
            <a:avLst/>
          </a:prstGeom>
          <a:noFill/>
          <a:ln w="3810">
            <a:solidFill>
              <a:srgbClr val="1A2D4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" name="Text 55"/>
          <p:cNvSpPr/>
          <p:nvPr/>
        </p:nvSpPr>
        <p:spPr>
          <a:xfrm>
            <a:off x="4846320" y="440740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run experiments. AI analyzes your DOE data. The model updates. Feed results back — knowledge compounds.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502920" y="4809744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5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· Built by a Chemist · Human in the Loop</a:t>
            </a:r>
            <a:endParaRPr lang="en-US" sz="650" dirty="0"/>
          </a:p>
        </p:txBody>
      </p:sp>
      <p:sp>
        <p:nvSpPr>
          <p:cNvPr id="59" name="Text 57"/>
          <p:cNvSpPr/>
          <p:nvPr/>
        </p:nvSpPr>
        <p:spPr>
          <a:xfrm>
            <a:off x="8046720" y="4809744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10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502920" y="4754880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60E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FORGE AI ↔ SPC Platform · Closed-Loop R&amp;D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Text 2"/>
          <p:cNvSpPr/>
          <p:nvPr/>
        </p:nvSpPr>
        <p:spPr>
          <a:xfrm>
            <a:off x="502920" y="98755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tells you what to test. SPC Platform tells you what happened. Feed back — AI designs the next round.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02920" y="1371600"/>
            <a:ext cx="2560320" cy="155448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2560320" cy="36576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685800" y="150876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85800" y="187452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85800" y="224028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63240" y="19202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BFA5"/>
                </a:solidFill>
              </a:rPr>
              <a:t>→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291840" y="1371600"/>
            <a:ext cx="2560320" cy="155448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2" name="Shape 10"/>
          <p:cNvSpPr/>
          <p:nvPr/>
        </p:nvSpPr>
        <p:spPr>
          <a:xfrm>
            <a:off x="3291840" y="1371600"/>
            <a:ext cx="256032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1"/>
          <p:cNvSpPr/>
          <p:nvPr/>
        </p:nvSpPr>
        <p:spPr>
          <a:xfrm>
            <a:off x="3474720" y="150876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474720" y="187452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 DOE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474720" y="224028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Patent-driven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852160" y="19202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BFA5"/>
                </a:solidFill>
              </a:rPr>
              <a:t>→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6080760" y="1371600"/>
            <a:ext cx="2560320" cy="155448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8" name="Shape 16"/>
          <p:cNvSpPr/>
          <p:nvPr/>
        </p:nvSpPr>
        <p:spPr>
          <a:xfrm>
            <a:off x="6080760" y="1371600"/>
            <a:ext cx="256032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9" name="Text 17"/>
          <p:cNvSpPr/>
          <p:nvPr/>
        </p:nvSpPr>
        <p:spPr>
          <a:xfrm>
            <a:off x="6263640" y="150876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263640" y="187452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Experiment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263640" y="224028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execute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02920" y="3154680"/>
            <a:ext cx="2560320" cy="155448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3" name="Shape 21"/>
          <p:cNvSpPr/>
          <p:nvPr/>
        </p:nvSpPr>
        <p:spPr>
          <a:xfrm>
            <a:off x="502920" y="3154680"/>
            <a:ext cx="2560320" cy="36576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4" name="Text 22"/>
          <p:cNvSpPr/>
          <p:nvPr/>
        </p:nvSpPr>
        <p:spPr>
          <a:xfrm>
            <a:off x="685800" y="329184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85800" y="365760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SPC Analysis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85800" y="402336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effects · RSM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063240" y="3703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BFA5"/>
                </a:solidFill>
              </a:rPr>
              <a:t>→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3291840" y="3154680"/>
            <a:ext cx="2560320" cy="155448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9" name="Shape 27"/>
          <p:cNvSpPr/>
          <p:nvPr/>
        </p:nvSpPr>
        <p:spPr>
          <a:xfrm>
            <a:off x="3291840" y="3154680"/>
            <a:ext cx="256032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0" name="Text 28"/>
          <p:cNvSpPr/>
          <p:nvPr/>
        </p:nvSpPr>
        <p:spPr>
          <a:xfrm>
            <a:off x="3474720" y="329184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3474720" y="365760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Desirability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474720" y="402336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Multi-response opt.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852160" y="3703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BFA5"/>
                </a:solidFill>
              </a:rPr>
              <a:t>→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6080760" y="3154680"/>
            <a:ext cx="2560320" cy="155448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5" name="Shape 33"/>
          <p:cNvSpPr/>
          <p:nvPr/>
        </p:nvSpPr>
        <p:spPr>
          <a:xfrm>
            <a:off x="6080760" y="3154680"/>
            <a:ext cx="2560320" cy="36576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6" name="Text 34"/>
          <p:cNvSpPr/>
          <p:nvPr/>
        </p:nvSpPr>
        <p:spPr>
          <a:xfrm>
            <a:off x="6263640" y="329184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263640" y="365760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2nd DOE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263640" y="402336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refines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02920" y="4809744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5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· Built by a Chemist · Human in the Loop</a:t>
            </a:r>
            <a:endParaRPr lang="en-US" sz="650" dirty="0"/>
          </a:p>
        </p:txBody>
      </p:sp>
      <p:sp>
        <p:nvSpPr>
          <p:cNvPr id="42" name="Text 40"/>
          <p:cNvSpPr/>
          <p:nvPr/>
        </p:nvSpPr>
        <p:spPr>
          <a:xfrm>
            <a:off x="8046720" y="4809744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10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502920" y="4754880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60E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Tech Stack (One Page Only)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Text 2"/>
          <p:cNvSpPr/>
          <p:nvPr/>
        </p:nvSpPr>
        <p:spPr>
          <a:xfrm>
            <a:off x="502920" y="98755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don't need to understand any of this. But the rigor is real.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02920" y="1325880"/>
            <a:ext cx="2606040" cy="342900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685800" y="146304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ENGINE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85800" y="1828800"/>
            <a:ext cx="1097280" cy="0"/>
          </a:xfrm>
          <a:prstGeom prst="line">
            <a:avLst/>
          </a:prstGeom>
          <a:noFill/>
          <a:ln w="6350">
            <a:solidFill>
              <a:srgbClr val="0A3A3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Text 6"/>
          <p:cNvSpPr/>
          <p:nvPr/>
        </p:nvSpPr>
        <p:spPr>
          <a:xfrm>
            <a:off x="685800" y="19659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DeepSeek V3 · 128K context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85800" y="24688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Processes 50+ full patents in one pass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85800" y="29718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SSE streaming · real-time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85800" y="34747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grading L0-L5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85800" y="39776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207K chars · 52K tokens per analysis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91840" y="1325880"/>
            <a:ext cx="2606040" cy="342900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4" name="Text 12"/>
          <p:cNvSpPr/>
          <p:nvPr/>
        </p:nvSpPr>
        <p:spPr>
          <a:xfrm>
            <a:off x="3474720" y="146304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PATENT PIPELINE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474720" y="1828800"/>
            <a:ext cx="1097280" cy="0"/>
          </a:xfrm>
          <a:prstGeom prst="line">
            <a:avLst/>
          </a:prstGeom>
          <a:noFill/>
          <a:ln w="6350">
            <a:solidFill>
              <a:srgbClr val="7E8D9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4"/>
          <p:cNvSpPr/>
          <p:nvPr/>
        </p:nvSpPr>
        <p:spPr>
          <a:xfrm>
            <a:off x="3474720" y="19659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global databases in parallel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474720" y="24688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· USPTO · EPO · WIPO · Scholar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74720" y="29718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Auto-fallback when sources blocked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474720" y="34747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10K+ chars extracted per patent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474720" y="39776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links to original source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080760" y="1325880"/>
            <a:ext cx="2606040" cy="342900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2" name="Text 20"/>
          <p:cNvSpPr/>
          <p:nvPr/>
        </p:nvSpPr>
        <p:spPr>
          <a:xfrm>
            <a:off x="6263640" y="146304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DEPLOYMENT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263640" y="1828800"/>
            <a:ext cx="1097280" cy="0"/>
          </a:xfrm>
          <a:prstGeom prst="line">
            <a:avLst/>
          </a:prstGeom>
          <a:noFill/>
          <a:ln w="6350">
            <a:solidFill>
              <a:srgbClr val="7E8D9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Text 22"/>
          <p:cNvSpPr/>
          <p:nvPr/>
        </p:nvSpPr>
        <p:spPr>
          <a:xfrm>
            <a:off x="6263640" y="19659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3.11 + FastAPI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24688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18 + TypeScript + Vite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263640" y="29718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Docker: deploy in one command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263640" y="34747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Export: Word · Markdown · PPTX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263640" y="39776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source · MIT License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02920" y="4809744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5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· Built by a Chemist · Human in the Loop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8046720" y="4809744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10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502920" y="4754880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60E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Shape 1"/>
          <p:cNvSpPr/>
          <p:nvPr/>
        </p:nvSpPr>
        <p:spPr>
          <a:xfrm>
            <a:off x="8503920" y="457200"/>
            <a:ext cx="109728" cy="109728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" name="Text 2"/>
          <p:cNvSpPr/>
          <p:nvPr/>
        </p:nvSpPr>
        <p:spPr>
          <a:xfrm>
            <a:off x="731520" y="548640"/>
            <a:ext cx="7498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32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IS NOT</a:t>
            </a:r>
            <a:endParaRPr lang="en-US" sz="3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32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LITERATURE TOOL.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256032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731520" y="17373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kern="0" spc="300" dirty="0">
                <a:solidFill>
                  <a:srgbClr val="00BFA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IS AI-NATIVE R&amp;D.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777240" y="2468880"/>
            <a:ext cx="64008" cy="64008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8" name="Text 6"/>
          <p:cNvSpPr/>
          <p:nvPr/>
        </p:nvSpPr>
        <p:spPr>
          <a:xfrm>
            <a:off x="1005840" y="2414016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translates VOC into CTQs + test methods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777240" y="2688336"/>
            <a:ext cx="64008" cy="64008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0" name="Text 8"/>
          <p:cNvSpPr/>
          <p:nvPr/>
        </p:nvSpPr>
        <p:spPr>
          <a:xfrm>
            <a:off x="1005840" y="2633472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researches competitors · finds white space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777240" y="2907792"/>
            <a:ext cx="64008" cy="64008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2" name="Text 10"/>
          <p:cNvSpPr/>
          <p:nvPr/>
        </p:nvSpPr>
        <p:spPr>
          <a:xfrm>
            <a:off x="1005840" y="2852928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extracts X-Y from patents with evidence grading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77240" y="3127248"/>
            <a:ext cx="64008" cy="64008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4" name="Text 12"/>
          <p:cNvSpPr/>
          <p:nvPr/>
        </p:nvSpPr>
        <p:spPr>
          <a:xfrm>
            <a:off x="1005840" y="3072384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designs your 1st and 2nd DOE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77240" y="3346704"/>
            <a:ext cx="64008" cy="64008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4"/>
          <p:cNvSpPr/>
          <p:nvPr/>
        </p:nvSpPr>
        <p:spPr>
          <a:xfrm>
            <a:off x="1005840" y="3291840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run experiments · AI analyzes your DOE data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777240" y="3566160"/>
            <a:ext cx="64008" cy="64008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6"/>
          <p:cNvSpPr/>
          <p:nvPr/>
        </p:nvSpPr>
        <p:spPr>
          <a:xfrm>
            <a:off x="1005840" y="3511296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generates your report · AI designs your slides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77240" y="3785616"/>
            <a:ext cx="64008" cy="64008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0" name="Text 18"/>
          <p:cNvSpPr/>
          <p:nvPr/>
        </p:nvSpPr>
        <p:spPr>
          <a:xfrm>
            <a:off x="1005840" y="3730752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compounds across projects · Human in the loop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731520" y="4389120"/>
            <a:ext cx="777240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Text 21"/>
          <p:cNvSpPr/>
          <p:nvPr/>
        </p:nvSpPr>
        <p:spPr>
          <a:xfrm>
            <a:off x="731520" y="4709160"/>
            <a:ext cx="7315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kern="0" spc="1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 materials company, from startup to global enterprise.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1274</Words>
  <Application>Microsoft Office PowerPoint</Application>
  <PresentationFormat>On-screen Show (16:9)</PresentationFormat>
  <Paragraphs>263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Consolas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FORGE AI — The AI-Native R&amp;D Platform for Materials Companies</dc:title>
  <dc:subject>PptxGenJS Presentation</dc:subject>
  <dc:creator>FORGE AI</dc:creator>
  <cp:lastModifiedBy>JUN NIE</cp:lastModifiedBy>
  <cp:revision>4</cp:revision>
  <dcterms:created xsi:type="dcterms:W3CDTF">2026-06-20T12:22:35Z</dcterms:created>
  <dcterms:modified xsi:type="dcterms:W3CDTF">2026-06-21T12:07:42Z</dcterms:modified>
</cp:coreProperties>
</file>