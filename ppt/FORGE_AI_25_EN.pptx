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7" d="100"/>
          <a:sy n="147" d="100"/>
        </p:scale>
        <p:origin x="56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30918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7772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world's best materials are built by the world's slowest R&amp;D process.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3566160"/>
            <a:ext cx="27432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6" name="Text 4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25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8503920" y="685800"/>
            <a:ext cx="91440" cy="914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731520" y="935805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kern="0" spc="1000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FORGE AI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1987365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— The AI-Native R&amp;D Platform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536005"/>
            <a:ext cx="27432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731520" y="2718885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a Chemist · Human in the Loop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3084645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960120" y="3029781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translates VOC into CTQs + test methods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77240" y="3304101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960120" y="3249237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researches competitors · finds white space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77240" y="3523557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960120" y="3468693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extracts X-Y with evidence grading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77240" y="3743013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960120" y="3688149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designs your 1st and 2nd DOE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77240" y="3962469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960120" y="3907605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experiments · AI analyzes your DOE data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77240" y="4181925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960120" y="4127061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 your report · AI designs your slides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77240" y="4401381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960120" y="4346517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compounds across projects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25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Cost of Slow R&amp;D — By the Numbers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19A3009-1686-721D-32B4-00DD0B905A7C}"/>
              </a:ext>
            </a:extLst>
          </p:cNvPr>
          <p:cNvGrpSpPr/>
          <p:nvPr/>
        </p:nvGrpSpPr>
        <p:grpSpPr>
          <a:xfrm>
            <a:off x="502920" y="1089660"/>
            <a:ext cx="8138160" cy="612000"/>
            <a:chOff x="502920" y="1234440"/>
            <a:chExt cx="8138160" cy="612000"/>
          </a:xfrm>
        </p:grpSpPr>
        <p:sp>
          <p:nvSpPr>
            <p:cNvPr id="4" name="Shape 2"/>
            <p:cNvSpPr/>
            <p:nvPr/>
          </p:nvSpPr>
          <p:spPr>
            <a:xfrm>
              <a:off x="502920" y="1234440"/>
              <a:ext cx="8138160" cy="612000"/>
            </a:xfrm>
            <a:prstGeom prst="rect">
              <a:avLst/>
            </a:prstGeom>
            <a:solidFill>
              <a:srgbClr val="0E1A2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Shape 3"/>
            <p:cNvSpPr/>
            <p:nvPr/>
          </p:nvSpPr>
          <p:spPr>
            <a:xfrm>
              <a:off x="502920" y="1234440"/>
              <a:ext cx="8138160" cy="36576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" name="Text 4"/>
            <p:cNvSpPr/>
            <p:nvPr/>
          </p:nvSpPr>
          <p:spPr>
            <a:xfrm>
              <a:off x="685800" y="1325880"/>
              <a:ext cx="3657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00BFA5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01</a:t>
              </a:r>
              <a:endParaRPr lang="en-US" sz="1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1188720" y="1307592"/>
              <a:ext cx="22860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EBE8E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Search Patents</a:t>
              </a:r>
              <a:endParaRPr lang="en-US" sz="14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9520" y="1307592"/>
              <a:ext cx="9144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200" b="1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 days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1188720" y="1496568"/>
              <a:ext cx="59436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30000"/>
                </a:lnSpc>
                <a:buNone/>
              </a:pPr>
              <a:r>
                <a:rPr lang="en-US" sz="900" dirty="0">
                  <a:solidFill>
                    <a:srgbClr val="7E8D9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 polymer chemist screens 50 patents before a new formulation. Finding the right ones is the bottleneck.</a:t>
              </a:r>
              <a:endParaRPr lang="en-US" sz="900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0C0953A-93B9-99A1-2CBA-9E2E0BC70F5A}"/>
              </a:ext>
            </a:extLst>
          </p:cNvPr>
          <p:cNvGrpSpPr/>
          <p:nvPr/>
        </p:nvGrpSpPr>
        <p:grpSpPr>
          <a:xfrm>
            <a:off x="502920" y="1906146"/>
            <a:ext cx="8138160" cy="612000"/>
            <a:chOff x="502920" y="2148840"/>
            <a:chExt cx="8138160" cy="612000"/>
          </a:xfrm>
        </p:grpSpPr>
        <p:sp>
          <p:nvSpPr>
            <p:cNvPr id="10" name="Shape 8"/>
            <p:cNvSpPr/>
            <p:nvPr/>
          </p:nvSpPr>
          <p:spPr>
            <a:xfrm>
              <a:off x="502920" y="2148840"/>
              <a:ext cx="8138160" cy="612000"/>
            </a:xfrm>
            <a:prstGeom prst="rect">
              <a:avLst/>
            </a:prstGeom>
            <a:solidFill>
              <a:srgbClr val="0E1A2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" name="Shape 9"/>
            <p:cNvSpPr/>
            <p:nvPr/>
          </p:nvSpPr>
          <p:spPr>
            <a:xfrm>
              <a:off x="502920" y="2148840"/>
              <a:ext cx="8138160" cy="36576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" name="Text 10"/>
            <p:cNvSpPr/>
            <p:nvPr/>
          </p:nvSpPr>
          <p:spPr>
            <a:xfrm>
              <a:off x="685800" y="2240280"/>
              <a:ext cx="3657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00BFA5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02</a:t>
              </a:r>
              <a:endParaRPr lang="en-US" sz="18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1188720" y="2221992"/>
              <a:ext cx="22860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EBE8E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Read &amp; Screen</a:t>
              </a:r>
              <a:endParaRPr lang="en-US" sz="14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589520" y="2221992"/>
              <a:ext cx="9144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200" b="1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3 days</a:t>
              </a:r>
              <a:endParaRPr lang="en-US" sz="12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1188720" y="2410968"/>
              <a:ext cx="59436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30000"/>
                </a:lnSpc>
                <a:buNone/>
              </a:pPr>
              <a:r>
                <a:rPr lang="en-US" sz="900" dirty="0">
                  <a:solidFill>
                    <a:srgbClr val="7E8D9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An adhesive engineer spends a week mapping the competitive landscape. What you miss is risk.</a:t>
              </a:r>
              <a:endParaRPr lang="en-US" sz="900" dirty="0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31AB69E-41D3-A7A1-239C-9478C6FF3D0F}"/>
              </a:ext>
            </a:extLst>
          </p:cNvPr>
          <p:cNvGrpSpPr/>
          <p:nvPr/>
        </p:nvGrpSpPr>
        <p:grpSpPr>
          <a:xfrm>
            <a:off x="502920" y="2722632"/>
            <a:ext cx="8138160" cy="612000"/>
            <a:chOff x="502920" y="3063240"/>
            <a:chExt cx="8138160" cy="612000"/>
          </a:xfrm>
        </p:grpSpPr>
        <p:sp>
          <p:nvSpPr>
            <p:cNvPr id="16" name="Shape 14"/>
            <p:cNvSpPr/>
            <p:nvPr/>
          </p:nvSpPr>
          <p:spPr>
            <a:xfrm>
              <a:off x="502920" y="3063240"/>
              <a:ext cx="8138160" cy="612000"/>
            </a:xfrm>
            <a:prstGeom prst="rect">
              <a:avLst/>
            </a:prstGeom>
            <a:solidFill>
              <a:srgbClr val="0E1A2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7" name="Shape 15"/>
            <p:cNvSpPr/>
            <p:nvPr/>
          </p:nvSpPr>
          <p:spPr>
            <a:xfrm>
              <a:off x="502920" y="3063240"/>
              <a:ext cx="8138160" cy="36576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" name="Text 16"/>
            <p:cNvSpPr/>
            <p:nvPr/>
          </p:nvSpPr>
          <p:spPr>
            <a:xfrm>
              <a:off x="685800" y="3154680"/>
              <a:ext cx="3657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00BFA5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03</a:t>
              </a:r>
              <a:endParaRPr lang="en-US" sz="18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1188720" y="3136392"/>
              <a:ext cx="22860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EBE8E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Extract &amp; Analyze</a:t>
              </a:r>
              <a:endParaRPr lang="en-US" sz="14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589520" y="3136392"/>
              <a:ext cx="9144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200" b="1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 days</a:t>
              </a:r>
              <a:endParaRPr lang="en-US" sz="12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1188720" y="3325368"/>
              <a:ext cx="59436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30000"/>
                </a:lnSpc>
                <a:buNone/>
              </a:pPr>
              <a:r>
                <a:rPr lang="en-US" sz="900" dirty="0">
                  <a:solidFill>
                    <a:srgbClr val="7E8D9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 coatings scientist runs DOE on intuition because the literature is too vast. Guessing which variable to test first.</a:t>
              </a:r>
              <a:endParaRPr lang="en-US" sz="900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403FC64-8126-205D-F75E-31D1BE5A1161}"/>
              </a:ext>
            </a:extLst>
          </p:cNvPr>
          <p:cNvGrpSpPr/>
          <p:nvPr/>
        </p:nvGrpSpPr>
        <p:grpSpPr>
          <a:xfrm>
            <a:off x="502920" y="3539118"/>
            <a:ext cx="8138160" cy="612000"/>
            <a:chOff x="502920" y="3977640"/>
            <a:chExt cx="8138160" cy="612000"/>
          </a:xfrm>
        </p:grpSpPr>
        <p:sp>
          <p:nvSpPr>
            <p:cNvPr id="22" name="Shape 20"/>
            <p:cNvSpPr/>
            <p:nvPr/>
          </p:nvSpPr>
          <p:spPr>
            <a:xfrm>
              <a:off x="502920" y="3977640"/>
              <a:ext cx="8138160" cy="612000"/>
            </a:xfrm>
            <a:prstGeom prst="rect">
              <a:avLst/>
            </a:prstGeom>
            <a:solidFill>
              <a:srgbClr val="0E1A2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Shape 21"/>
            <p:cNvSpPr/>
            <p:nvPr/>
          </p:nvSpPr>
          <p:spPr>
            <a:xfrm>
              <a:off x="502920" y="3977640"/>
              <a:ext cx="8138160" cy="36576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4" name="Text 22"/>
            <p:cNvSpPr/>
            <p:nvPr/>
          </p:nvSpPr>
          <p:spPr>
            <a:xfrm>
              <a:off x="685800" y="4069080"/>
              <a:ext cx="3657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00BFA5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04</a:t>
              </a:r>
              <a:endParaRPr lang="en-US" sz="18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1188720" y="4050792"/>
              <a:ext cx="22860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EBE8E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Write Report</a:t>
              </a:r>
              <a:endParaRPr lang="en-US" sz="14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89520" y="4050792"/>
              <a:ext cx="9144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200" b="1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 day</a:t>
              </a:r>
              <a:endParaRPr lang="en-US" sz="12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1188720" y="4239768"/>
              <a:ext cx="59436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30000"/>
                </a:lnSpc>
                <a:buNone/>
              </a:pPr>
              <a:r>
                <a:rPr lang="en-US" sz="900" dirty="0">
                  <a:solidFill>
                    <a:srgbClr val="7E8D9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Write the report. Make the slides. Present to the R&amp;D director. Next project... start from zero.</a:t>
              </a:r>
              <a:endParaRPr lang="en-US" sz="900" dirty="0"/>
            </a:p>
          </p:txBody>
        </p:sp>
      </p:grpSp>
      <p:sp>
        <p:nvSpPr>
          <p:cNvPr id="28" name="Shape 26"/>
          <p:cNvSpPr/>
          <p:nvPr/>
        </p:nvSpPr>
        <p:spPr>
          <a:xfrm>
            <a:off x="502920" y="4292299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731520" y="438373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days. Nothing reusable. Zero compounding knowledge.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25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Every Materials Industry's Problem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685800" y="124358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Coatings &amp; Adhesives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606040" y="12435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search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2606040" y="140817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40 patents on acrylate chemistry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124358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they waste time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5029200" y="14081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UV-curable formulations, PSA tapes, barrier films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938528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502920" y="1938528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685800" y="199339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Biomedical Implants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06040" y="199339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search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2606040" y="215798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osseointegration data across 6 DBs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0" y="199339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they waste time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5029200" y="215798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alloys, HA coatings, biodegradable scaffolds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" y="2688336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502920" y="2688336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685800" y="27432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606040" y="2743200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search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2606040" y="290779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Li-ion safety patents from JP/KR/CN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they waste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5029200" y="290779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Electrolyte-resistant tapes, solid-state electrolytes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02920" y="3438144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502920" y="3438144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685800" y="349300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Polymer Composites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606040" y="3493008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search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606040" y="365760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which interface lasts 1000h at 180°C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29200" y="349300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they waste time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5029200" y="365760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CFRP, high-temp thermoplastics, flame retardants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02920" y="4187952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502920" y="4187952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685800" y="424281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Materials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606040" y="4242816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search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2606040" y="440740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Extracting thermal cond. vs CTE tradeoffs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0" y="42428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they waste time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5029200" y="440740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TIM, underfill, EMC, die-attach materials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25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FORGE AI Is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literature tool. An AI-native R&amp;D operating system.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2560320" cy="147218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18288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 VOC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194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Translates to CTQs + methods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71800" y="1874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291840" y="1325880"/>
            <a:ext cx="2560320" cy="1472184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3291840" y="132588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3474720" y="1463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74720" y="18288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searches 6 DBs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74720" y="2194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Patents, competitors, benchmarks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760720" y="1874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560320" cy="1472184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6"/>
          <p:cNvSpPr/>
          <p:nvPr/>
        </p:nvSpPr>
        <p:spPr>
          <a:xfrm>
            <a:off x="6080760" y="132588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6263640" y="1463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263640" y="18288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 full patents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63640" y="2194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+ Claims + Description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3035808"/>
            <a:ext cx="2560320" cy="128016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502920" y="3035808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685800" y="317296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85800" y="35387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maps white space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5800" y="422198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where nobody is looking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971800" y="3383279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3291840" y="3035808"/>
            <a:ext cx="2560320" cy="128016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3291840" y="3035808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3474720" y="317296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3474720" y="35387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designs DOE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474720" y="422198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Evidence-driven, not intuition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781040" y="340817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6080760" y="3035808"/>
            <a:ext cx="2560320" cy="128016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6080760" y="3035808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6263640" y="317296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263640" y="35387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experiments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263640" y="422198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analyzes your DOE data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25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502920" y="4151376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 in the Loop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accelerates the grunt work. The chemist owns the judgment.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3794761" cy="275234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39319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85800" y="1371600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AI DOES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16916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evidence · Extracts relationships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21945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Recommends experiments · Generates reports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" y="26974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Cross-patent comparison · White space ID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234440"/>
            <a:ext cx="3838886" cy="2752344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4663440" y="1234440"/>
            <a:ext cx="397764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4846320" y="1371600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46320" y="16916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which patents truly matter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21945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Prioritizes which X to test first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46320" y="26974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Judges if DOE works on the production floor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4087368"/>
            <a:ext cx="8138160" cy="36576"/>
          </a:xfrm>
          <a:prstGeom prst="rect">
            <a:avLst/>
          </a:prstGeom>
          <a:solidFill>
            <a:srgbClr val="E85D7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648646" y="4178807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human: LLM-fabricated patent numbers · Plausible but un-runable DOE · Inferences without hands-on experience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25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Input Determines Output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E18FF07-D03B-4295-2910-982658A20958}"/>
              </a:ext>
            </a:extLst>
          </p:cNvPr>
          <p:cNvGrpSpPr/>
          <p:nvPr/>
        </p:nvGrpSpPr>
        <p:grpSpPr>
          <a:xfrm>
            <a:off x="502920" y="964691"/>
            <a:ext cx="8138160" cy="999343"/>
            <a:chOff x="502920" y="1188720"/>
            <a:chExt cx="8138160" cy="999343"/>
          </a:xfrm>
        </p:grpSpPr>
        <p:sp>
          <p:nvSpPr>
            <p:cNvPr id="4" name="Text 2"/>
            <p:cNvSpPr/>
            <p:nvPr/>
          </p:nvSpPr>
          <p:spPr>
            <a:xfrm>
              <a:off x="502920" y="1188720"/>
              <a:ext cx="13716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kern="0" spc="200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Biomedical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02920" y="1444752"/>
              <a:ext cx="8138160" cy="360000"/>
            </a:xfrm>
            <a:prstGeom prst="rect">
              <a:avLst/>
            </a:prstGeom>
            <a:solidFill>
              <a:srgbClr val="E85D7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" name="Text 4"/>
            <p:cNvSpPr/>
            <p:nvPr/>
          </p:nvSpPr>
          <p:spPr>
            <a:xfrm>
              <a:off x="685800" y="1463040"/>
              <a:ext cx="777240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❌  "Better bone implant"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02920" y="1800312"/>
              <a:ext cx="8138160" cy="360000"/>
            </a:xfrm>
            <a:prstGeom prst="rect">
              <a:avLst/>
            </a:prstGeom>
            <a:solidFill>
              <a:srgbClr val="0A3A30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Text 6"/>
            <p:cNvSpPr/>
            <p:nvPr/>
          </p:nvSpPr>
          <p:spPr>
            <a:xfrm>
              <a:off x="685800" y="1749151"/>
              <a:ext cx="7772400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✅  "Ti alloy, modulus &lt;50 GPa, wear &lt;0.1 mm³/Nm in SBF, ISO 10993-5 cell viability &gt;90%, SLM-printable, fatigue &gt;10⁷ cycles"</a:t>
              </a:r>
              <a:endParaRPr lang="en-US" sz="850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2F9B9D8-3FC6-1525-8CC6-A1EA31D04A21}"/>
              </a:ext>
            </a:extLst>
          </p:cNvPr>
          <p:cNvGrpSpPr/>
          <p:nvPr/>
        </p:nvGrpSpPr>
        <p:grpSpPr>
          <a:xfrm>
            <a:off x="499731" y="1954571"/>
            <a:ext cx="8141349" cy="1002634"/>
            <a:chOff x="499731" y="2468880"/>
            <a:chExt cx="8141349" cy="1002634"/>
          </a:xfrm>
        </p:grpSpPr>
        <p:sp>
          <p:nvSpPr>
            <p:cNvPr id="9" name="Text 7"/>
            <p:cNvSpPr/>
            <p:nvPr/>
          </p:nvSpPr>
          <p:spPr>
            <a:xfrm>
              <a:off x="502920" y="2468880"/>
              <a:ext cx="13716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kern="0" spc="200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Battery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02920" y="2724912"/>
              <a:ext cx="8138160" cy="360000"/>
            </a:xfrm>
            <a:prstGeom prst="rect">
              <a:avLst/>
            </a:prstGeom>
            <a:solidFill>
              <a:srgbClr val="E85D7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" name="Text 9"/>
            <p:cNvSpPr/>
            <p:nvPr/>
          </p:nvSpPr>
          <p:spPr>
            <a:xfrm>
              <a:off x="685800" y="2743200"/>
              <a:ext cx="777240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❌  "Better tape for battery"</a:t>
              </a:r>
              <a:endParaRPr lang="en-US" sz="9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9731" y="3084912"/>
              <a:ext cx="8138160" cy="360000"/>
            </a:xfrm>
            <a:prstGeom prst="rect">
              <a:avLst/>
            </a:prstGeom>
            <a:solidFill>
              <a:srgbClr val="0A3A30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" name="Text 11"/>
            <p:cNvSpPr/>
            <p:nvPr/>
          </p:nvSpPr>
          <p:spPr>
            <a:xfrm>
              <a:off x="682611" y="3032602"/>
              <a:ext cx="7772400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✅  "PSA tape, 85°C/72h in carbonate electrolyte with LiPF6, post-soak adhesion &gt;0.8 N/cm, no residue, dielectric &gt;15 kV/mm"</a:t>
              </a:r>
              <a:endParaRPr lang="en-US" sz="850" dirty="0"/>
            </a:p>
          </p:txBody>
        </p:sp>
      </p:grpSp>
      <p:sp>
        <p:nvSpPr>
          <p:cNvPr id="20" name="Text 18"/>
          <p:cNvSpPr/>
          <p:nvPr/>
        </p:nvSpPr>
        <p:spPr>
          <a:xfrm>
            <a:off x="515620" y="4188739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your material, target properties with numbers, constraints, and application. More in = more out.</a:t>
            </a:r>
            <a:endParaRPr lang="en-US" sz="1200" b="1" dirty="0"/>
          </a:p>
        </p:txBody>
      </p:sp>
      <p:sp>
        <p:nvSpPr>
          <p:cNvPr id="21" name="Text 19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25</a:t>
            </a:r>
            <a:endParaRPr lang="en-US" sz="700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C2C09C2-0C95-75BD-07C4-9646F204C415}"/>
              </a:ext>
            </a:extLst>
          </p:cNvPr>
          <p:cNvGrpSpPr/>
          <p:nvPr/>
        </p:nvGrpSpPr>
        <p:grpSpPr>
          <a:xfrm>
            <a:off x="457200" y="3069017"/>
            <a:ext cx="8183880" cy="1546179"/>
            <a:chOff x="457200" y="3749040"/>
            <a:chExt cx="8183880" cy="1546179"/>
          </a:xfrm>
        </p:grpSpPr>
        <p:sp>
          <p:nvSpPr>
            <p:cNvPr id="14" name="Text 12"/>
            <p:cNvSpPr/>
            <p:nvPr/>
          </p:nvSpPr>
          <p:spPr>
            <a:xfrm>
              <a:off x="502920" y="3749040"/>
              <a:ext cx="13716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kern="0" spc="200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Electronics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02920" y="4005072"/>
              <a:ext cx="8138160" cy="360000"/>
            </a:xfrm>
            <a:prstGeom prst="rect">
              <a:avLst/>
            </a:prstGeom>
            <a:solidFill>
              <a:srgbClr val="E85D7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6" name="Text 14"/>
            <p:cNvSpPr/>
            <p:nvPr/>
          </p:nvSpPr>
          <p:spPr>
            <a:xfrm>
              <a:off x="685800" y="4023360"/>
              <a:ext cx="777240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❌  "Better thermal paste"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02920" y="4373412"/>
              <a:ext cx="8138160" cy="360000"/>
            </a:xfrm>
            <a:prstGeom prst="rect">
              <a:avLst/>
            </a:prstGeom>
            <a:solidFill>
              <a:srgbClr val="0A3A30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" name="Text 16"/>
            <p:cNvSpPr/>
            <p:nvPr/>
          </p:nvSpPr>
          <p:spPr>
            <a:xfrm>
              <a:off x="682611" y="4339115"/>
              <a:ext cx="7772400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✅  "TIM, thermal conductivity &gt;5 W/mK, BLT &lt;30μm, -40→125°C / 1000 thermal cycles, no pump-out, compatible with Cu/Al"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7200" y="5295219"/>
              <a:ext cx="8138160" cy="0"/>
            </a:xfrm>
            <a:prstGeom prst="line">
              <a:avLst/>
            </a:prstGeom>
            <a:noFill/>
            <a:ln w="10160">
              <a:solidFill>
                <a:srgbClr val="00BFA5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Shape 21"/>
            <p:cNvSpPr/>
            <p:nvPr/>
          </p:nvSpPr>
          <p:spPr>
            <a:xfrm>
              <a:off x="502920" y="4773168"/>
              <a:ext cx="8138160" cy="0"/>
            </a:xfrm>
            <a:prstGeom prst="line">
              <a:avLst/>
            </a:prstGeom>
            <a:noFill/>
            <a:ln w="5080">
              <a:solidFill>
                <a:srgbClr val="1A2D42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Overview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2560320" cy="102412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640080" y="130759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130759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 Input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971800" y="1600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291840" y="123444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/>
          <p:cNvSpPr/>
          <p:nvPr/>
        </p:nvSpPr>
        <p:spPr>
          <a:xfrm>
            <a:off x="3291840" y="123444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3429000" y="130759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749040" y="130759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CTQs +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Methods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760720" y="15955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080760" y="123444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6080760" y="123444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217920" y="130759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537960" y="130759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 Search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6-source FB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246888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502920" y="246888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640080" y="25420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60120" y="254203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+ WS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949102" y="279307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3291840" y="246888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3291840" y="246888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3429000" y="25420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749040" y="254203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X-Y Extract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L0-5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737698" y="2783925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080760" y="246888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6080760" y="246888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6217920" y="25420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37960" y="254203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 Design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&amp; 2nd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02920" y="370332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502920" y="370332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640080" y="37764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60120" y="377647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2949102" y="4014215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3291840" y="370332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Shape 36"/>
          <p:cNvSpPr/>
          <p:nvPr/>
        </p:nvSpPr>
        <p:spPr>
          <a:xfrm>
            <a:off x="3291840" y="370332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9" name="Text 37"/>
          <p:cNvSpPr/>
          <p:nvPr/>
        </p:nvSpPr>
        <p:spPr>
          <a:xfrm>
            <a:off x="3429000" y="37764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749040" y="377647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SPC Analysis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 Data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751317" y="40325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6080760" y="3703320"/>
            <a:ext cx="2560320" cy="102412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3" name="Shape 41"/>
          <p:cNvSpPr/>
          <p:nvPr/>
        </p:nvSpPr>
        <p:spPr>
          <a:xfrm>
            <a:off x="6080760" y="370332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4" name="Text 42"/>
          <p:cNvSpPr/>
          <p:nvPr/>
        </p:nvSpPr>
        <p:spPr>
          <a:xfrm>
            <a:off x="6217920" y="37764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37960" y="377647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Update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25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6-Source Global Patent Engine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560320" cy="11887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685800" y="129844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Patents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59105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" y="182880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最快 · US 优先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85800" y="2103120"/>
            <a:ext cx="1005840" cy="182880"/>
          </a:xfrm>
          <a:prstGeom prst="rect">
            <a:avLst/>
          </a:prstGeom>
          <a:solidFill>
            <a:srgbClr val="E85D7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685800" y="212140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needed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291840" y="1188720"/>
            <a:ext cx="2560320" cy="11887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3291840" y="118872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3474720" y="129844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USPTO PatentsView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74720" y="159105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美国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474720" y="182880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· 结构化数据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474720" y="2103120"/>
            <a:ext cx="1005840" cy="18288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3474720" y="212140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080760" y="1188720"/>
            <a:ext cx="2560320" cy="11887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6080760" y="118872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6263640" y="129844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 Espacenet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63640" y="159105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欧洲/全球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263640" y="182880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API · 国内可达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263640" y="2103120"/>
            <a:ext cx="1005840" cy="18288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6263640" y="212140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02920" y="2606040"/>
            <a:ext cx="2560320" cy="11887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502920" y="260604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685800" y="27157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WIPO Patentscope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85800" y="300837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 PCT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85800" y="324612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联合国 · 国内可达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85800" y="3520440"/>
            <a:ext cx="1005840" cy="18288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/>
          <p:nvPr/>
        </p:nvSpPr>
        <p:spPr>
          <a:xfrm>
            <a:off x="685800" y="353872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291840" y="2606040"/>
            <a:ext cx="2560320" cy="11887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3291840" y="260604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3474720" y="27157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Scholar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474720" y="300837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全球学术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474720" y="324612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常可通 · HTML 解析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474720" y="3520440"/>
            <a:ext cx="1005840" cy="18288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6"/>
          <p:cNvSpPr/>
          <p:nvPr/>
        </p:nvSpPr>
        <p:spPr>
          <a:xfrm>
            <a:off x="3474720" y="353872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6080760" y="2606040"/>
            <a:ext cx="2560320" cy="11887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0" name="Shape 38"/>
          <p:cNvSpPr/>
          <p:nvPr/>
        </p:nvSpPr>
        <p:spPr>
          <a:xfrm>
            <a:off x="6080760" y="260604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1" name="Text 39"/>
          <p:cNvSpPr/>
          <p:nvPr/>
        </p:nvSpPr>
        <p:spPr>
          <a:xfrm>
            <a:off x="6263640" y="27157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LLM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263640" y="300837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训练知识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263640" y="324612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永远可用 · 保底兜底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263640" y="3520440"/>
            <a:ext cx="1005840" cy="18288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5" name="Text 43"/>
          <p:cNvSpPr/>
          <p:nvPr/>
        </p:nvSpPr>
        <p:spPr>
          <a:xfrm>
            <a:off x="6263640" y="353872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02920" y="4160520"/>
            <a:ext cx="8138160" cy="0"/>
          </a:xfrm>
          <a:prstGeom prst="line">
            <a:avLst/>
          </a:prstGeom>
          <a:noFill/>
          <a:ln w="1016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Text 45"/>
          <p:cNvSpPr/>
          <p:nvPr/>
        </p:nvSpPr>
        <p:spPr>
          <a:xfrm>
            <a:off x="502920" y="425196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principle: every patent number is real and traceable to its original source. Not AI-fabricated.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25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1: Coatings &amp; Adhesives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4572000" cy="13258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45720" cy="13258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1243584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CUSTOMER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31520" y="144475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"UV-curable hard coat for polycarbonate automotive glazing, 9H pencil hardness, &gt;90% T at 550nm, &lt;2% haze after 1000 Taber cycles, 5-year Florida weatherability."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03520" y="1170432"/>
            <a:ext cx="3337560" cy="13258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5486400" y="1243584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1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DECOMPOSES INTO 4 SEARCH ANGLES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486400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Acrylate oligomer + multifunctional monomer + photoinitiator systems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0" y="17190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Organic-inorganic hybrid · siloxane/POSS-modified coatings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8640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Nanoparticle-reinforced hard coats · SiO₂/Al₂O₃ fillers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0" y="223113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UV + thermal dual-cure systems for enhanced weatherability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697480"/>
            <a:ext cx="8138160" cy="12344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502920" y="2697480"/>
            <a:ext cx="813816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85800" y="278892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30175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patents found. Key insight: no one combines high-hardness acrylate + weatherable silicone topcoat + UV dual-cure in a single automotive glazing system.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5800" y="367588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A3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Recommended DOE: Acrylate oligomer type × Silicone content × UV dose · 12 runs · Responses: hardness, haze, QUV ΔE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25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1 Deep Dive: X-Y Extraction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8138160" cy="2743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731520" y="121615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VARIABLE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651760" y="121615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OUTCOME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572000" y="121615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492240" y="121615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502920" y="1490472"/>
            <a:ext cx="8138160" cy="5029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640080" y="156362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Oligomer MW 500→2000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651760" y="156362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Pencil hardness 6H→9H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846320" y="15636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Comparative ASTM D3363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492240" y="15636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US10465000B2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02920" y="2039112"/>
            <a:ext cx="8138160" cy="502920"/>
          </a:xfrm>
          <a:prstGeom prst="rect">
            <a:avLst/>
          </a:prstGeom>
          <a:solidFill>
            <a:srgbClr val="060E1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640080" y="21122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Silicone content 5→20%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651760" y="211226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QUV 5000h ΔE 5→1.2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46320" y="21122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 · 5yr outdoor exposure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492240" y="21122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EP2987654B1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02920" y="2587752"/>
            <a:ext cx="8138160" cy="5029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640080" y="26609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Photoinitiator 1→3%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651760" y="266090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Yellowness b* 3.5→0.8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846320" y="26609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Xenon accelerated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492240" y="26609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JP6543210B2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02920" y="3136392"/>
            <a:ext cx="8138160" cy="502920"/>
          </a:xfrm>
          <a:prstGeom prst="rect">
            <a:avLst/>
          </a:prstGeom>
          <a:solidFill>
            <a:srgbClr val="060E1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640080" y="320954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SiO₂ content 0→15%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651760" y="320954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Taber haze 8→1.5%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846320" y="320954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ASTM D1044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492240" y="320954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CN108765432A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02920" y="3685032"/>
            <a:ext cx="8138160" cy="5029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640080" y="375818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Dual-cure (UV+thermal)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2651760" y="375818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Crosslink density +40%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846320" y="375818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· FTIR+DSC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492240" y="375818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US9987654B2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25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2: Biomedical Implants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4572000" cy="13258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45720" cy="13258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1243584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CUSTOMER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31520" y="144475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"Ti alloy for spinal cage, promotes bone ingrowth, modulus matching cancellous bone, SLM-printable, fatigue &gt;5M cycles at 500N."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03520" y="1170432"/>
            <a:ext cx="3337560" cy="13258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5486400" y="1243584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1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DECOMPOSES INTO 4 SEARCH ANGLES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486400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Beta-Ti alloys · Nb/Zr/Ta systems · low modulus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0" y="17190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SLM porous structures · pore gradient · bone ingrowth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8640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HA/bioactive coatings · plasma spray · sol-gel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0" y="223113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AM Ti implants · fatigue performance · post-processing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697480"/>
            <a:ext cx="8138160" cy="12344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502920" y="2697480"/>
            <a:ext cx="813816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85800" y="278892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30175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patents found. White space: no one combines low-modulus beta-Ti + SLM porosity gradient optimization + HA coating in a single integrated process.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5800" y="367588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A3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Recommended DOE: Nb content × Pore size × HA thickness · 2⁴⁻¹ · 16 runs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25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2: Competitive Landscape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11430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 · Ti Alloy Bone Implants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5029200" cy="5029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502920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85800" y="140817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Stryker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011680" y="140817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Tritanium®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5800" y="1591056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 Ti + HA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743200" y="1591056"/>
            <a:ext cx="1828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· 10yr clinical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85800" y="1737360"/>
            <a:ext cx="3200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Modulus 3× bone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502920" y="1993392"/>
            <a:ext cx="5029200" cy="5029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502920" y="1993392"/>
            <a:ext cx="502920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685800" y="202996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Zimmer Biomet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011680" y="2029968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Trabecular Metal™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85800" y="2212848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vapor deposition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743200" y="2212848"/>
            <a:ext cx="1828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Bone-like modulus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85800" y="2359152"/>
            <a:ext cx="3200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costly · not printable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502920" y="2615184"/>
            <a:ext cx="5029200" cy="5029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502920" y="2615184"/>
            <a:ext cx="502920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685800" y="265176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NuVasive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011680" y="265176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Modulus™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5800" y="2834640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3D-printed Ti porous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2834640"/>
            <a:ext cx="1828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clinical use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85800" y="2980944"/>
            <a:ext cx="3200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coating design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502920" y="3236976"/>
            <a:ext cx="5029200" cy="5029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502920" y="3236976"/>
            <a:ext cx="502920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685800" y="327355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CAS/IMR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011680" y="327355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Ti-Nb-Zr-Sn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85800" y="3456432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Beta-Ti alloy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0" y="3456432"/>
            <a:ext cx="1828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cost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85800" y="3602736"/>
            <a:ext cx="3200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clinical translation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5760720" y="1371600"/>
            <a:ext cx="2880360" cy="20116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2"/>
          <p:cNvSpPr/>
          <p:nvPr/>
        </p:nvSpPr>
        <p:spPr>
          <a:xfrm>
            <a:off x="5760720" y="1371600"/>
            <a:ext cx="288036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Text 33"/>
          <p:cNvSpPr/>
          <p:nvPr/>
        </p:nvSpPr>
        <p:spPr>
          <a:xfrm>
            <a:off x="5943600" y="15087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 SPACE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943600" y="192024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263640" y="19202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0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combines low-modulus beta-Ti + SLM porosity gradient + HA coating in one process.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943600" y="251460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263640" y="2514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0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 fatigue data is scarce — most patents only test cast or forged condition fatigue.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25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3: Battery Materials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4572000" cy="13258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45720" cy="13258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1243584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CUSTOMER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31520" y="144475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"Termination tape for Li-ion cell, resistant to carbonate electrolyte with LiPF6 at 85°C/72h, no residue after soak, dielectric &gt;15 kV/mm, compatible with automated cell assembly."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03520" y="1170432"/>
            <a:ext cx="3337560" cy="13258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5486400" y="1243584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1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DECOMPOSES INTO 4 SEARCH ANGLES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486400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Acrylic PSA · electrolyte-resistant · crosslinking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0" y="17190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Silicone PSA · high-temp stability · residue control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8640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Polyimide substrate · thin profile · electrical insulation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0" y="223113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JP/KR patent dominance · Nitto Denko/Tesa/LG Chem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697480"/>
            <a:ext cx="8138160" cy="12344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502920" y="2697480"/>
            <a:ext cx="813816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85800" y="278892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30175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patents found. White space: electrolyte-resistant acrylic-silicone hybrid PSA with &lt;1% swell in carbonate at rubbery state. Gap in JP/KR patent portfolios.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5800" y="367588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A3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Recommended DOE: PSA composition × Substrate × Cure · 2³ full factorial + 3 center points · 11 runs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25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3: Cross-Patent Comparison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8138160" cy="2743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640080" y="121615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2377440" y="12161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ASSIGNEE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4069080" y="1216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760720" y="121615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7452360" y="121615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502920" y="1490472"/>
            <a:ext cx="8138160" cy="576072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640080" y="154533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US10465000B2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377440" y="15453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Nitto Denko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566160" y="15453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Acrylic PSA, acid &lt;5 mg KOH/g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486400" y="154533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85°C/72h no residue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040880" y="154533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silicone component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02920" y="2112264"/>
            <a:ext cx="8138160" cy="576072"/>
          </a:xfrm>
          <a:prstGeom prst="rect">
            <a:avLst/>
          </a:prstGeom>
          <a:solidFill>
            <a:srgbClr val="060E1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640080" y="21671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EP3456789B1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377440" y="21671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Tesa SE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566160" y="21671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Silicone-acrylic block copolymer PSA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486400" y="21671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100°C/168h stable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040880" y="21671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Dielectric not reported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02920" y="2734056"/>
            <a:ext cx="8138160" cy="576072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640080" y="27889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CN109876543A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377440" y="27889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 Chem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566160" y="2788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substrate + fluorinated acrylic PSA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486400" y="2788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Dielectric &gt;20 kV/mm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040880" y="2788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electrolyte only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02920" y="3355848"/>
            <a:ext cx="8138160" cy="576072"/>
          </a:xfrm>
          <a:prstGeom prst="rect">
            <a:avLst/>
          </a:prstGeom>
          <a:solidFill>
            <a:srgbClr val="060E1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640080" y="341071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JP6789012B2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377440" y="341071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 Corp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566160" y="34107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Epoxy-crosslinked acrylic PSA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486400" y="341071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Swell &lt;2%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040880" y="341071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Residue test incomplete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25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4: Polymer Composites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4572000" cy="13258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45720" cy="13258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1243584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CUSTOMER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31520" y="144475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"CFRP for aerospace secondary structure, Tg &gt;200°C, CAI &gt;300 MPa after 30J impact, FST compliant (FAR 25.853), out-of-autoclave processable."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03520" y="1170432"/>
            <a:ext cx="3337560" cy="13258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5486400" y="1243584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1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DECOMPOSES INTO 4 SEARCH ANGLES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486400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Benzoxazine · high Tg · low viscosity OOA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0" y="17190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BMI resin · high-temp · toughened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8640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Phthalonitrile · ultra-high Tg · flame retardant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0" y="223113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Thermoplastic-toughened epoxy · CAI optimized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697480"/>
            <a:ext cx="8138160" cy="12344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502920" y="2697480"/>
            <a:ext cx="813816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85800" y="278892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30175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patents found. White space: benzoxazine-phthalonitrile copolymer + thermoplastic toughening for OOA. No patent covers this combination.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5800" y="367588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A3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Recommended DOE: Benzoxazine/PN ratio × Toughener % × Cure profile · 12 runs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25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5: Electronic Materials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4572000" cy="13258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45720" cy="13258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1243584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CUSTOMER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31520" y="144475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"Underfill for 2.5D packaging, CTE &lt;25 ppm/°C, Tg &gt;150°C, flow distance &gt;15mm in &lt;30s, no voiding after 260°C reflow."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03520" y="1170432"/>
            <a:ext cx="3337560" cy="13258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5486400" y="1243584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1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DECOMPOSES INTO 4 SEARCH ANGLES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486400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Silica-filled epoxy · CTE control · flow optimization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0" y="17190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Cyanate ester · low CTE · high-temp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8640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Epoxy-cyanate hybrid · tradeoff balance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0" y="223113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Nanofiller · flow-fill dual optimization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697480"/>
            <a:ext cx="8138160" cy="12344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502920" y="2697480"/>
            <a:ext cx="813816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85800" y="278892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30175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patents found. Core insight: Silica loading vs. flowability is the dominant tradeoff across ALL patents. Nano-SiO₂ (&lt;100nm) can improve CTE without sacrificing flow — but nobody optimized particle size distribution below 50nm.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5800" y="367588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A3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Recommended DOE: SiO₂% × Particle size dist. × Epoxy-CE ratio · 2⁴⁻¹ · 12 runs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25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Cross-Industry Pattern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changes? What stays the same?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12344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(CTQs, materials, test methods per industry):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" y="14630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Coatings: Oligomer · Silicone · UV dose · Hardness/Haze/Weatherability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85800" y="19659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Biomedical: Nb% · Pore · HA thickness · Modulus/Wear/Cell viability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Battery: PSA type · Substrate · Cure · Adhesion/Residue/Dielectric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5800" y="29718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Composites: Resin ratio · Toughener · Cure · Tg/CAI/FST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34747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Electronics: SiO₂% · Particle · Resin ratio · CTE/Tg/Flow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3950208"/>
            <a:ext cx="8138160" cy="0"/>
          </a:xfrm>
          <a:prstGeom prst="line">
            <a:avLst/>
          </a:prstGeom>
          <a:noFill/>
          <a:ln w="1016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502920" y="404164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STAYS THE SAME (FORGE AI handles):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85800" y="42519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Same: Search → Extract → Compare → DOE → Experiment → Learn. FORGE AI handles the pattern. The chemist provides domain expertise.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25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Designs DOE — Two Examples Compared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DOE is designed from patent evidence in that industry — not a generic DOE template.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3931920" cy="329184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39319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85800" y="1389888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07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Coatings DOE · 2³ full factorial + 2 CPs · 10 runs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85800" y="1645920"/>
            <a:ext cx="3566160" cy="201168"/>
          </a:xfrm>
          <a:prstGeom prst="rect">
            <a:avLst/>
          </a:prstGeom>
          <a:solidFill>
            <a:srgbClr val="13243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777240" y="166420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65960" y="166420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(-1)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2834640" y="166420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(+1)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3703320" y="166420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777240" y="190195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Oligomer type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965960" y="19019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Urethane acrylate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834640" y="19019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Epoxy acrylate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703320" y="190195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hardness lever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777240" y="228600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Silicone content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65960" y="228600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834640" y="228600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703320" y="228600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weatherability lever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777240" y="2670048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dose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965960" y="267004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mJ/cm²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834640" y="267004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 mJ/cm²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703320" y="267004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Crosslink density control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663440" y="1280160"/>
            <a:ext cx="3931920" cy="329184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4663440" y="1280160"/>
            <a:ext cx="39319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4846320" y="1389888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07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 DOE · 2³ full factorial + 3 CPs · 11 runs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846320" y="1645920"/>
            <a:ext cx="3566160" cy="201168"/>
          </a:xfrm>
          <a:prstGeom prst="rect">
            <a:avLst/>
          </a:prstGeom>
          <a:solidFill>
            <a:srgbClr val="13243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4937760" y="166420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126480" y="166420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(-1)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995160" y="166420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(+1)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7863840" y="166420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937760" y="190195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 type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126480" y="19019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acrylic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995160" y="19019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Acrylic-silicone hybrid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863840" y="190195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electrolyte resistance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4937760" y="228600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Substrate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126480" y="228600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 25μm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995160" y="228600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12.5μm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863840" y="228600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Dielectric + thickness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937760" y="2670048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Cure condition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126480" y="267004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120°C/5min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995160" y="267004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150°C/3min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7863840" y="267004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Crosslink degree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25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SPC Platform Integration — Closed-Loop R&amp;D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tells you what to test. SPC Platform tells you what happened. Feed back — AI designs the next round.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2560320" cy="16459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1874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240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Patent-driven initial DOE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48940" y="194767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291840" y="1371600"/>
            <a:ext cx="2560320" cy="16459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3291840" y="137160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3474720" y="15087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74720" y="1874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Experiment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74720" y="2240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execute the plan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737860" y="194767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080760" y="1371600"/>
            <a:ext cx="2560320" cy="16459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6"/>
          <p:cNvSpPr/>
          <p:nvPr/>
        </p:nvSpPr>
        <p:spPr>
          <a:xfrm>
            <a:off x="6080760" y="137160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6263640" y="15087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263640" y="1874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SPC Platform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63640" y="2240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effects · RSM · Ppk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3246120"/>
            <a:ext cx="2560320" cy="16459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502920" y="324612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685800" y="33832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85800" y="3749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Desirability Opt.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5800" y="4114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Multi-response optimization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939212" y="38313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3291840" y="3246120"/>
            <a:ext cx="2560320" cy="16459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3291840" y="324612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3474720" y="33832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3474720" y="3749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474720" y="4114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Interprets data · refines model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747588" y="3751829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6080760" y="3246120"/>
            <a:ext cx="2560320" cy="16459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6080760" y="324612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6263640" y="33832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263640" y="3749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Round DOE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263640" y="4114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AI-optimized design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491947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25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Cross-Project Learning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knowledge migrates across projects.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8138160" cy="352044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141732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80000"/>
              </a:lnSpc>
              <a:buNone/>
            </a:pPr>
            <a:r>
              <a:rPr lang="en-US" sz="10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 (automotive coating) found: silicone content at 12% is the sweet spot for weatherability vs. hardness tradeoff — and this relationship is independent of acrylate oligomer type.</a:t>
            </a:r>
            <a:endParaRPr lang="en-US" sz="1050" dirty="0"/>
          </a:p>
          <a:p>
            <a:pPr marL="0" indent="0">
              <a:lnSpc>
                <a:spcPct val="180000"/>
              </a:lnSpc>
              <a:buNone/>
            </a:pPr>
            <a:endParaRPr lang="en-US" sz="1050" dirty="0"/>
          </a:p>
          <a:p>
            <a:pPr marL="0" indent="0">
              <a:lnSpc>
                <a:spcPct val="180000"/>
              </a:lnSpc>
              <a:buNone/>
            </a:pPr>
            <a:r>
              <a:rPr lang="en-US" sz="10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 (electronic adhesive) starts: FORGE AI automatically loads Project A's silicone-acrylic X-Y relationships and pre-populates the initial model. The electronic adhesive doesn't start from zero — it picks up where Project A left off.</a:t>
            </a:r>
            <a:endParaRPr lang="en-US" sz="1050" dirty="0"/>
          </a:p>
          <a:p>
            <a:pPr marL="0" indent="0">
              <a:lnSpc>
                <a:spcPct val="180000"/>
              </a:lnSpc>
              <a:buNone/>
            </a:pPr>
            <a:endParaRPr lang="en-US" sz="1050" dirty="0"/>
          </a:p>
          <a:p>
            <a:pPr marL="0" indent="0">
              <a:lnSpc>
                <a:spcPct val="180000"/>
              </a:lnSpc>
              <a:buNone/>
            </a:pPr>
            <a:r>
              <a:rPr lang="en-US" sz="10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projects share acrylate chemistry fundamentals. FORGE AI recognizes this commonality and migrates the knowledge.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8" name="Text 6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25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 Stack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need to understand this. But the rigor is real.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2606040" cy="342900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260604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ENGINE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1097280" cy="0"/>
          </a:xfrm>
          <a:prstGeom prst="line">
            <a:avLst/>
          </a:prstGeom>
          <a:noFill/>
          <a:ln w="6350">
            <a:solidFill>
              <a:srgbClr val="0A3A3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685800" y="1965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V3 · 128K context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Processes 50+ full patents/pass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85800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streaming · real-time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grading L0-L5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8580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~207K chars per analysis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1325880"/>
            <a:ext cx="2606040" cy="342900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3291840" y="1325880"/>
            <a:ext cx="260604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347472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PATENT PIPELINE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474720" y="1828800"/>
            <a:ext cx="1097280" cy="0"/>
          </a:xfrm>
          <a:prstGeom prst="line">
            <a:avLst/>
          </a:prstGeom>
          <a:noFill/>
          <a:ln w="6350">
            <a:solidFill>
              <a:srgbClr val="7E8D9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3474720" y="1965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databases in parallel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74720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· USPTO · EPO · WIPO · Scholar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474720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Auto-fallback if blocked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47472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10K+ chars per patent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47472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traceable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80760" y="1325880"/>
            <a:ext cx="2606040" cy="342900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6080760" y="1325880"/>
            <a:ext cx="260604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626364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63640" y="1828800"/>
            <a:ext cx="1097280" cy="0"/>
          </a:xfrm>
          <a:prstGeom prst="line">
            <a:avLst/>
          </a:prstGeom>
          <a:noFill/>
          <a:ln w="6350">
            <a:solidFill>
              <a:srgbClr val="7E8D9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6263640" y="1965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 + FastAPI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63640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TypeScript + Vite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263640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Docker: one-command deploy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6364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Export: Word · Markdown · PPTX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26364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· MIT License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25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 Paths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991508"/>
            <a:ext cx="8138160" cy="6400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991508"/>
            <a:ext cx="813816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685800" y="104637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468880" y="104637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clone → pip install → npm run dev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766560" y="104637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1741316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/>
          <p:cNvSpPr/>
          <p:nvPr/>
        </p:nvSpPr>
        <p:spPr>
          <a:xfrm>
            <a:off x="502920" y="1741316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685800" y="179618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68880" y="179618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build → docker run -e KEY=xxx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766560" y="179618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2491124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502920" y="2491124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85800" y="25459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· Zeabur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68880" y="254598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auth → auto-detect Dockerfile → deploy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0" y="25459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$5/month · Alipay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" y="3240932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502920" y="3240932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685800" y="329579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· HF Spaces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468880" y="329579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→ auto-build → live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766560" y="329579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 free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3990740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3"/>
          <p:cNvSpPr/>
          <p:nvPr/>
        </p:nvSpPr>
        <p:spPr>
          <a:xfrm>
            <a:off x="502920" y="3990740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685800" y="404560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468880" y="404560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Docker · private LLM · SSO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404560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author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502920" y="4751054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&amp; IP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1C97CAD-55F7-3829-71FD-C92BFAAAA8BA}"/>
              </a:ext>
            </a:extLst>
          </p:cNvPr>
          <p:cNvGrpSpPr/>
          <p:nvPr/>
        </p:nvGrpSpPr>
        <p:grpSpPr>
          <a:xfrm>
            <a:off x="502920" y="955581"/>
            <a:ext cx="8183880" cy="3675888"/>
            <a:chOff x="502920" y="897216"/>
            <a:chExt cx="8183880" cy="3675888"/>
          </a:xfrm>
        </p:grpSpPr>
        <p:sp>
          <p:nvSpPr>
            <p:cNvPr id="4" name="Shape 2"/>
            <p:cNvSpPr/>
            <p:nvPr/>
          </p:nvSpPr>
          <p:spPr>
            <a:xfrm>
              <a:off x="502920" y="897216"/>
              <a:ext cx="8138160" cy="640080"/>
            </a:xfrm>
            <a:prstGeom prst="rect">
              <a:avLst/>
            </a:prstGeom>
            <a:solidFill>
              <a:srgbClr val="0E1A2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Shape 3"/>
            <p:cNvSpPr/>
            <p:nvPr/>
          </p:nvSpPr>
          <p:spPr>
            <a:xfrm>
              <a:off x="502920" y="897216"/>
              <a:ext cx="8138160" cy="36576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" name="Shape 4"/>
            <p:cNvSpPr/>
            <p:nvPr/>
          </p:nvSpPr>
          <p:spPr>
            <a:xfrm>
              <a:off x="502920" y="897216"/>
              <a:ext cx="45720" cy="640080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" name="Text 5"/>
            <p:cNvSpPr/>
            <p:nvPr/>
          </p:nvSpPr>
          <p:spPr>
            <a:xfrm>
              <a:off x="731520" y="970368"/>
              <a:ext cx="18288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Data Residency</a:t>
              </a:r>
              <a:endParaRPr lang="en-US" sz="12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2651760" y="970368"/>
              <a:ext cx="56692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40000"/>
                </a:lnSpc>
                <a:buNone/>
              </a:pPr>
              <a:r>
                <a:rPr lang="en-US" sz="950" dirty="0">
                  <a:solidFill>
                    <a:srgbClr val="7E8D9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When self-hosted, your VOC and experimental data never leave your infrastructure.</a:t>
              </a:r>
              <a:endParaRPr lang="en-US" sz="9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2920" y="1647024"/>
              <a:ext cx="8138160" cy="640080"/>
            </a:xfrm>
            <a:prstGeom prst="rect">
              <a:avLst/>
            </a:prstGeom>
            <a:solidFill>
              <a:srgbClr val="0E1A2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" name="Shape 8"/>
            <p:cNvSpPr/>
            <p:nvPr/>
          </p:nvSpPr>
          <p:spPr>
            <a:xfrm>
              <a:off x="502920" y="1647024"/>
              <a:ext cx="8138160" cy="36576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" name="Shape 9"/>
            <p:cNvSpPr/>
            <p:nvPr/>
          </p:nvSpPr>
          <p:spPr>
            <a:xfrm>
              <a:off x="502920" y="1647024"/>
              <a:ext cx="45720" cy="640080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" name="Text 10"/>
            <p:cNvSpPr/>
            <p:nvPr/>
          </p:nvSpPr>
          <p:spPr>
            <a:xfrm>
              <a:off x="731520" y="1720176"/>
              <a:ext cx="18288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API Key Management</a:t>
              </a:r>
              <a:endParaRPr lang="en-US" sz="12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651760" y="1720176"/>
              <a:ext cx="56692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40000"/>
                </a:lnSpc>
                <a:buNone/>
              </a:pPr>
              <a:r>
                <a:rPr lang="en-US" sz="950" dirty="0">
                  <a:solidFill>
                    <a:srgbClr val="7E8D9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Injected via environment variables. Not in code. Not in git.</a:t>
              </a:r>
              <a:endParaRPr lang="en-US" sz="9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02920" y="2396832"/>
              <a:ext cx="8138160" cy="640080"/>
            </a:xfrm>
            <a:prstGeom prst="rect">
              <a:avLst/>
            </a:prstGeom>
            <a:solidFill>
              <a:srgbClr val="0E1A2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5" name="Shape 13"/>
            <p:cNvSpPr/>
            <p:nvPr/>
          </p:nvSpPr>
          <p:spPr>
            <a:xfrm>
              <a:off x="502920" y="2396832"/>
              <a:ext cx="8138160" cy="36576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6" name="Shape 14"/>
            <p:cNvSpPr/>
            <p:nvPr/>
          </p:nvSpPr>
          <p:spPr>
            <a:xfrm>
              <a:off x="502920" y="2396832"/>
              <a:ext cx="45720" cy="640080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7" name="Text 15"/>
            <p:cNvSpPr/>
            <p:nvPr/>
          </p:nvSpPr>
          <p:spPr>
            <a:xfrm>
              <a:off x="731520" y="2469984"/>
              <a:ext cx="18288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Patent Searches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2651760" y="2469984"/>
              <a:ext cx="56692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40000"/>
                </a:lnSpc>
                <a:buNone/>
              </a:pPr>
              <a:r>
                <a:rPr lang="en-US" sz="950" dirty="0">
                  <a:solidFill>
                    <a:srgbClr val="7E8D9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Read-only operations. No footprint left on public databases.</a:t>
              </a:r>
              <a:endParaRPr lang="en-US" sz="9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2920" y="3146640"/>
              <a:ext cx="8138160" cy="640080"/>
            </a:xfrm>
            <a:prstGeom prst="rect">
              <a:avLst/>
            </a:prstGeom>
            <a:solidFill>
              <a:srgbClr val="0E1A2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502920" y="3146640"/>
              <a:ext cx="8138160" cy="36576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502920" y="3146640"/>
              <a:ext cx="45720" cy="640080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2" name="Text 20"/>
            <p:cNvSpPr/>
            <p:nvPr/>
          </p:nvSpPr>
          <p:spPr>
            <a:xfrm>
              <a:off x="731520" y="3219792"/>
              <a:ext cx="18288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Open Source Audit</a:t>
              </a:r>
              <a:endParaRPr lang="en-US" sz="12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2651760" y="3219792"/>
              <a:ext cx="56692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40000"/>
                </a:lnSpc>
                <a:buNone/>
              </a:pPr>
              <a:r>
                <a:rPr lang="en-US" sz="950" dirty="0">
                  <a:solidFill>
                    <a:srgbClr val="7E8D9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MIT License. Every line of code is auditable.</a:t>
              </a:r>
              <a:endParaRPr lang="en-US" sz="95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48640" y="3933024"/>
              <a:ext cx="8138160" cy="640080"/>
            </a:xfrm>
            <a:prstGeom prst="rect">
              <a:avLst/>
            </a:prstGeom>
            <a:solidFill>
              <a:srgbClr val="0E1A2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5" name="Shape 23"/>
            <p:cNvSpPr/>
            <p:nvPr/>
          </p:nvSpPr>
          <p:spPr>
            <a:xfrm>
              <a:off x="502920" y="3896448"/>
              <a:ext cx="8138160" cy="36576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6" name="Shape 24"/>
            <p:cNvSpPr/>
            <p:nvPr/>
          </p:nvSpPr>
          <p:spPr>
            <a:xfrm>
              <a:off x="502920" y="3922392"/>
              <a:ext cx="45720" cy="640080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7" name="Text 25"/>
            <p:cNvSpPr/>
            <p:nvPr/>
          </p:nvSpPr>
          <p:spPr>
            <a:xfrm>
              <a:off x="731520" y="3969600"/>
              <a:ext cx="18288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Human in the Loop</a:t>
              </a:r>
              <a:endParaRPr lang="en-US" sz="12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651760" y="3969600"/>
              <a:ext cx="56692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40000"/>
                </a:lnSpc>
                <a:buNone/>
              </a:pPr>
              <a:r>
                <a:rPr lang="en-US" sz="950" dirty="0">
                  <a:solidFill>
                    <a:srgbClr val="7E8D9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AI does not make decisions for you. You always control your data and IP.</a:t>
              </a:r>
              <a:endParaRPr lang="en-US" sz="9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502920" y="4802223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8503920" y="457200"/>
            <a:ext cx="109728" cy="10972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AI-Native R&amp;D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27432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Materials Company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Startup to Global Enterprise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77240" y="3246120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960120" y="319125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translates VOC into CTQs + test methods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77240" y="3447288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960120" y="33924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researches competitors · finds white space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77240" y="3648456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960120" y="3593592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extracts X-Y with evidence grading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77240" y="3849624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960120" y="3794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designs your 1st and 2nd DOE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77240" y="4050792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960120" y="39959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experiments · AI analyzes your DOE data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77240" y="4251960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960120" y="419709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 your report · AI designs your slides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77240" y="4453128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960120" y="439826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compounds across projects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31520" y="4572000"/>
            <a:ext cx="777240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BF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github.com/newbison/AI_CHEMIST  ·  github.com/newbison/spc-batch-monitor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31520" y="4828032"/>
            <a:ext cx="7315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1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For every materials company · Built by a chemist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2855</Words>
  <Application>Microsoft Office PowerPoint</Application>
  <PresentationFormat>On-screen Show (16:9)</PresentationFormat>
  <Paragraphs>502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 AI — The AI-Native R&amp;D Platform</dc:title>
  <dc:subject>PptxGenJS Presentation</dc:subject>
  <dc:creator>FORGE AI</dc:creator>
  <cp:lastModifiedBy>JUN NIE</cp:lastModifiedBy>
  <cp:revision>4</cp:revision>
  <dcterms:created xsi:type="dcterms:W3CDTF">2026-06-20T12:41:47Z</dcterms:created>
  <dcterms:modified xsi:type="dcterms:W3CDTF">2026-06-20T12:56:57Z</dcterms:modified>
</cp:coreProperties>
</file>