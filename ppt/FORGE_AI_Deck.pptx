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56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99966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502920" y="0"/>
            <a:ext cx="1188720" cy="27432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8503920" y="731520"/>
            <a:ext cx="91440" cy="91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793193" y="1937619"/>
            <a:ext cx="4388407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Text 5"/>
          <p:cNvSpPr/>
          <p:nvPr/>
        </p:nvSpPr>
        <p:spPr>
          <a:xfrm>
            <a:off x="731520" y="1042675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kern="0" spc="1000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 AI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31520" y="1957075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AI-Native R&amp;D Platform for Materials Companies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322835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 Chemist · Human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77240" y="2642875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960120" y="2588011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translates VOC into CTQs + test methods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2844043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960120" y="2789179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researches competitors · finds white space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7240" y="3045211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960120" y="2990347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extracts X-Y from patents with evidence grading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77240" y="3246379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960120" y="3191515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designs your 1st and 2nd DOE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77240" y="3447547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960120" y="3392683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 · AI analyzes your DOE data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77240" y="3648715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960120" y="3593851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your report · AI designs your slides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77240" y="3849883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960120" y="3795019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compounds across projects · Human in the loop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10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561286" y="478724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in the Loop · Input Determines Output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66864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977640" cy="34747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45720" cy="3474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⚡ Humans Decide. AI Accelerates.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78308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finds evidence, extracts relationships, and recommends experiments. But an experienced engineer still decides which patents matter, which X variables to prioritize, and whether a DOE makes practical sense on the production floor. AI accelerates the grunt work. The chemist owns the judgment.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3977640" cy="3474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4846320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💡 Precise VOC = Precise Results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46320" y="1828800"/>
            <a:ext cx="3566160" cy="731520"/>
          </a:xfrm>
          <a:prstGeom prst="rect">
            <a:avLst/>
          </a:prstGeom>
          <a:solidFill>
            <a:srgbClr val="0A3A3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4983480" y="19019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Good VOC: "UV-curable hard coat for polycarbonate, 9H pencil hardness, &gt;90% T at 550nm, &lt;2% haze after 1000 Taber cycles"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46320" y="2743200"/>
            <a:ext cx="3566160" cy="457200"/>
          </a:xfrm>
          <a:prstGeom prst="rect">
            <a:avLst/>
          </a:prstGeom>
          <a:solidFill>
            <a:srgbClr val="E85D7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4983480" y="2834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Poor VOC: "I need a better coating"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34290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9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your material, target properties with numbers, constraints, and application. The more you put in, the more you get out.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10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R&amp;D vs. FORGE AI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3931920" cy="352044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685800" y="129844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4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85800" y="15727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51560" y="1572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customer email · guess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20299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51560" y="20299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search patents · hope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4871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51560" y="24871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50 papers · Excel notes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29443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51560" y="29443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X variables · guess DOE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34015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51560" y="34015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experiments · Excel analysis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38587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51560" y="3858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report · make slides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" y="43159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1560" y="43159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project · start from zero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4553712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3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· NOT REUSABLE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233672" y="2377440"/>
            <a:ext cx="685800" cy="502920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4270248" y="2414016"/>
            <a:ext cx="612648" cy="42976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4270248" y="2450592"/>
            <a:ext cx="612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65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2,300×</a:t>
            </a:r>
            <a:endParaRPr lang="en-US" sz="6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65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FASTER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4709160" y="1188720"/>
            <a:ext cx="3931920" cy="3520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4892040" y="129844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4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92040" y="15727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257800" y="1572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VOC · translates to CTQs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92040" y="20299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257800" y="20299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searches 6 global patent DBs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24871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257800" y="24871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every patent in full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92040" y="29443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257800" y="29443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maps white space · recommends DOE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4015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257800" y="34015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 · AI analyzes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38587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257800" y="3858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report + designs slides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92040" y="43159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257800" y="43159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compounds · gets smarter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892040" y="4553712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3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· COMPOUNDING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10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Translates VOC into CTQs + Test Methods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4114800" cy="146304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45720" cy="1463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325880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00BFA5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VOICE OF CUSTOMER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31520" y="15544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need a titanium alloy for bone implants that promotes osseointegration, resists wear under cyclic loading, does not release toxic ions over 15+ years, and can be 3D-printed for patient-specific geometries."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234440"/>
            <a:ext cx="3794760" cy="1463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029200" y="1325880"/>
            <a:ext cx="3200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0A0A0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AI OUTPUT: CTQs + TEST METHODS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029200" y="155448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modulus &lt; 50 GPa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360920" y="155448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ASTM E111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5029200" y="173736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 rate &lt; 0.1 mm³/Nm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360920" y="173736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ASTM G133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029200" y="19202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viability &gt; 90%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360920" y="192024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10993-5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5029200" y="210312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 release &lt; 10 ppb/90d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360920" y="210312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10993-12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5029200" y="228600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 &gt; 10⁷ cycles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360920" y="228600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ASTM F1160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5029200" y="246888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Printable · &gt; 99.5% dense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360920" y="246888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μCT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502920" y="2971800"/>
            <a:ext cx="1920240" cy="18745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502920" y="297180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4008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b="1" kern="0" spc="1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</a:t>
            </a:r>
            <a:endParaRPr lang="en-US" sz="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00" b="1" kern="0" spc="1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40080" y="3703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commercial</a:t>
            </a:r>
            <a:endParaRPr lang="en-US" sz="8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and competitor</a:t>
            </a:r>
            <a:endParaRPr lang="en-US" sz="8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portfolios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606040" y="2971800"/>
            <a:ext cx="1920240" cy="18745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2606040" y="297180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274320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b="1" kern="0" spc="1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00" b="1" kern="0" spc="1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0" y="3703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Compares performance</a:t>
            </a:r>
            <a:endParaRPr lang="en-US" sz="8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found</a:t>
            </a:r>
            <a:endParaRPr lang="en-US" sz="8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709160" y="2971800"/>
            <a:ext cx="1920240" cy="18745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4709160" y="297180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484632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b="1" kern="0" spc="1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SPACE</a:t>
            </a:r>
            <a:endParaRPr lang="en-US" sz="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00" b="1" kern="0" spc="1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846320" y="3703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where no one</a:t>
            </a:r>
            <a:endParaRPr lang="en-US" sz="8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solved the</a:t>
            </a:r>
            <a:endParaRPr lang="en-US" sz="8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yet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812280" y="2971800"/>
            <a:ext cx="1920240" cy="18745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6812280" y="297180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694944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b="1" kern="0" spc="1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X</a:t>
            </a:r>
            <a:endParaRPr lang="en-US" sz="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00" b="1" kern="0" spc="1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949440" y="3703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which input</a:t>
            </a:r>
            <a:endParaRPr lang="en-US" sz="8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actually</a:t>
            </a:r>
            <a:endParaRPr lang="en-US" sz="8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your CTQs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10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Maps Competitors + Identifies White Space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36576" cy="42062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85800" y="121615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Stryker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920240" y="121615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Tritanium®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85800" y="137160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SLM-printed Ti cage + HA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2286000" y="137160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cleared · 10yr data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85800" y="1490472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Modulus 3× bone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502920" y="1691640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502920" y="1691640"/>
            <a:ext cx="36576" cy="42062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85800" y="171907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Zimmer Biomet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920240" y="171907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Trabecular Metal™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85800" y="187452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vapor deposition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286000" y="187452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Bone-like modulus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85800" y="1993392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costly · not printable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502920" y="2194560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502920" y="2194560"/>
            <a:ext cx="36576" cy="42062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85800" y="222199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 Properties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920240" y="222199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Ti-35Nb-7Zr-5Ta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85800" y="237744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Beta-Ti, low modulus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286000" y="237744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GPa · ISO 10993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85800" y="2496312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AM qualification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502920" y="2697480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502920" y="2697480"/>
            <a:ext cx="36576" cy="42062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685800" y="272491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/ IMR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920240" y="272491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Ti-Nb-Zr-Sn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85800" y="288036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Nb+Zr reduce toxicity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286000" y="288036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cost · biocompatible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5800" y="2999232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clinical translation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5486400" y="1188720"/>
            <a:ext cx="3154680" cy="20116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571500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 SPACE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715000" y="1828800"/>
            <a:ext cx="1097280" cy="0"/>
          </a:xfrm>
          <a:prstGeom prst="line">
            <a:avLst/>
          </a:prstGeom>
          <a:noFill/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/>
          <p:nvPr/>
        </p:nvSpPr>
        <p:spPr>
          <a:xfrm>
            <a:off x="5715000" y="196596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03504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product combines low-modulus beta-Ti + AM printability + bioactive coating in one system.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715000" y="242316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035040" y="2423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reduces ion release — proven. But nobody optimized Zr + Ta + Sn simultaneously for AM processing.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10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Extracts X-Y from Every Patent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text: Abstract + Claims + Description. Evidence-graded. Cross-referenced.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8138160" cy="2743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40080" y="13533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VARIABLE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560320" y="135331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OUTCOME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663440" y="13533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669280" y="135331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06640" y="13533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502920" y="1627632"/>
            <a:ext cx="8138160" cy="3383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640080" y="168249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28→35 wt%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560320" y="168249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Modulus 62→48 GPa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663440" y="16824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Comparative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5669280" y="168249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US10895000B2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452360" y="1719072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7680960" y="168249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502920" y="2011680"/>
            <a:ext cx="8138160" cy="338328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40080" y="20665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5→10 wt%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60320" y="206654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 release ↓ 60% (90d)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663440" y="20665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· ICP-MS 90d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5669280" y="206654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CN109234569B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7452360" y="2103120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7680960" y="206654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502920" y="2395728"/>
            <a:ext cx="8138160" cy="3383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640080" y="24505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diffusion hardening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60320" y="245059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 rate ↓ 3×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663440" y="24505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ASTM G133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5669280" y="245059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US10188778B2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7452360" y="2487168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7680960" y="245059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502920" y="2779776"/>
            <a:ext cx="8138160" cy="338328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640080" y="28346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300-600μm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560320" y="283464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ingrowth ↑ 65%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663440" y="28346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· Histomorphometry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5669280" y="283464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EP3428288B1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452360" y="2871216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7680960" y="283464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502920" y="3163824"/>
            <a:ext cx="8138160" cy="3383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/>
          <p:nvPr/>
        </p:nvSpPr>
        <p:spPr>
          <a:xfrm>
            <a:off x="640080" y="32186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0→5 wt%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2560320" y="321868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Tensile +150 MPa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663440" y="321868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ASTM E8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669280" y="32186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CN109234569B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52360" y="3255264"/>
            <a:ext cx="137160" cy="128016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/>
          <p:nvPr/>
        </p:nvSpPr>
        <p:spPr>
          <a:xfrm>
            <a:off x="7680960" y="321868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502920" y="3547872"/>
            <a:ext cx="8138160" cy="338328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7" name="Text 45"/>
          <p:cNvSpPr/>
          <p:nvPr/>
        </p:nvSpPr>
        <p:spPr>
          <a:xfrm>
            <a:off x="640080" y="360273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Aging 450 vs 500°C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2560320" y="36027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ω-phase fraction 2×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663440" y="3602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TEM+XRD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669280" y="360273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US10895000B2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452360" y="3639312"/>
            <a:ext cx="137160" cy="128016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2" name="Text 50"/>
          <p:cNvSpPr/>
          <p:nvPr/>
        </p:nvSpPr>
        <p:spPr>
          <a:xfrm>
            <a:off x="7680960" y="360273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10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Designs Your 1st and 2nd DOE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patent evidence, white space, and critical X ranking — AI recommends what to test.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3931920" cy="34747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931920" cy="45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37160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1ST DOE · SCREENING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1572768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Fractional factorial 2⁴⁻¹ · Resolution IV · 12 runs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3566160" cy="182880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777240" y="184708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965960" y="1847088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(-1)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743200" y="1847088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(+1)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3520440" y="184708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777240" y="203911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content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965960" y="20391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wt%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743200" y="20391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wt%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20440" y="2039112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modulus lever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777240" y="242316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content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65960" y="242316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wt%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743200" y="242316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wt%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520440" y="2423160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biocompat. lever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77240" y="280720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content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65960" y="28072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wt%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28072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wt%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520440" y="28072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+ AM compatible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77240" y="3191256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Aging temp.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965960" y="31912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400°C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0" y="31912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500°C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520440" y="3191256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ω-phase optimization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4663440" y="1234440"/>
            <a:ext cx="3977640" cy="34747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4663440" y="1234440"/>
            <a:ext cx="3977640" cy="45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4846320" y="137160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2ND DOE · OPTIMIZATION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0" y="1572768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Central composite · 2 factors · α=1.414 · 8 runs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846320" y="1874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screening identifies top 2 levers (likely Nb + Zr), optimize the sweet spot with response surface design.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46320" y="2423160"/>
            <a:ext cx="3566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SURFACE CONTOUR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4846320" y="260604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5559552" y="260604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6272784" y="260604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6986016" y="260604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7699248" y="260604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4846320" y="301752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>
            <a:off x="5559552" y="301752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6272784" y="301752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Shape 42"/>
          <p:cNvSpPr/>
          <p:nvPr/>
        </p:nvSpPr>
        <p:spPr>
          <a:xfrm>
            <a:off x="6986016" y="301752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5" name="Shape 43"/>
          <p:cNvSpPr/>
          <p:nvPr/>
        </p:nvSpPr>
        <p:spPr>
          <a:xfrm>
            <a:off x="7699248" y="301752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6" name="Shape 44"/>
          <p:cNvSpPr/>
          <p:nvPr/>
        </p:nvSpPr>
        <p:spPr>
          <a:xfrm>
            <a:off x="4846320" y="342900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7" name="Shape 45"/>
          <p:cNvSpPr/>
          <p:nvPr/>
        </p:nvSpPr>
        <p:spPr>
          <a:xfrm>
            <a:off x="5559552" y="342900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6"/>
          <p:cNvSpPr/>
          <p:nvPr/>
        </p:nvSpPr>
        <p:spPr>
          <a:xfrm>
            <a:off x="6272784" y="342900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9" name="Shape 47"/>
          <p:cNvSpPr/>
          <p:nvPr/>
        </p:nvSpPr>
        <p:spPr>
          <a:xfrm>
            <a:off x="6986016" y="342900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0" name="Shape 48"/>
          <p:cNvSpPr/>
          <p:nvPr/>
        </p:nvSpPr>
        <p:spPr>
          <a:xfrm>
            <a:off x="7699248" y="342900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1" name="Shape 49"/>
          <p:cNvSpPr/>
          <p:nvPr/>
        </p:nvSpPr>
        <p:spPr>
          <a:xfrm>
            <a:off x="4846320" y="384048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2" name="Shape 50"/>
          <p:cNvSpPr/>
          <p:nvPr/>
        </p:nvSpPr>
        <p:spPr>
          <a:xfrm>
            <a:off x="5559552" y="384048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3" name="Shape 51"/>
          <p:cNvSpPr/>
          <p:nvPr/>
        </p:nvSpPr>
        <p:spPr>
          <a:xfrm>
            <a:off x="6272784" y="384048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4" name="Shape 52"/>
          <p:cNvSpPr/>
          <p:nvPr/>
        </p:nvSpPr>
        <p:spPr>
          <a:xfrm>
            <a:off x="6986016" y="384048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5" name="Shape 53"/>
          <p:cNvSpPr/>
          <p:nvPr/>
        </p:nvSpPr>
        <p:spPr>
          <a:xfrm>
            <a:off x="7699248" y="384048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6" name="Shape 54"/>
          <p:cNvSpPr/>
          <p:nvPr/>
        </p:nvSpPr>
        <p:spPr>
          <a:xfrm>
            <a:off x="685800" y="4407408"/>
            <a:ext cx="3566160" cy="0"/>
          </a:xfrm>
          <a:prstGeom prst="line">
            <a:avLst/>
          </a:prstGeom>
          <a:noFill/>
          <a:ln w="381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Text 55"/>
          <p:cNvSpPr/>
          <p:nvPr/>
        </p:nvSpPr>
        <p:spPr>
          <a:xfrm>
            <a:off x="4846320" y="44074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experiments. AI analyzes your DOE data. The model updates. Feed results back — knowledge compounds.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10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 AI ↔ SPC Platform · Closed-Loop R&amp;D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tells you what to test. SPC Platform tells you what happened. Feed back — AI designs the next round.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2560320" cy="1554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2402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63240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91840" y="1371600"/>
            <a:ext cx="2560320" cy="15544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3291840" y="1371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3474720" y="15087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DOE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74720" y="22402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Patent-driven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52160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080760" y="1371600"/>
            <a:ext cx="2560320" cy="15544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6080760" y="1371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263640" y="15087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6364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Experiment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63640" y="22402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execute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154680"/>
            <a:ext cx="2560320" cy="1554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502920" y="315468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85800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" y="36576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 Analysis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" y="4023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effects · RSM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06324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3291840" y="3154680"/>
            <a:ext cx="2560320" cy="15544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3291840" y="31546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3474720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3474720" y="36576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Desirability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74720" y="4023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Multi-response opt.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85216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080760" y="3154680"/>
            <a:ext cx="2560320" cy="1554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6080760" y="315468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6263640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63640" y="36576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DOE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263640" y="4023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refines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10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 (One Page Only)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to understand any of this. But the rigor is real.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2606040" cy="34290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ENGINE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1097280" cy="0"/>
          </a:xfrm>
          <a:prstGeom prst="line">
            <a:avLst/>
          </a:prstGeom>
          <a:noFill/>
          <a:ln w="6350">
            <a:solidFill>
              <a:srgbClr val="0A3A3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68580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V3 · 128K context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 50+ full patents in one pass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streaming · real-time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580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grading L0-L5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207K chars · 52K tokens per analysis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1325880"/>
            <a:ext cx="2606040" cy="342900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347472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PATENT PIPELINE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74720" y="1828800"/>
            <a:ext cx="1097280" cy="0"/>
          </a:xfrm>
          <a:prstGeom prst="line">
            <a:avLst/>
          </a:prstGeom>
          <a:noFill/>
          <a:ln w="6350">
            <a:solidFill>
              <a:srgbClr val="7E8D9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347472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global databases in parallel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7472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· USPTO · EPO · WIPO · Scholar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7472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Auto-fallback when sources blocked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7472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10K+ chars extracted per patent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47472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links to original source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80760" y="1325880"/>
            <a:ext cx="2606040" cy="342900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626364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63640" y="1828800"/>
            <a:ext cx="1097280" cy="0"/>
          </a:xfrm>
          <a:prstGeom prst="line">
            <a:avLst/>
          </a:prstGeom>
          <a:noFill/>
          <a:ln w="6350">
            <a:solidFill>
              <a:srgbClr val="7E8D9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26364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+ FastAPI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 + Vite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26364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Docker: deploy in one command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6364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Export: Word · Markdown · PPTX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6364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· MIT License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10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8503920" y="457200"/>
            <a:ext cx="109728" cy="10972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NOT</a:t>
            </a:r>
            <a:endParaRPr lang="en-US" sz="3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LITERATURE TOOL.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256032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kern="0" spc="300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AI-NATIVE R&amp;D.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77240" y="2468880"/>
            <a:ext cx="64008" cy="6400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1005840" y="241401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translates VOC into CTQs + test methods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77240" y="2688336"/>
            <a:ext cx="64008" cy="6400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1005840" y="2633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researches competitors · finds white space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77240" y="2907792"/>
            <a:ext cx="64008" cy="6400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1005840" y="285292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extracts X-Y from patents with evidence grading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7240" y="3127248"/>
            <a:ext cx="64008" cy="6400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1005840" y="307238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designs your 1st and 2nd DOE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3346704"/>
            <a:ext cx="64008" cy="6400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1005840" y="32918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 · AI analyzes your DOE data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7240" y="3566160"/>
            <a:ext cx="64008" cy="6400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1005840" y="351129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your report · AI designs your slides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77240" y="3785616"/>
            <a:ext cx="64008" cy="6400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1005840" y="373075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compounds across projects · Human in the loop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31520" y="4389120"/>
            <a:ext cx="777240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731520" y="448056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github.com/newbison/AI_CHEMIST  ·  github.com/newbison/spc-batch-monitor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" y="4709160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materials company, from startup to global enterprise.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1289</Words>
  <Application>Microsoft Office PowerPoint</Application>
  <PresentationFormat>On-screen Show (16:9)</PresentationFormat>
  <Paragraphs>264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 AI — The AI-Native R&amp;D Platform for Materials Companies</dc:title>
  <dc:subject>PptxGenJS Presentation</dc:subject>
  <dc:creator>FORGE AI</dc:creator>
  <cp:lastModifiedBy>JUN NIE</cp:lastModifiedBy>
  <cp:revision>2</cp:revision>
  <dcterms:created xsi:type="dcterms:W3CDTF">2026-06-20T12:22:35Z</dcterms:created>
  <dcterms:modified xsi:type="dcterms:W3CDTF">2026-06-20T12:32:45Z</dcterms:modified>
</cp:coreProperties>
</file>