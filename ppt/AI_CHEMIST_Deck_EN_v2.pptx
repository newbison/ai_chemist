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LITERATURE TOOL.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2004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CHEMIST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R&amp;D Platform. From VOC to DOE — autonomously.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customer needs into technical specs. AI researches competitors.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white space. AI extracts critical X-Y relationships.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your 1st and 2nd DOE. AI analyzes your experimental data.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full product lifecycle — accelerated by AI.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R&amp;D vs. AI CHEMIST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3383280"/>
          </a:xfrm>
          <a:prstGeom prst="rect">
            <a:avLst>
              <a:gd name="adj" fmla="val 1351"/>
            </a:avLst>
          </a:prstGeom>
          <a:solidFill>
            <a:srgbClr val="111A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R&amp;D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customer email. Guess what they mean.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42"/>
                </a:solidFill>
              </a:rPr>
              <a:t>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85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 patents. Hope you found the right ones.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3682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42"/>
                </a:solidFill>
              </a:rPr>
              <a:t>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50 papers. Take notes in a spreadsheet.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7706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42"/>
                </a:solidFill>
              </a:rPr>
              <a:t>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which X variables matter. Guess DOE levels.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42"/>
                </a:solidFill>
              </a:rPr>
              <a:t>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experiments. Analyze data in Excel.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5753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42"/>
                </a:solidFill>
              </a:rPr>
              <a:t>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report. Make slides. Present to manager.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42"/>
                </a:solidFill>
              </a:rPr>
              <a:t>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197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next project. Learn nothing reusable.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· MANUAL · NOT REUSABLE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3931920" cy="3383280"/>
          </a:xfrm>
          <a:prstGeom prst="rect">
            <a:avLst>
              <a:gd name="adj" fmla="val 1351"/>
            </a:avLst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VOC. Translates to CTQs + test methods.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20"/>
                </a:solidFill>
              </a:rPr>
              <a:t>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185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6 global patent DBs. Finds competitor products.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3682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20"/>
                </a:solidFill>
              </a:rPr>
              <a:t>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every patent in full. Extracts X-Y with evidence grading.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7706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20"/>
                </a:solidFill>
              </a:rPr>
              <a:t>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white space. Recommends 1st &amp; 2nd DOE formulas.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20"/>
                </a:solidFill>
              </a:rPr>
              <a:t>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experiments. AI analyzes your DOE data.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5753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20"/>
                </a:solidFill>
              </a:rPr>
              <a:t>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complete report. AI designs your presentation.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20"/>
                </a:solidFill>
              </a:rPr>
              <a:t>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4197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remembers everything. Cross-project learning compounds.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· AI-DRIVEN · COMPOUNDING KNOWLEDGE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AI Translates VOC into Technical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4114800" cy="1463040"/>
          </a:xfrm>
          <a:prstGeom prst="rect">
            <a:avLst>
              <a:gd name="adj" fmla="val 3125"/>
            </a:avLst>
          </a:prstGeom>
          <a:solidFill>
            <a:srgbClr val="111A2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45720" cy="1463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a titanium alloy for bone implants that promotes osseointegration, resists wear under cyclic loading, does not release toxic ions over 15+ years, and can be 3D-printed for patient-specific geometries."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3657600" cy="1463040"/>
          </a:xfrm>
          <a:prstGeom prst="rect">
            <a:avLst>
              <a:gd name="adj" fmla="val 3125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716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OUTPUT: CTQs + TEST METHODS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20640" y="16276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 &lt; 50 GPa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78040" y="1627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E111 / nanoindentation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120640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rate &lt; 0.1 mm³/Nm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78040" y="18105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G133 / pin-on-disk in SBF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120640" y="1993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viability &gt; 90%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78040" y="19933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10993-5 / MTT assay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120640" y="21762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release &lt; 10 ppb at 90d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7804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10993-12 / ICP-MS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120640" y="2359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life &gt; 10⁷ cycles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78040" y="2359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F1160 / R=-1, 10Hz in SBF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120640" y="2542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Printable: density &gt; 99.5%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78040" y="2542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 / μCT porosity &lt; 0.5%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AI researches who else is solving this problem — and where the gaps are.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1920240" cy="1463040"/>
          </a:xfrm>
          <a:prstGeom prst="rect">
            <a:avLst>
              <a:gd name="adj" fmla="val 3125"/>
            </a:avLst>
          </a:prstGeom>
          <a:solidFill>
            <a:srgbClr val="111A2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47472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commercial products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competitor patent portfolios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97480" y="3474720"/>
            <a:ext cx="1920240" cy="1463040"/>
          </a:xfrm>
          <a:prstGeom prst="rect">
            <a:avLst>
              <a:gd name="adj" fmla="val 3125"/>
            </a:avLst>
          </a:prstGeom>
          <a:solidFill>
            <a:srgbClr val="111A2C"/>
          </a:solidFill>
          <a:ln/>
        </p:spPr>
      </p:sp>
      <p:sp>
        <p:nvSpPr>
          <p:cNvPr id="28" name="Shape 26"/>
          <p:cNvSpPr/>
          <p:nvPr/>
        </p:nvSpPr>
        <p:spPr>
          <a:xfrm>
            <a:off x="2697480" y="347472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3464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performance data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found solutions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474720"/>
            <a:ext cx="1920240" cy="1463040"/>
          </a:xfrm>
          <a:prstGeom prst="rect">
            <a:avLst>
              <a:gd name="adj" fmla="val 3125"/>
            </a:avLst>
          </a:prstGeom>
          <a:solidFill>
            <a:srgbClr val="111A2C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47472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8348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where no one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solved the problem yet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95160" y="3474720"/>
            <a:ext cx="1920240" cy="1463040"/>
          </a:xfrm>
          <a:prstGeom prst="rect">
            <a:avLst>
              <a:gd name="adj" fmla="val 3125"/>
            </a:avLst>
          </a:prstGeom>
          <a:solidFill>
            <a:srgbClr val="111A2C"/>
          </a:solidFill>
          <a:ln/>
        </p:spPr>
      </p:sp>
      <p:sp>
        <p:nvSpPr>
          <p:cNvPr id="36" name="Shape 34"/>
          <p:cNvSpPr/>
          <p:nvPr/>
        </p:nvSpPr>
        <p:spPr>
          <a:xfrm>
            <a:off x="6995160" y="347472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X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3232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which input variables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matter for your CTQs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AI Maps the Competitive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working on this? What have they achieved? Where is nobody looking?"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 — Ti Alloy Bone Implants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029200" cy="475488"/>
          </a:xfrm>
          <a:prstGeom prst="rect">
            <a:avLst>
              <a:gd name="adj" fmla="val 5769"/>
            </a:avLst>
          </a:prstGeom>
          <a:solidFill>
            <a:srgbClr val="111A2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19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8196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Tritanium®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SLM-printed Ti cage + HA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9842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cleared, 10yr clinical 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49040" y="19842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 still 3× bone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5029200" cy="475488"/>
          </a:xfrm>
          <a:prstGeom prst="rect">
            <a:avLst>
              <a:gd name="adj" fmla="val 5769"/>
            </a:avLst>
          </a:prstGeom>
          <a:solidFill>
            <a:srgbClr val="111A2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86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 Biomet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3865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Trabecular Metal™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5511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Tantalum vapor deposition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03120" y="25511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porosity, bone-like modulus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9040" y="25511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expensive, not printable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916936"/>
            <a:ext cx="5029200" cy="475488"/>
          </a:xfrm>
          <a:prstGeom prst="rect">
            <a:avLst>
              <a:gd name="adj" fmla="val 5769"/>
            </a:avLst>
          </a:prstGeom>
          <a:solidFill>
            <a:srgbClr val="111A2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53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 Properties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9535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Ti-35Nb-7Zr-5Ta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1181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Beta-Ti alloy, low modulus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31181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GPa modulus, ISO 10993 passed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49040" y="311810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 qualification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483864"/>
            <a:ext cx="5029200" cy="475488"/>
          </a:xfrm>
          <a:prstGeom prst="rect">
            <a:avLst>
              <a:gd name="adj" fmla="val 5769"/>
            </a:avLst>
          </a:prstGeom>
          <a:solidFill>
            <a:srgbClr val="111A2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520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/ IMR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520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Ti-Nb-Zr-Sn series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36850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Nb+Zr reduce cytotoxicity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03120" y="36850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improves strength, low cost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49040" y="36850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translation yet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52160" y="1508760"/>
            <a:ext cx="2743200" cy="1965960"/>
          </a:xfrm>
          <a:prstGeom prst="rect">
            <a:avLst>
              <a:gd name="adj" fmla="val 2326"/>
            </a:avLst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SPACE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combines low-modulus beta-Ti alloy + AM printability + bioactive coating in one system.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effect on ion release is known — but nobody optimized Zr + Ta + Sn simultaneously for AM.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X VARIABLES IDENTIFIED BY 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39776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68680" y="39776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content (28-40 wt%)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65960" y="3977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 ↓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51760" y="39776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71800" y="39776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content (3-10 wt%)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69080" y="3977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release ↓ 60%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54880" y="39776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074920" y="39776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content (2-8 wt%)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72200" y="3977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↑, biocompat.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58000" y="39776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178040" y="39776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content (2-6 wt%)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75320" y="3977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↑, cost ↓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" y="42976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68680" y="42976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temp (400-500°C)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965960" y="4297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ω-phase control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51760" y="42976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971800" y="42976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scan speed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69080" y="4297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Porosity, texture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54880" y="42976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074920" y="42976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coating thickness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72200" y="4297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Osseointegration ↑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858000" y="42976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78040" y="42976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content (&lt;0.15 wt%)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75320" y="4297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Ductility control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AI Extracts X-Y Relationships from Every Patent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abstracts. Full text: Claims + Description. Evidence-graded. Cross-referenced.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9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VARIABLE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88920" y="1499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OUTCOME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92040" y="1499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97880" y="1499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PATENT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35240" y="1499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8046720" cy="301752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28→35 wt%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 62→48 GPa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Comparative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97880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0" y="190195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874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640" y="2176272"/>
            <a:ext cx="8046720" cy="301752"/>
          </a:xfrm>
          <a:prstGeom prst="rect">
            <a:avLst/>
          </a:prstGeom>
          <a:solidFill>
            <a:srgbClr val="080E1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221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5→10 wt%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88920" y="2221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release ↓ 60% (90d SBF)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221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ICP-MS 90d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97880" y="2221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80960" y="2249424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2221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8640" y="2523744"/>
            <a:ext cx="8046720" cy="301752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569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diffusion hardening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88920" y="2569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rate ↓ 3× (pin-on-disk)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2569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G133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97880" y="2569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US10188778B2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80960" y="2596896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25694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48640" y="2871216"/>
            <a:ext cx="8046720" cy="301752"/>
          </a:xfrm>
          <a:prstGeom prst="rect">
            <a:avLst/>
          </a:prstGeom>
          <a:solidFill>
            <a:srgbClr val="080E1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pore 300-600μm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88920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ingrowth ↑ 65% at 12wk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2916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Histomorphometry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897880" y="2916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EP3428288B1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680960" y="2944368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29169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218688"/>
            <a:ext cx="8046720" cy="301752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0→5 wt%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88920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Tensile strength +150 MPa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3264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E8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897880" y="3264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80960" y="3291840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5" name="Text 43"/>
          <p:cNvSpPr/>
          <p:nvPr/>
        </p:nvSpPr>
        <p:spPr>
          <a:xfrm>
            <a:off x="7909560" y="3264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8640" y="3566160"/>
            <a:ext cx="8046720" cy="301752"/>
          </a:xfrm>
          <a:prstGeom prst="rect">
            <a:avLst/>
          </a:prstGeom>
          <a:solidFill>
            <a:srgbClr val="080E18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3611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450°C/4h vs 500°C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88920" y="3611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ω-phase volume fraction 2×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92040" y="3611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TEM + XRD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897880" y="3611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80960" y="36393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2" name="Text 50"/>
          <p:cNvSpPr/>
          <p:nvPr/>
        </p:nvSpPr>
        <p:spPr>
          <a:xfrm>
            <a:off x="790956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8640" y="3913632"/>
            <a:ext cx="8046720" cy="301752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3959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coating 50→100μm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88920" y="3959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contact area +25%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92040" y="3959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Limited data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897880" y="3959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EP3428288B1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680960" y="3986784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9" name="Text 57"/>
          <p:cNvSpPr/>
          <p:nvPr/>
        </p:nvSpPr>
        <p:spPr>
          <a:xfrm>
            <a:off x="7909560" y="3959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48640" y="4261104"/>
            <a:ext cx="8046720" cy="301752"/>
          </a:xfrm>
          <a:prstGeom prst="rect">
            <a:avLst/>
          </a:prstGeom>
          <a:solidFill>
            <a:srgbClr val="080E18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4306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2→6 wt%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788920" y="4306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 +80 MPa, cost -30%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92040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Limited samples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897880" y="4306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80960" y="4334256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6" name="Text 64"/>
          <p:cNvSpPr/>
          <p:nvPr/>
        </p:nvSpPr>
        <p:spPr>
          <a:xfrm>
            <a:off x="7909560" y="43068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48640" y="4572000"/>
            <a:ext cx="8046720" cy="13716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68" name="Text 66"/>
          <p:cNvSpPr/>
          <p:nvPr/>
        </p:nvSpPr>
        <p:spPr>
          <a:xfrm>
            <a:off x="685800" y="4572000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80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content is the dominant lever for modulus. Zr is the dominant lever for biocompatibility. Ta + Sn are secondary strengtheners. No single patent optimized all four simultaneously — this is your white space.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AI Designs Your 1st and 2nd DOE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patent evidence, white space analysis, and critical X ranking — AI recommends what to test first.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3154680"/>
          </a:xfrm>
          <a:prstGeom prst="rect">
            <a:avLst>
              <a:gd name="adj" fmla="val 1449"/>
            </a:avLst>
          </a:prstGeom>
          <a:solidFill>
            <a:srgbClr val="111A2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3931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 DOE · SCREENING (12 runs)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 factorial · 2⁴⁻¹ · Resolution IV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content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21945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28 wt%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0" y="21945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38 wt%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modulus lever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content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6974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3 wt%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6974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10 wt%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biocompat. lever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content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2004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0 wt%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0" y="32004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8 wt%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3832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+ AM compatibility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temp.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37033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400°C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0" y="37033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500°C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ω-phase optimization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356616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Responses: </a:t>
            </a:r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(GPa), UTS (MPa), εf (%), wear rate (mm³/Nm), ion release (ppb at 90d), cell viability (%)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1508760"/>
            <a:ext cx="3931920" cy="3154680"/>
          </a:xfrm>
          <a:prstGeom prst="rect">
            <a:avLst>
              <a:gd name="adj" fmla="val 1449"/>
            </a:avLst>
          </a:prstGeom>
          <a:solidFill>
            <a:srgbClr val="111A2C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1508760"/>
            <a:ext cx="3931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 DOE · OPTIMIZATION (8 runs)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9019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 composite · 2 factors · α = 1.414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21488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screening identifies the top 2 levers, optimize the sweet spot.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24688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CONTOUR PLOT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0" y="269748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5559552" y="269748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35" name="Shape 33"/>
          <p:cNvSpPr/>
          <p:nvPr/>
        </p:nvSpPr>
        <p:spPr>
          <a:xfrm>
            <a:off x="6272784" y="269748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6986016" y="269748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37" name="Shape 35"/>
          <p:cNvSpPr/>
          <p:nvPr/>
        </p:nvSpPr>
        <p:spPr>
          <a:xfrm>
            <a:off x="7699248" y="269748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310896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39" name="Shape 37"/>
          <p:cNvSpPr/>
          <p:nvPr/>
        </p:nvSpPr>
        <p:spPr>
          <a:xfrm>
            <a:off x="5559552" y="3108960"/>
            <a:ext cx="621792" cy="320040"/>
          </a:xfrm>
          <a:prstGeom prst="rect">
            <a:avLst>
              <a:gd name="adj" fmla="val 5714"/>
            </a:avLst>
          </a:prstGeom>
          <a:solidFill>
            <a:srgbClr val="8B6914"/>
          </a:solidFill>
          <a:ln/>
        </p:spPr>
      </p:sp>
      <p:sp>
        <p:nvSpPr>
          <p:cNvPr id="40" name="Shape 38"/>
          <p:cNvSpPr/>
          <p:nvPr/>
        </p:nvSpPr>
        <p:spPr>
          <a:xfrm>
            <a:off x="6272784" y="310896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41" name="Shape 39"/>
          <p:cNvSpPr/>
          <p:nvPr/>
        </p:nvSpPr>
        <p:spPr>
          <a:xfrm>
            <a:off x="6986016" y="310896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42" name="Shape 40"/>
          <p:cNvSpPr/>
          <p:nvPr/>
        </p:nvSpPr>
        <p:spPr>
          <a:xfrm>
            <a:off x="7699248" y="310896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43" name="Shape 41"/>
          <p:cNvSpPr/>
          <p:nvPr/>
        </p:nvSpPr>
        <p:spPr>
          <a:xfrm>
            <a:off x="4846320" y="352044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44" name="Shape 42"/>
          <p:cNvSpPr/>
          <p:nvPr/>
        </p:nvSpPr>
        <p:spPr>
          <a:xfrm>
            <a:off x="5559552" y="352044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45" name="Shape 43"/>
          <p:cNvSpPr/>
          <p:nvPr/>
        </p:nvSpPr>
        <p:spPr>
          <a:xfrm>
            <a:off x="6272784" y="352044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46" name="Shape 44"/>
          <p:cNvSpPr/>
          <p:nvPr/>
        </p:nvSpPr>
        <p:spPr>
          <a:xfrm>
            <a:off x="6986016" y="352044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47" name="Shape 45"/>
          <p:cNvSpPr/>
          <p:nvPr/>
        </p:nvSpPr>
        <p:spPr>
          <a:xfrm>
            <a:off x="7699248" y="352044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3931920"/>
            <a:ext cx="621792" cy="320040"/>
          </a:xfrm>
          <a:prstGeom prst="rect">
            <a:avLst>
              <a:gd name="adj" fmla="val 5714"/>
            </a:avLst>
          </a:prstGeom>
          <a:solidFill>
            <a:srgbClr val="1A2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5559552" y="3931920"/>
            <a:ext cx="621792" cy="320040"/>
          </a:xfrm>
          <a:prstGeom prst="rect">
            <a:avLst>
              <a:gd name="adj" fmla="val 5714"/>
            </a:avLst>
          </a:prstGeom>
          <a:solidFill>
            <a:srgbClr val="8B6914"/>
          </a:solidFill>
          <a:ln/>
        </p:spPr>
      </p:sp>
      <p:sp>
        <p:nvSpPr>
          <p:cNvPr id="50" name="Shape 48"/>
          <p:cNvSpPr/>
          <p:nvPr/>
        </p:nvSpPr>
        <p:spPr>
          <a:xfrm>
            <a:off x="6272784" y="393192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51" name="Shape 49"/>
          <p:cNvSpPr/>
          <p:nvPr/>
        </p:nvSpPr>
        <p:spPr>
          <a:xfrm>
            <a:off x="6986016" y="3931920"/>
            <a:ext cx="621792" cy="320040"/>
          </a:xfrm>
          <a:prstGeom prst="rect">
            <a:avLst>
              <a:gd name="adj" fmla="val 5714"/>
            </a:avLst>
          </a:prstGeom>
          <a:solidFill>
            <a:srgbClr val="8B6914"/>
          </a:solidFill>
          <a:ln/>
        </p:spPr>
      </p:sp>
      <p:sp>
        <p:nvSpPr>
          <p:cNvPr id="52" name="Shape 50"/>
          <p:cNvSpPr/>
          <p:nvPr/>
        </p:nvSpPr>
        <p:spPr>
          <a:xfrm>
            <a:off x="7699248" y="3931920"/>
            <a:ext cx="621792" cy="320040"/>
          </a:xfrm>
          <a:prstGeom prst="rect">
            <a:avLst>
              <a:gd name="adj" fmla="val 5714"/>
            </a:avLst>
          </a:prstGeom>
          <a:solidFill>
            <a:srgbClr val="D4AF37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44622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analyze your DOE data. </a:t>
            </a:r>
            <a:pPr indent="0" marL="0"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back. AI refines the model. The learning compounds across projects.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Full Product Lifecycle — Accelerated by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325880"/>
            <a:ext cx="1280160" cy="640080"/>
          </a:xfrm>
          <a:prstGeom prst="rect">
            <a:avLst>
              <a:gd name="adj" fmla="val 7143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399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669280" y="1554480"/>
            <a:ext cx="128016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6276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CTQ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specs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methods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75120" y="2240280"/>
            <a:ext cx="137160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313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675120" y="3063240"/>
            <a:ext cx="137160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1363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mapping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0" y="3749040"/>
            <a:ext cx="1280160" cy="640080"/>
          </a:xfrm>
          <a:prstGeom prst="rect">
            <a:avLst>
              <a:gd name="adj" fmla="val 7143"/>
            </a:avLst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822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&amp; 2nd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89120" y="3977640"/>
            <a:ext cx="128016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4297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26080" y="3749040"/>
            <a:ext cx="128016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3822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data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554480" y="3063240"/>
            <a:ext cx="128016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31363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280160" y="2240280"/>
            <a:ext cx="1371600" cy="640080"/>
          </a:xfrm>
          <a:prstGeom prst="rect">
            <a:avLst>
              <a:gd name="adj" fmla="val 7143"/>
            </a:avLst>
          </a:prstGeom>
          <a:solidFill>
            <a:srgbClr val="111A2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2313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54480" y="1554480"/>
            <a:ext cx="1371600" cy="640080"/>
          </a:xfrm>
          <a:prstGeom prst="rect">
            <a:avLst>
              <a:gd name="adj" fmla="val 7143"/>
            </a:avLst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1645920" y="1627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4592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project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faster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86200" y="2331720"/>
            <a:ext cx="1645920" cy="1645920"/>
          </a:xfrm>
          <a:prstGeom prst="ellipse">
            <a:avLst/>
          </a:prstGeom>
          <a:solidFill>
            <a:srgbClr val="080E18"/>
          </a:solidFill>
          <a:ln/>
        </p:spPr>
      </p:sp>
      <p:sp>
        <p:nvSpPr>
          <p:cNvPr id="35" name="Shape 33"/>
          <p:cNvSpPr/>
          <p:nvPr/>
        </p:nvSpPr>
        <p:spPr>
          <a:xfrm>
            <a:off x="3977640" y="2423160"/>
            <a:ext cx="1463040" cy="1463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6" name="Text 34"/>
          <p:cNvSpPr/>
          <p:nvPr/>
        </p:nvSpPr>
        <p:spPr>
          <a:xfrm>
            <a:off x="3977640" y="2560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6177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feeds the next. Your R&amp;D knowledge compounds. This is not a search tool — this is an R&amp;D operating system.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Under the Hood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understand any of this. But the rigor is real.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3291840"/>
          </a:xfrm>
          <a:prstGeom prst="rect">
            <a:avLst>
              <a:gd name="adj" fmla="val 1786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— 128K context window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50+ full patents in one pass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streaming: see results in real-time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protocol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grading: L0 (AI guess) to L5 (controlled experiment)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560320" cy="3291840"/>
          </a:xfrm>
          <a:prstGeom prst="rect">
            <a:avLst>
              <a:gd name="adj" fmla="val 1786"/>
            </a:avLst>
          </a:prstGeom>
          <a:solidFill>
            <a:srgbClr val="111A2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global databases in parallel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 · USPTO · EPO · WIPO · Scholar · LLM fallback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3017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 when sources blocked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3520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 Abstract, Claims, Description, Inventors, Assignee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4023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structured characters per patent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560320" cy="3291840"/>
          </a:xfrm>
          <a:prstGeom prst="rect">
            <a:avLst>
              <a:gd name="adj" fmla="val 1786"/>
            </a:avLst>
          </a:prstGeom>
          <a:solidFill>
            <a:srgbClr val="111A2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 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514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frontend · TypeScript · Vite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deploy anywhere in one command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Word (.docx), Markdown, AI-designed PPTX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4023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MIT License · GitHub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Literature Tool.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D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AI-Native R&amp;D.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474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VOC into CTQs with test methods. </a:t>
            </a:r>
            <a:endParaRPr lang="en-US" sz="11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researches competitors. AI finds white space. </a:t>
            </a:r>
            <a:endParaRPr lang="en-US" sz="11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X-Y from patents with evidence grading. </a:t>
            </a:r>
            <a:endParaRPr lang="en-US" sz="11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your 1st and 2nd DOE. </a:t>
            </a:r>
            <a:endParaRPr lang="en-US" sz="11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your experimental data. </a:t>
            </a:r>
            <a:endParaRPr lang="en-US" sz="11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your report. AI designs your slides. </a:t>
            </a:r>
            <a:endParaRPr lang="en-US" sz="11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feeds the next. Your knowledge compounds.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4434840"/>
            <a:ext cx="7772400" cy="0"/>
          </a:xfrm>
          <a:prstGeom prst="line">
            <a:avLst/>
          </a:prstGeom>
          <a:noFill/>
          <a:ln w="5080">
            <a:solidFill>
              <a:srgbClr val="1E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Open Source  ·  MIT License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47365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materials scientists. No coding required.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CHEMIST — The AI-Native R&amp;D Platform</dc:title>
  <dc:subject>PptxGenJS Presentation</dc:subject>
  <dc:creator>AI CHEMIST</dc:creator>
  <cp:lastModifiedBy>AI CHEMIST</cp:lastModifiedBy>
  <cp:revision>1</cp:revision>
  <dcterms:created xsi:type="dcterms:W3CDTF">2026-06-20T10:04:54Z</dcterms:created>
  <dcterms:modified xsi:type="dcterms:W3CDTF">2026-06-20T10:04:54Z</dcterms:modified>
</cp:coreProperties>
</file>