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1188720" cy="2743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731520"/>
            <a:ext cx="91440" cy="9144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486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这不是文献工具。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27432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402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1000" kern="0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FORGE AI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原生研发平台 — 为全球材料企业而建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化学家打造 · 人在回路中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" y="3840480"/>
            <a:ext cx="54864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7856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翻译 VOC 为 CTQ + 测试方法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77240" y="4041648"/>
            <a:ext cx="54864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98678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调研竞品 · 找到空白区域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77240" y="4242816"/>
            <a:ext cx="54864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18795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从专利中提取 X-Y · 证据分级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7240" y="4443984"/>
            <a:ext cx="54864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3891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设计第 1 和第 2 轮 DOE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77240" y="4645152"/>
            <a:ext cx="54864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590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你来跑实验 · AI 分析 DOE 数据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77240" y="4846320"/>
            <a:ext cx="54864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79145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生成报告 · AI 设计幻灯片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77240" y="5047488"/>
            <a:ext cx="54864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99262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知识跨项目累积 · 人在回路中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480974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8046720" y="48097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人在回路中 · 输入决定输出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34440"/>
            <a:ext cx="3977640" cy="347472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234440"/>
            <a:ext cx="45720" cy="34747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人是决策者，AI 是加速器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发现证据、提取关系、推荐实验。但有经验的工程师仍然判断哪些专利重要、优先测哪些变量、DOE 方案是否在产线上可行。AI 加速苦活。化学家掌握判断。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3977640" cy="34747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371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精准的 VOC = 精准的结果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828800"/>
            <a:ext cx="3566160" cy="731520"/>
          </a:xfrm>
          <a:prstGeom prst="rect">
            <a:avLst/>
          </a:prstGeom>
          <a:solidFill>
            <a:srgbClr val="0A3A30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9019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好的 VOC："UV 固化 PC 硬质涂层，9H 铅笔硬度，550nm 透光率 &gt;90%，1000 次 Taber 磨耗后雾度 &lt;2%"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46320" y="2743200"/>
            <a:ext cx="3566160" cy="457200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差的 VOC："我需要更好的涂层"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34290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说出你的材料、目标性能（带数值）、约束条件和应用场景。输入越多，输出越好。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480974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8046720" y="48097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传统研发 vs FORGE AI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3931920" cy="352044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9844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传统方式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5727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" y="1572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读客户邮件 · 猜需求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0299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51560" y="20299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手动搜专利 · 碰运气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4871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51560" y="24871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 50 篇论文 · Excel 记笔记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9443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51560" y="29443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猜 X 变量 · 拍脑袋定 DOE 水平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4015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1560" y="34015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跑实验 · Excel 分析数据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8587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51560" y="3858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写报告 · 做 PPT · 汇报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43159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1560" y="43159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下个项目 · 从零开始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4553712"/>
            <a:ext cx="3566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天 · 不能复用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233672" y="2377440"/>
            <a:ext cx="685800" cy="502920"/>
          </a:xfrm>
          <a:prstGeom prst="rect">
            <a:avLst/>
          </a:prstGeom>
          <a:solidFill>
            <a:srgbClr val="060E18"/>
          </a:solidFill>
          <a:ln/>
        </p:spPr>
      </p:sp>
      <p:sp>
        <p:nvSpPr>
          <p:cNvPr id="22" name="Shape 20"/>
          <p:cNvSpPr/>
          <p:nvPr/>
        </p:nvSpPr>
        <p:spPr>
          <a:xfrm>
            <a:off x="4270248" y="2414016"/>
            <a:ext cx="612648" cy="42976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3" name="Text 21"/>
          <p:cNvSpPr/>
          <p:nvPr/>
        </p:nvSpPr>
        <p:spPr>
          <a:xfrm>
            <a:off x="4270248" y="2450592"/>
            <a:ext cx="612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2300×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709160" y="1188720"/>
            <a:ext cx="3931920" cy="352044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129844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92040" y="15727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57800" y="1572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读取 VOC · 翻译为 CTQ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20299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57800" y="20299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搜索 6 大专利数据库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24871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57800" y="24871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逐篇阅读完整文本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29443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57800" y="29443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绘制空白区域 · 推荐 DOE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4015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57800" y="34015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你来跑实验 · AI 分析 DOE 数据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38587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57800" y="3858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生成报告 + 设计 PPT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92040" y="43159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57800" y="43159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知识累积 · 越用越聪明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4553712"/>
            <a:ext cx="3566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分钟 · 知识累积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02920" y="480974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8046720" y="48097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将 VOC 翻译为 CTQ + 测试方法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34440"/>
            <a:ext cx="4114800" cy="146304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234440"/>
            <a:ext cx="45720" cy="146304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客户之声 (VOC)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"我们需要一款钛合金骨植入材料，能促进骨整合，耐循环载荷磨损，15 年以上不释放有毒离子，可 3D 打印为患者特异性几何形状。"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234440"/>
            <a:ext cx="3794760" cy="146304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325880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输出：CTQ + 测试方法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029200" y="155448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弹性模量 &lt; 50 GPa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60920" y="155448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ASTM E111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5029200" y="17373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磨损率 &lt; 0.1 mm³/Nm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60920" y="173736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ASTM G133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029200" y="19202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细胞活性 &gt; 90%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360920" y="192024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10993-5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5029200" y="21031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离子释放 &lt; 10 ppb/90d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360920" y="210312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10993-12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5029200" y="22860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疲劳寿命 &gt; 10⁷ 次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60920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ASTM F1160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5029200" y="246888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可打印 · 密度 &gt; 99.5%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360920" y="246888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μCT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502920" y="2971800"/>
            <a:ext cx="1920240" cy="187452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2971800"/>
            <a:ext cx="192024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108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spc="15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竞品情报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0080" y="37033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识别商业产品和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竞争对手专利组合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606040" y="2971800"/>
            <a:ext cx="1920240" cy="187452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27" name="Shape 25"/>
          <p:cNvSpPr/>
          <p:nvPr/>
        </p:nvSpPr>
        <p:spPr>
          <a:xfrm>
            <a:off x="2606040" y="2971800"/>
            <a:ext cx="192024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0" y="3108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spc="15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基准分析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43200" y="37033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比较所有方案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性能数据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09160" y="2971800"/>
            <a:ext cx="1920240" cy="187452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31" name="Shape 29"/>
          <p:cNvSpPr/>
          <p:nvPr/>
        </p:nvSpPr>
        <p:spPr>
          <a:xfrm>
            <a:off x="4709160" y="2971800"/>
            <a:ext cx="192024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3108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spc="15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空白区域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46320" y="37033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发现没人解决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的问题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812280" y="2971800"/>
            <a:ext cx="1920240" cy="187452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35" name="Shape 33"/>
          <p:cNvSpPr/>
          <p:nvPr/>
        </p:nvSpPr>
        <p:spPr>
          <a:xfrm>
            <a:off x="6812280" y="2971800"/>
            <a:ext cx="192024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0" y="3108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spc="15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 X 排序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949440" y="37033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哪些输入变量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真正驱动 CTQ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02920" y="480974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8046720" y="48097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绘制竞争格局 + 识别空白区域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4754880" cy="420624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188720"/>
            <a:ext cx="36576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1615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Stryker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920240" y="121615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Tritanium®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71600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打印 Ti 支架 + HA 涂层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286000" y="1371600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获批 · 10 年临床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85800" y="1490472"/>
            <a:ext cx="3200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模量仍为骨骼 3 倍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502920" y="1691640"/>
            <a:ext cx="4754880" cy="420624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1691640"/>
            <a:ext cx="36576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71907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捷迈邦美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920240" y="171907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Trabecular Metal™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85800" y="1874520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钽气相沉积 · 80% 孔隙率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286000" y="1874520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骨样弹性模量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85800" y="1993392"/>
            <a:ext cx="3200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钽昂贵 · 不可打印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502920" y="2194560"/>
            <a:ext cx="4754880" cy="420624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2194560"/>
            <a:ext cx="36576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22199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 Properties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920240" y="222199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Ti-35Nb-7Zr-5Ta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85800" y="2377440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β-Ti 合金 · 低模量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286000" y="2377440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GPa · ISO 10993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85800" y="2496312"/>
            <a:ext cx="3200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无增材制造认证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502920" y="2697480"/>
            <a:ext cx="4754880" cy="420624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2697480"/>
            <a:ext cx="36576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272491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中科院金属所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920240" y="272491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Ti-Nb-Zr-Sn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85800" y="2880360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Nb+Zr 降毒性 · Sn 增强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286000" y="2880360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低成本 · 好生物相容性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85800" y="2999232"/>
            <a:ext cx="3200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尚无临床转化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5486400" y="1188720"/>
            <a:ext cx="3154680" cy="20116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3" name="Text 31"/>
          <p:cNvSpPr/>
          <p:nvPr/>
        </p:nvSpPr>
        <p:spPr>
          <a:xfrm>
            <a:off x="571500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空白区域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715000" y="1828800"/>
            <a:ext cx="109728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15000" y="196596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03504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没有产品同时结合低模量 β-Ti 合金 + 增材制造可打印性 + 生物活性涂层。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715000" y="242316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3504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 降低离子释放的效果已被证实——但没有人同时优化 Zr + Ta + Sn 用于 3D 打印。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02920" y="480974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8046720" y="48097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从每篇专利中提取 X-Y 关系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875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完整文本：Abstract + Claims + Description。证据分级。交叉引用。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2743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533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变量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560320" y="13533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结果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663440" y="13533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669280" y="13533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来源专利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406640" y="1353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置信度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02920" y="1627632"/>
            <a:ext cx="8138160" cy="338328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6824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28→35 wt%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560320" y="16824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弹性模量 62→48 GPa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63440" y="16824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· 对比实验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669280" y="168249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US10895000B2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452360" y="1719072"/>
            <a:ext cx="137160" cy="12801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0" y="16824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02920" y="2011680"/>
            <a:ext cx="8138160" cy="338328"/>
          </a:xfrm>
          <a:prstGeom prst="rect">
            <a:avLst/>
          </a:prstGeom>
          <a:solidFill>
            <a:srgbClr val="060E1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0665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 5→10 wt%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60320" y="20665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离子释放 ↓ 60% (90d)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63440" y="20665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· ICP-MS 90d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669280" y="206654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CN109234569B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452360" y="2103120"/>
            <a:ext cx="137160" cy="12801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0" y="20665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02920" y="2395728"/>
            <a:ext cx="8138160" cy="338328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2450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扩散硬化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60320" y="24505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磨损率 ↓ 3×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63440" y="24505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· ASTM G133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669280" y="24505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US10188778B2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452360" y="2487168"/>
            <a:ext cx="137160" cy="12801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0" y="24505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02920" y="2779776"/>
            <a:ext cx="8138160" cy="338328"/>
          </a:xfrm>
          <a:prstGeom prst="rect">
            <a:avLst/>
          </a:prstGeom>
          <a:solidFill>
            <a:srgbClr val="060E18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28346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300-600μm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560320" y="28346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骨长入 ↑ 65% (12wk)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63440" y="28346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· 组织形态学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669280" y="28346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EP3428288B1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452360" y="2871216"/>
            <a:ext cx="137160" cy="12801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8" name="Text 36"/>
          <p:cNvSpPr/>
          <p:nvPr/>
        </p:nvSpPr>
        <p:spPr>
          <a:xfrm>
            <a:off x="7680960" y="283464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02920" y="3163824"/>
            <a:ext cx="8138160" cy="338328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32186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0→5 wt%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560320" y="32186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拉伸强度 +150 MPa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663440" y="32186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· ASTM E8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669280" y="32186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CN109234569B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452360" y="3255264"/>
            <a:ext cx="137160" cy="128016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45" name="Text 43"/>
          <p:cNvSpPr/>
          <p:nvPr/>
        </p:nvSpPr>
        <p:spPr>
          <a:xfrm>
            <a:off x="7680960" y="32186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02920" y="3547872"/>
            <a:ext cx="8138160" cy="338328"/>
          </a:xfrm>
          <a:prstGeom prst="rect">
            <a:avLst/>
          </a:prstGeom>
          <a:solidFill>
            <a:srgbClr val="060E18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" y="36027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时效 450 vs 500°C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560320" y="36027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相体积分数 2×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663440" y="36027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· TEM+XRD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669280" y="36027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US10895000B2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452360" y="3639312"/>
            <a:ext cx="137160" cy="128016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52" name="Text 50"/>
          <p:cNvSpPr/>
          <p:nvPr/>
        </p:nvSpPr>
        <p:spPr>
          <a:xfrm>
            <a:off x="7680960" y="360273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02920" y="480974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8046720" y="48097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设计第 1 和第 2 轮 DOE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875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基于专利证据、空白区域和关键 X 排序——AI 推荐先测什么。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931920" cy="347472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234440"/>
            <a:ext cx="3931920" cy="457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 1 轮 DOE · 筛选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572768"/>
            <a:ext cx="3566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部分因子 2⁴⁻¹ · Resolution IV · 12 runs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3566160" cy="182880"/>
          </a:xfrm>
          <a:prstGeom prst="rect">
            <a:avLst/>
          </a:prstGeom>
          <a:solidFill>
            <a:srgbClr val="13243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4708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因子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965960" y="184708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 (-1)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743200" y="184708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 (+1)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520440" y="184708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理由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77240" y="203911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含量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965960" y="203911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wt%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43200" y="203911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wt%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20440" y="203911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主导模量因素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77240" y="242316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 含量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965960" y="242316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wt%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43200" y="242316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wt%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520440" y="242316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主导生物相容性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77240" y="280720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含量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965960" y="28072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wt%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3200" y="28072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wt%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520440" y="28072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强度 + 增材兼容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77240" y="319125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时效温度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965960" y="31912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400°C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0" y="31912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500°C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520440" y="319125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相优化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663440" y="1234440"/>
            <a:ext cx="3977640" cy="347472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31" name="Shape 29"/>
          <p:cNvSpPr/>
          <p:nvPr/>
        </p:nvSpPr>
        <p:spPr>
          <a:xfrm>
            <a:off x="4663440" y="1234440"/>
            <a:ext cx="3977640" cy="457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13716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 2 轮 DOE · 优化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1572768"/>
            <a:ext cx="3566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中心复合 · 2 因子 · α=1.414 · 8 runs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46320" y="1874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筛选后确定前 2 个主导因子（可能是 Nb + Zr），用响应面法优化最佳区域。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46320" y="2423160"/>
            <a:ext cx="3566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5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响应面等高线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4846320" y="2606040"/>
            <a:ext cx="621792" cy="320040"/>
          </a:xfrm>
          <a:prstGeom prst="rect">
            <a:avLst/>
          </a:prstGeom>
          <a:solidFill>
            <a:srgbClr val="132438"/>
          </a:solidFill>
          <a:ln/>
        </p:spPr>
      </p:sp>
      <p:sp>
        <p:nvSpPr>
          <p:cNvPr id="37" name="Shape 35"/>
          <p:cNvSpPr/>
          <p:nvPr/>
        </p:nvSpPr>
        <p:spPr>
          <a:xfrm>
            <a:off x="5559552" y="2606040"/>
            <a:ext cx="621792" cy="320040"/>
          </a:xfrm>
          <a:prstGeom prst="rect">
            <a:avLst/>
          </a:prstGeom>
          <a:solidFill>
            <a:srgbClr val="007A6A"/>
          </a:solidFill>
          <a:ln/>
        </p:spPr>
      </p:sp>
      <p:sp>
        <p:nvSpPr>
          <p:cNvPr id="38" name="Shape 36"/>
          <p:cNvSpPr/>
          <p:nvPr/>
        </p:nvSpPr>
        <p:spPr>
          <a:xfrm>
            <a:off x="6272784" y="2606040"/>
            <a:ext cx="621792" cy="32004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9" name="Shape 37"/>
          <p:cNvSpPr/>
          <p:nvPr/>
        </p:nvSpPr>
        <p:spPr>
          <a:xfrm>
            <a:off x="6986016" y="2606040"/>
            <a:ext cx="621792" cy="320040"/>
          </a:xfrm>
          <a:prstGeom prst="rect">
            <a:avLst/>
          </a:prstGeom>
          <a:solidFill>
            <a:srgbClr val="007A6A"/>
          </a:solidFill>
          <a:ln/>
        </p:spPr>
      </p:sp>
      <p:sp>
        <p:nvSpPr>
          <p:cNvPr id="40" name="Shape 38"/>
          <p:cNvSpPr/>
          <p:nvPr/>
        </p:nvSpPr>
        <p:spPr>
          <a:xfrm>
            <a:off x="7699248" y="2606040"/>
            <a:ext cx="621792" cy="32004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41" name="Shape 39"/>
          <p:cNvSpPr/>
          <p:nvPr/>
        </p:nvSpPr>
        <p:spPr>
          <a:xfrm>
            <a:off x="4846320" y="3017520"/>
            <a:ext cx="621792" cy="320040"/>
          </a:xfrm>
          <a:prstGeom prst="rect">
            <a:avLst/>
          </a:prstGeom>
          <a:solidFill>
            <a:srgbClr val="132438"/>
          </a:solidFill>
          <a:ln/>
        </p:spPr>
      </p:sp>
      <p:sp>
        <p:nvSpPr>
          <p:cNvPr id="42" name="Shape 40"/>
          <p:cNvSpPr/>
          <p:nvPr/>
        </p:nvSpPr>
        <p:spPr>
          <a:xfrm>
            <a:off x="5559552" y="3017520"/>
            <a:ext cx="621792" cy="320040"/>
          </a:xfrm>
          <a:prstGeom prst="rect">
            <a:avLst/>
          </a:prstGeom>
          <a:solidFill>
            <a:srgbClr val="132438"/>
          </a:solidFill>
          <a:ln/>
        </p:spPr>
      </p:sp>
      <p:sp>
        <p:nvSpPr>
          <p:cNvPr id="43" name="Shape 41"/>
          <p:cNvSpPr/>
          <p:nvPr/>
        </p:nvSpPr>
        <p:spPr>
          <a:xfrm>
            <a:off x="6272784" y="3017520"/>
            <a:ext cx="621792" cy="320040"/>
          </a:xfrm>
          <a:prstGeom prst="rect">
            <a:avLst/>
          </a:prstGeom>
          <a:solidFill>
            <a:srgbClr val="132438"/>
          </a:solidFill>
          <a:ln/>
        </p:spPr>
      </p:sp>
      <p:sp>
        <p:nvSpPr>
          <p:cNvPr id="44" name="Shape 42"/>
          <p:cNvSpPr/>
          <p:nvPr/>
        </p:nvSpPr>
        <p:spPr>
          <a:xfrm>
            <a:off x="6986016" y="3017520"/>
            <a:ext cx="621792" cy="32004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45" name="Shape 43"/>
          <p:cNvSpPr/>
          <p:nvPr/>
        </p:nvSpPr>
        <p:spPr>
          <a:xfrm>
            <a:off x="7699248" y="3017520"/>
            <a:ext cx="621792" cy="320040"/>
          </a:xfrm>
          <a:prstGeom prst="rect">
            <a:avLst/>
          </a:prstGeom>
          <a:solidFill>
            <a:srgbClr val="132438"/>
          </a:solidFill>
          <a:ln/>
        </p:spPr>
      </p:sp>
      <p:sp>
        <p:nvSpPr>
          <p:cNvPr id="46" name="Shape 44"/>
          <p:cNvSpPr/>
          <p:nvPr/>
        </p:nvSpPr>
        <p:spPr>
          <a:xfrm>
            <a:off x="4846320" y="3429000"/>
            <a:ext cx="621792" cy="320040"/>
          </a:xfrm>
          <a:prstGeom prst="rect">
            <a:avLst/>
          </a:prstGeom>
          <a:solidFill>
            <a:srgbClr val="007A6A"/>
          </a:solidFill>
          <a:ln/>
        </p:spPr>
      </p:sp>
      <p:sp>
        <p:nvSpPr>
          <p:cNvPr id="47" name="Shape 45"/>
          <p:cNvSpPr/>
          <p:nvPr/>
        </p:nvSpPr>
        <p:spPr>
          <a:xfrm>
            <a:off x="5559552" y="3429000"/>
            <a:ext cx="621792" cy="32004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48" name="Shape 46"/>
          <p:cNvSpPr/>
          <p:nvPr/>
        </p:nvSpPr>
        <p:spPr>
          <a:xfrm>
            <a:off x="6272784" y="3429000"/>
            <a:ext cx="621792" cy="320040"/>
          </a:xfrm>
          <a:prstGeom prst="rect">
            <a:avLst/>
          </a:prstGeom>
          <a:solidFill>
            <a:srgbClr val="132438"/>
          </a:solidFill>
          <a:ln/>
        </p:spPr>
      </p:sp>
      <p:sp>
        <p:nvSpPr>
          <p:cNvPr id="49" name="Shape 47"/>
          <p:cNvSpPr/>
          <p:nvPr/>
        </p:nvSpPr>
        <p:spPr>
          <a:xfrm>
            <a:off x="6986016" y="3429000"/>
            <a:ext cx="621792" cy="32004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50" name="Shape 48"/>
          <p:cNvSpPr/>
          <p:nvPr/>
        </p:nvSpPr>
        <p:spPr>
          <a:xfrm>
            <a:off x="7699248" y="3429000"/>
            <a:ext cx="621792" cy="32004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51" name="Shape 49"/>
          <p:cNvSpPr/>
          <p:nvPr/>
        </p:nvSpPr>
        <p:spPr>
          <a:xfrm>
            <a:off x="4846320" y="3840480"/>
            <a:ext cx="621792" cy="320040"/>
          </a:xfrm>
          <a:prstGeom prst="rect">
            <a:avLst/>
          </a:prstGeom>
          <a:solidFill>
            <a:srgbClr val="132438"/>
          </a:solidFill>
          <a:ln/>
        </p:spPr>
      </p:sp>
      <p:sp>
        <p:nvSpPr>
          <p:cNvPr id="52" name="Shape 50"/>
          <p:cNvSpPr/>
          <p:nvPr/>
        </p:nvSpPr>
        <p:spPr>
          <a:xfrm>
            <a:off x="5559552" y="3840480"/>
            <a:ext cx="621792" cy="320040"/>
          </a:xfrm>
          <a:prstGeom prst="rect">
            <a:avLst/>
          </a:prstGeom>
          <a:solidFill>
            <a:srgbClr val="132438"/>
          </a:solidFill>
          <a:ln/>
        </p:spPr>
      </p:sp>
      <p:sp>
        <p:nvSpPr>
          <p:cNvPr id="53" name="Shape 51"/>
          <p:cNvSpPr/>
          <p:nvPr/>
        </p:nvSpPr>
        <p:spPr>
          <a:xfrm>
            <a:off x="6272784" y="3840480"/>
            <a:ext cx="621792" cy="320040"/>
          </a:xfrm>
          <a:prstGeom prst="rect">
            <a:avLst/>
          </a:prstGeom>
          <a:solidFill>
            <a:srgbClr val="132438"/>
          </a:solidFill>
          <a:ln/>
        </p:spPr>
      </p:sp>
      <p:sp>
        <p:nvSpPr>
          <p:cNvPr id="54" name="Shape 52"/>
          <p:cNvSpPr/>
          <p:nvPr/>
        </p:nvSpPr>
        <p:spPr>
          <a:xfrm>
            <a:off x="6986016" y="3840480"/>
            <a:ext cx="621792" cy="32004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55" name="Shape 53"/>
          <p:cNvSpPr/>
          <p:nvPr/>
        </p:nvSpPr>
        <p:spPr>
          <a:xfrm>
            <a:off x="7699248" y="3840480"/>
            <a:ext cx="621792" cy="320040"/>
          </a:xfrm>
          <a:prstGeom prst="rect">
            <a:avLst/>
          </a:prstGeom>
          <a:solidFill>
            <a:srgbClr val="007A6A"/>
          </a:solidFill>
          <a:ln/>
        </p:spPr>
      </p:sp>
      <p:sp>
        <p:nvSpPr>
          <p:cNvPr id="56" name="Shape 54"/>
          <p:cNvSpPr/>
          <p:nvPr/>
        </p:nvSpPr>
        <p:spPr>
          <a:xfrm>
            <a:off x="685800" y="4407408"/>
            <a:ext cx="3566160" cy="0"/>
          </a:xfrm>
          <a:prstGeom prst="line">
            <a:avLst/>
          </a:prstGeom>
          <a:noFill/>
          <a:ln w="3810">
            <a:solidFill>
              <a:srgbClr val="1A2D4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6320" y="44074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你来跑实验。AI 分析 DOE 数据。模型更新。反馈结果——知识跨项目累积。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02920" y="480974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8046720" y="48097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FORGE AI ↔ SPC Platform · 闭环研发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875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告诉你要测什么。SPC Platform 告诉你发生了什么。反馈回去——AI 设计下一轮。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2560320" cy="15544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71600"/>
            <a:ext cx="256032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 输入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6324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FA5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560320" cy="155448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137160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5087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1874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 DOE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22402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专利证据驱动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5216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FA5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080760" y="1371600"/>
            <a:ext cx="2560320" cy="155448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080760" y="137160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5087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63640" y="1874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运行实验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22402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你来执行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154680"/>
            <a:ext cx="2560320" cy="15544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3154680"/>
            <a:ext cx="256032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2918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" y="3657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 分析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40233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主效应 · 响应面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06324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FA5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291840" y="3154680"/>
            <a:ext cx="2560320" cy="155448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29" name="Shape 27"/>
          <p:cNvSpPr/>
          <p:nvPr/>
        </p:nvSpPr>
        <p:spPr>
          <a:xfrm>
            <a:off x="3291840" y="315468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0" y="32918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474720" y="3657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意愿优化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74720" y="40233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多响应优化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5216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FA5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080760" y="3154680"/>
            <a:ext cx="2560320" cy="15544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5" name="Shape 33"/>
          <p:cNvSpPr/>
          <p:nvPr/>
        </p:nvSpPr>
        <p:spPr>
          <a:xfrm>
            <a:off x="6080760" y="3154680"/>
            <a:ext cx="256032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32918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63640" y="3657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轮 DOE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63640" y="40233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优化设计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" y="4526280"/>
            <a:ext cx="8138160" cy="0"/>
          </a:xfrm>
          <a:prstGeom prst="line">
            <a:avLst/>
          </a:prstGeom>
          <a:noFill/>
          <a:ln w="3810">
            <a:solidFill>
              <a:srgbClr val="1A2D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617720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两个开源仓库。一个闭环。github.com/newbison/AI_CHEMIST · github.com/newbison/spc-batch-monitor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02920" y="480974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8046720" y="48097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技术栈（仅此一页）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875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你不需要理解这些。但严谨性是真实的。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2606040" cy="34290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引擎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1097280" cy="0"/>
          </a:xfrm>
          <a:prstGeom prst="line">
            <a:avLst/>
          </a:prstGeom>
          <a:noFill/>
          <a:ln w="6350">
            <a:solidFill>
              <a:srgbClr val="0A3A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65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 · 128K 上下文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一次处理 50+ 篇完整专利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流式 · 实时可见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证据分级 L0-L5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3977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207K 字符 · 52K tokens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325880"/>
            <a:ext cx="2606040" cy="342900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463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专利管道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0" y="1828800"/>
            <a:ext cx="1097280" cy="0"/>
          </a:xfrm>
          <a:prstGeom prst="line">
            <a:avLst/>
          </a:prstGeom>
          <a:noFill/>
          <a:ln w="6350">
            <a:solidFill>
              <a:srgbClr val="7E8D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965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大数据库并行搜索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0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· USPTO · EPO · WIPO · Scholar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0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被墙自动回退下一源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0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每篇提取 10K+ 字符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0" y="3977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每个专利号可追溯原文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80760" y="1325880"/>
            <a:ext cx="2606040" cy="342900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1463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部署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1828800"/>
            <a:ext cx="1097280" cy="0"/>
          </a:xfrm>
          <a:prstGeom prst="line">
            <a:avLst/>
          </a:prstGeom>
          <a:noFill/>
          <a:ln w="6350">
            <a:solidFill>
              <a:srgbClr val="7E8D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965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+ FastAPI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+ Vite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63640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一键部署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63640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导出 Word · Markdown · PPTX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63640" y="3977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 · MIT License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480974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化学家打造 · 人在回路中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8046720" y="48097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"/>
            <a:ext cx="109728" cy="10972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这不是文献工具。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256032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300" kern="0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这是 AI 原生研发。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77240" y="2468880"/>
            <a:ext cx="64008" cy="6400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41401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翻译 VOC 为 CTQ + 测试方法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77240" y="2688336"/>
            <a:ext cx="64008" cy="6400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633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调研竞品 · 找到空白区域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77240" y="2907792"/>
            <a:ext cx="64008" cy="6400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85292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从专利中提取 X-Y · 证据分级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3127248"/>
            <a:ext cx="64008" cy="6400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0723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设计第 1 和第 2 轮 DOE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" y="3346704"/>
            <a:ext cx="64008" cy="6400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2918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你来跑实验 · AI 分析 DOE 数据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77240" y="3566160"/>
            <a:ext cx="64008" cy="6400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51129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生成报告 · AI 设计幻灯片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7240" y="3785616"/>
            <a:ext cx="64008" cy="6400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7307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知识跨项目累积 · 人在回路中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4389120"/>
            <a:ext cx="777240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48056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github.com/newbison/AI_CHEMIST  ·  github.com/newbison/spc-batch-monitor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" y="470916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为每一家材料公司，从创业公司到全球企业。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 AI — AI 原生研发平台 — 为全球材料企业而建</dc:title>
  <dc:subject>PptxGenJS Presentation</dc:subject>
  <dc:creator>FORGE AI</dc:creator>
  <cp:lastModifiedBy>FORGE AI</cp:lastModifiedBy>
  <cp:revision>1</cp:revision>
  <dcterms:created xsi:type="dcterms:W3CDTF">2026-06-20T12:22:35Z</dcterms:created>
  <dcterms:modified xsi:type="dcterms:W3CDTF">2026-06-20T12:22:35Z</dcterms:modified>
</cp:coreProperties>
</file>