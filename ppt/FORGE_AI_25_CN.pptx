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02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世界上最好的材料，是用世界上最慢的研发流程造出来的。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03920" y="685800"/>
            <a:ext cx="91440" cy="91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819067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0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87062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— AI 原生研发平台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19267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2602147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化学家打造 · 人在回路中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967907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120" y="2913043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翻译 VOC 为 CTQ + 测试方法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187363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0120" y="3132499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调研竞品 · 找到空白区域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406819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335195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提取 X-Y 关系 · 证据分级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626275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3571411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设计第 1 和第 2 轮 DOE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3845731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790867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你来跑实验 · AI 分析 DOE 数据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4065187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0120" y="4010323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生成报告 · AI 设计幻灯片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4284643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0120" y="4229779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知识跨项目累积 · 持续学习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传统研发的成本 — 用数字说话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016086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01608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10752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8923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搜索专利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0" y="108923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40013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高分子化学家在设计新配方前需要查阅 50 篇专利。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30486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93048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02192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00363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阅读筛选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00363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31453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胶粘剂工程师花一周时间绘制竞争格局图。找不到的东西就是风险。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44886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284488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85800" y="293632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291803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提取分析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291803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22893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涂料科学家凭直觉跑 DOE，因为文献太多看不完。拍脑袋决定先测哪个变量。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759286"/>
            <a:ext cx="813816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75928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85072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383243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撰写报告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383243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14333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写技术报告。做 PPT。向研发总监汇报。为下个项目......从零开始。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61772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761048" y="713232"/>
            <a:ext cx="2017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天。不能复用。知识零累积。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2920" y="4554814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这是每个材料行业的问题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涂料与胶粘剂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2435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搜索什么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606040" y="1408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 40 篇丙烯酸化学专利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2435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浪费在哪里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029200" y="1408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固化配方、PSA 胶带、阻隔膜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85800" y="1993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生物医用植入物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9933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搜索什么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606040" y="2157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6 个数据库比较骨整合数据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993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浪费在哪里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029200" y="2157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合金、HA 涂层、可降解聚合物支架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688336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268833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电池材料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7432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搜索什么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06040" y="2907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日韩中三国锂电池安全专利对比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浪费在哪里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02920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耐电解液胶带、固态电解质、隔膜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438144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38144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高分子复合材料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34930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搜索什么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60604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寻找 180°C/1000h 耐久的界面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4930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浪费在哪里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029200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CFRP、高温热塑性塑料、阻燃材料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187952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02920" y="4187952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85800" y="4242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电子材料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42428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搜索什么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606040" y="4407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导热系数 vs CTE 的 Tradeoff 提取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浪费在哪里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029200" y="4407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TIM、Underfill、EMC、Die-attach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 是什么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不是文献工具。是 AI 原生研发操作系统。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560320" cy="138074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读取 VOC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翻译为 CTQ + 测试方法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71800" y="19339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138074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搜索 6 大数据库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查找专利、竞品、基准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4530" y="193814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560320" cy="138074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80760" y="1325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阅读完整专利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+ Claims + Description</a:t>
            </a:r>
            <a:endParaRPr lang="en-US" sz="9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16BAC0-A56B-4204-2C93-74C179232132}"/>
              </a:ext>
            </a:extLst>
          </p:cNvPr>
          <p:cNvGrpSpPr/>
          <p:nvPr/>
        </p:nvGrpSpPr>
        <p:grpSpPr>
          <a:xfrm>
            <a:off x="434340" y="3108960"/>
            <a:ext cx="8526780" cy="1932051"/>
            <a:chOff x="434340" y="3657600"/>
            <a:chExt cx="8526780" cy="1932051"/>
          </a:xfrm>
        </p:grpSpPr>
        <p:sp>
          <p:nvSpPr>
            <p:cNvPr id="22" name="Shape 20"/>
            <p:cNvSpPr/>
            <p:nvPr/>
          </p:nvSpPr>
          <p:spPr>
            <a:xfrm>
              <a:off x="502920" y="3657600"/>
              <a:ext cx="2560320" cy="1380744"/>
            </a:xfrm>
            <a:prstGeom prst="rect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502920" y="3657600"/>
              <a:ext cx="2560320" cy="36576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85800" y="379476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BE8E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85800" y="416052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BE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绘制空白区域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85800" y="4526280"/>
              <a:ext cx="21945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找到没人解决的机会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948940" y="4120896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BFA5"/>
                  </a:solidFill>
                </a:rPr>
                <a:t>→</a:t>
              </a:r>
              <a:endParaRPr lang="en-US" sz="2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291840" y="3657600"/>
              <a:ext cx="2560320" cy="1380744"/>
            </a:xfrm>
            <a:prstGeom prst="rect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3291840" y="3657600"/>
              <a:ext cx="2560320" cy="36576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3474720" y="379476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BE8E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05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474720" y="416052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BE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设计 DOE</a:t>
              </a:r>
              <a:endParaRPr lang="en-US" sz="13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474720" y="4526280"/>
              <a:ext cx="21945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基于证据，不是直觉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715000" y="4120896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BFA5"/>
                  </a:solidFill>
                </a:rPr>
                <a:t>→</a:t>
              </a:r>
              <a:endParaRPr lang="en-US" sz="2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080760" y="3657600"/>
              <a:ext cx="2560320" cy="1380744"/>
            </a:xfrm>
            <a:prstGeom prst="rect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6080760" y="3657600"/>
              <a:ext cx="2560320" cy="36576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6263640" y="379476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BE8E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06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263640" y="416052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BE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你来跑实验</a:t>
              </a:r>
              <a:endParaRPr lang="en-US" sz="13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263640" y="4526280"/>
              <a:ext cx="21945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9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分析你的 DOE 数据</a:t>
              </a:r>
              <a:endParaRPr lang="en-US" sz="9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34340" y="5381244"/>
              <a:ext cx="548640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00" kern="0" spc="2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FORGE AI · 化学家打造 · 人在回路中</a:t>
              </a:r>
              <a:endParaRPr lang="en-US" sz="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321040" y="5443347"/>
              <a:ext cx="64008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/ 25</a:t>
              </a:r>
              <a:endParaRPr lang="en-US" sz="7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02920" y="5354193"/>
              <a:ext cx="8138160" cy="0"/>
            </a:xfrm>
            <a:prstGeom prst="line">
              <a:avLst/>
            </a:prstGeom>
            <a:noFill/>
            <a:ln w="5080">
              <a:solidFill>
                <a:srgbClr val="1A2D4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人在回路中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加速苦活。化学家掌握判断。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31920" cy="288036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9319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做什么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发现证据 · 提取关系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推荐实验 · 生成报告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跨专利对比 · 空白区域识别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77640" cy="288036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39776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你来决定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判断哪些专利真正重要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优先哪些 X 变量先测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方案在产线上是否可行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8138160" cy="36576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跳过人的后果：LLM 编造的专利号 · 看着合理但实验不了的 DOE · 没有实操经验的推断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输入决定输出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76BD2F-0259-C5F5-7EFA-40CBF00BFFB6}"/>
              </a:ext>
            </a:extLst>
          </p:cNvPr>
          <p:cNvGrpSpPr/>
          <p:nvPr/>
        </p:nvGrpSpPr>
        <p:grpSpPr>
          <a:xfrm>
            <a:off x="502920" y="893445"/>
            <a:ext cx="8138160" cy="1000506"/>
            <a:chOff x="502920" y="893445"/>
            <a:chExt cx="8138160" cy="1000506"/>
          </a:xfrm>
        </p:grpSpPr>
        <p:sp>
          <p:nvSpPr>
            <p:cNvPr id="4" name="Text 2"/>
            <p:cNvSpPr/>
            <p:nvPr/>
          </p:nvSpPr>
          <p:spPr>
            <a:xfrm>
              <a:off x="502920" y="893445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生物医用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02920" y="1149477"/>
              <a:ext cx="8138160" cy="360000"/>
            </a:xfrm>
            <a:prstGeom prst="rect">
              <a:avLst/>
            </a:prstGeom>
            <a:solidFill>
              <a:srgbClr val="E85D7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685800" y="1167765"/>
              <a:ext cx="7772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❌  "更好的骨植入物"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02920" y="1522476"/>
              <a:ext cx="8138160" cy="360000"/>
            </a:xfrm>
            <a:prstGeom prst="rect">
              <a:avLst/>
            </a:prstGeom>
            <a:solidFill>
              <a:srgbClr val="0A3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685800" y="1455039"/>
              <a:ext cx="7772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"Ti 合金，模量 &lt;50GPa，SBF 中磨损 &lt;0.1 mm³/Nm，ISO 10993-5 细胞活性 &gt;90%，可 SLM 打印，疲劳 &gt;10⁷ 次"</a:t>
              </a:r>
              <a:endParaRPr lang="en-US" sz="8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3969F8-BC23-B279-1600-52E308C72D51}"/>
              </a:ext>
            </a:extLst>
          </p:cNvPr>
          <p:cNvGrpSpPr/>
          <p:nvPr/>
        </p:nvGrpSpPr>
        <p:grpSpPr>
          <a:xfrm>
            <a:off x="502920" y="2118741"/>
            <a:ext cx="8138160" cy="1019556"/>
            <a:chOff x="502920" y="2173605"/>
            <a:chExt cx="8138160" cy="1019556"/>
          </a:xfrm>
        </p:grpSpPr>
        <p:sp>
          <p:nvSpPr>
            <p:cNvPr id="9" name="Text 7"/>
            <p:cNvSpPr/>
            <p:nvPr/>
          </p:nvSpPr>
          <p:spPr>
            <a:xfrm>
              <a:off x="502920" y="2173605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电池材料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02920" y="2429637"/>
              <a:ext cx="8138160" cy="360000"/>
            </a:xfrm>
            <a:prstGeom prst="rect">
              <a:avLst/>
            </a:prstGeom>
            <a:solidFill>
              <a:srgbClr val="E85D7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85800" y="2447925"/>
              <a:ext cx="7772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❌  "电池用更好的胶带"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02920" y="2812161"/>
              <a:ext cx="8138160" cy="360000"/>
            </a:xfrm>
            <a:prstGeom prst="rect">
              <a:avLst/>
            </a:prstGeom>
            <a:solidFill>
              <a:srgbClr val="0A3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85800" y="2754249"/>
              <a:ext cx="7772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"PSA 胶带，85°C/72h 碳酸酯电解液(含 LiPF6)，浸泡后粘接力 &gt;0.8 N/cm，无残胶，介电强度 &gt;15 kV/mm"</a:t>
              </a:r>
              <a:endParaRPr lang="en-US" sz="85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502920" y="4772025"/>
            <a:ext cx="813816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" y="4439793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说出你的材料、目标性能（带数值）、约束条件和应用场景。输入越多，输出越好。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7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8B7F8EA-98FD-CD21-5C39-C15C97E60B42}"/>
              </a:ext>
            </a:extLst>
          </p:cNvPr>
          <p:cNvGrpSpPr/>
          <p:nvPr/>
        </p:nvGrpSpPr>
        <p:grpSpPr>
          <a:xfrm>
            <a:off x="502920" y="3344037"/>
            <a:ext cx="8138160" cy="1010031"/>
            <a:chOff x="502920" y="3453765"/>
            <a:chExt cx="8138160" cy="1010031"/>
          </a:xfrm>
        </p:grpSpPr>
        <p:sp>
          <p:nvSpPr>
            <p:cNvPr id="14" name="Text 12"/>
            <p:cNvSpPr/>
            <p:nvPr/>
          </p:nvSpPr>
          <p:spPr>
            <a:xfrm>
              <a:off x="502920" y="3453765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电子材料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" y="3709797"/>
              <a:ext cx="8138160" cy="360000"/>
            </a:xfrm>
            <a:prstGeom prst="rect">
              <a:avLst/>
            </a:prstGeom>
            <a:solidFill>
              <a:srgbClr val="E85D7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85800" y="3728085"/>
              <a:ext cx="7772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❌  "更好的导热膏"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02920" y="4081272"/>
              <a:ext cx="8138160" cy="360000"/>
            </a:xfrm>
            <a:prstGeom prst="rect">
              <a:avLst/>
            </a:prstGeom>
            <a:solidFill>
              <a:srgbClr val="0A3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4024884"/>
              <a:ext cx="7772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"TIM，导热系数 &gt;5W/mK，BLT&lt;30μm，-40→125°C/1000 次热循环无挤出，兼容 Cu/Al 表面"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560320" cy="10241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输入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58465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1307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CTQ + 测试方法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7385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307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专利检索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源回退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46888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2468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竞品情报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空白区域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58465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246888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291840" y="2468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42900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提取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证据分级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47385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80760" y="246888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080760" y="24688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1792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设计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1&amp;2 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0332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02920" y="37033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实验执行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58465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291840" y="3703320"/>
            <a:ext cx="2560320" cy="10241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291840" y="37033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42900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4904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分析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数据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47385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080760" y="3703320"/>
            <a:ext cx="2560320" cy="10241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080760" y="37033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21792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3796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反馈循环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模型更新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源全球专利引擎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560320" cy="11887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 · US 优先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1005840" cy="182880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 VPN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PatentsView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结构化数据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210312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7472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26364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Espacenet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欧洲/全球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API · 国内可达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260604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26060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 Patentscope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PCT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联合国 · 国内可达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352044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5800" y="3538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91840" y="260604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291840" y="26060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474720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全球学术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常可通 · HTML 解析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0" y="352044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474720" y="3538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080760" y="2606040"/>
            <a:ext cx="2560320" cy="1188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080760" y="260604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263640" y="2715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63640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训练知识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6364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永远可用 · 保底兜底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3520440"/>
            <a:ext cx="1005840" cy="18288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263640" y="3538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02920" y="4251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关键原则：每篇专利号都是真实的、可追溯原文的。不是 AI 编造的。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1：涂料与胶粘剂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客户之声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"UV 固化 PC 汽车玻璃硬质涂层，铅笔硬度 9H，550nm 透光率 &gt;90%，1000 次 Taber 磨耗后雾度 &lt;2%，佛罗里达户外 5 年耐候。"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拆解为 4 个搜索角度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丙烯酸酯低聚物 + 多官能单体 + 光引发剂体系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有机-无机杂化涂层 · 硅氧烷/倍半硅氧烷改性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纳米颗粒增强耐磨硬涂层 · SiO₂/Al₂O₃ 填料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UV 固化 + 热后固化双固化体系 · 耐候性提升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35 篇专利。关键发现：没有人同时结合高硬度丙烯酸 + 耐候有机硅面漆 + UV 双固化在汽车透明件上。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 DOE：丙烯酸酯低聚物类型 × 有机硅含量 × UV 辐照剂量 · 12 runs · 响应：硬度、雾度、QUV ΔE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1 深度：X-Y 提取矩阵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216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变量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651760" y="1216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结果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9224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490472"/>
            <a:ext cx="813816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636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低聚物分子量 500→2000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15636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铅笔硬度 6H→9H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0" y="1563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对比 ASTM D3363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92240" y="1563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US10465000B2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039112"/>
            <a:ext cx="8138160" cy="50292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有机硅含量 5→20%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51760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 5000h ΔE 5→1.2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122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5年户外暴露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21122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EP2987654B1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587752"/>
            <a:ext cx="813816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660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光引发剂浓度 1→3%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51760" y="26609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黄变指数 b* 3.5→0.8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660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氙灯加速老化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0" y="2660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JP6543210B2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136392"/>
            <a:ext cx="8138160" cy="50292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SiO₂ 含量 0→15%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51760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Taber 雾度 8→1.5%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209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D1044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92240" y="3209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CN108765432A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685032"/>
            <a:ext cx="813816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0080" y="3758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双固化 (UV+热)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51760" y="37581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交联密度 +40%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FTIR+DSC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US9987654B2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2：生物医用植入物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客户之声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"脊柱融合器用 Ti 合金，促进骨长入，模量匹配松质骨，SLM 可打印，500N 下疲劳寿命 &gt;5M 次。"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拆解为 4 个搜索角度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β-Ti 合金 · Nb/Zr/Ta 体系 · 低模量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SLM 多孔结构 · 孔径梯度 · 骨长入优化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HA/生物活性涂层 · 等离子喷涂 · 溶胶-凝胶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增材制造 Ti 植入物 · 疲劳性能 · 后处理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42 篇专利。白空间：没有人同时结合低模量 β-Ti + SLM 孔隙梯度优化 + HA 涂层一体化工艺。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 DOE：Nb 含量 × 孔径 × HA 涂层厚度 · 2⁴⁻¹ · 16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2：竞争格局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竞争格局 · 钛合金骨植入物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408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408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Tritanium®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59105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Ti + HA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0" y="159105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· 10年临床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模量=骨3倍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993392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0299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 Biomet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Trabecular Metal™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2128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气相沉积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22128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骨样模量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2359152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Ta贵 · 不可打印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2615184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15184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580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NuVasive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6517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283464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3D打印 Ti 多孔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283464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临床使用中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980944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无涂层设计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3236976"/>
            <a:ext cx="5029200" cy="5029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3236976"/>
            <a:ext cx="502920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85800" y="32735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中科院金属所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2735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Ti-Nb-Zr-Sn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4564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β-Ti 合金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345643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低成本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602736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无临床转化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760720" y="1371600"/>
            <a:ext cx="2880360" cy="20116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760720" y="1371600"/>
            <a:ext cx="28803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9436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空白区域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1920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364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没有人同时结合低模量 β-Ti + SLM 孔隙梯度 + HA 涂层一体化工艺。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0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疲劳性能数据稀缺——多数专利只测了铸造或锻造态的疲劳。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3：电池材料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客户之声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"锂离子电芯终止胶带，耐碳酸酯电解液(含 LiPF6) 85°C/72h，浸泡后无残胶，电气绝缘 &gt;15 kV/mm，兼容自动化装配。"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拆解为 4 个搜索角度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丙烯酸 PSA · 耐电解液配方 · 交联体系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有机硅 PSA · 高温稳定性 · 残胶控制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聚酰亚胺基材 · 薄型化 · 电气绝缘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日韩专利 · Nitto Denko/Tesa/LG 化学主导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38 篇专利。白空间：耐电解液丙烯酸-有机硅杂化 PSA，碳酸酯中溶胀 &lt;1%，已在橡胶态。这是日本和韩国专利的空白。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 DOE：PSA 组分 × 基材 × 固化条件 · 2³ 全因子 + 3 中心点 · 11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3：跨专利对比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377440" y="1216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069080" y="1216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0" y="1216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452360" y="1216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1490472"/>
            <a:ext cx="8138160" cy="576072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45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US10465000B2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15453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Nitto Denko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66160" y="1545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丙烯酸 PSA，酸值 &lt;5mg KOH/g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1545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85°C/72h 无残胶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0" y="1545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无有机硅组分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112264"/>
            <a:ext cx="8138160" cy="576072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167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EP3456789B1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77440" y="21671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Tesa 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有机硅-丙烯酸嵌段共聚 PSA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耐 100°C/168h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40880" y="2167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电气强度未报告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2734056"/>
            <a:ext cx="8138160" cy="576072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00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CN109876543A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77440" y="2788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Chem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6616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基材 + 氟化丙烯酸 PSA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介电 &gt;20 kV/mm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只测了室温电解液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355848"/>
            <a:ext cx="8138160" cy="576072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0080" y="34107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JP6789012B2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77440" y="34107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Corp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6160" y="3410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环氧交联丙烯酸 PSA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溶胀率 &lt;2%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4088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残胶测试不完整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4：高分子复合材料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客户之声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"航空航天二级结构用 CFRP，Tg &gt;200°C，30J 冲击后 CAI &gt;300 MPa，FST 合规 (FAR 25.853)，非热压罐工艺。"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拆解为 4 个搜索角度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苯并噁嗪树脂 · 高 Tg · 低粘度 OOA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BMI 树脂 · 耐高温 · 增韧改性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邻苯二甲腈 · 超高 Tg · 阻燃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热塑性增韧环氧 · CAI 优化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29 篇专利。白空间：苯并噁嗪-邻苯二甲腈共聚 + 热塑性增韧 OOA 体系。没有专利覆盖这个组合。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 DOE：苯并噁嗪/邻苯二甲腈比例 × 增韧剂含量 × 固化曲线 · 12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 5：电子材料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0" cy="13258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572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客户之声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"2.5D 封装 Underfill，CTE &lt;25 ppm/°C，Tg &gt;150°C，流动距离 &gt;15mm/&lt;30s，260°C 回流无空洞。"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70432"/>
            <a:ext cx="3337560" cy="13258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0" y="12435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拆解为 4 个搜索角度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硅微粉填充环氧 · CTE 控制 · 流动优化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1719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氰酸酯体系 · 低 CTE · 耐高温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环氧-氰酸酯杂化 · Tradeoff 平衡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2231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纳米填料 · 流动-填充双优化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8138160" cy="1234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31 篇专利。核心发现：二氧化硅填充量 vs 流动性是所有专利的主导 Tradeoff。纳米 SiO₂ (&lt;100nm) 可以同时改善 CTE 而不牺牲流动——但没有人优化过 &lt;50nm 的粒径分布。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3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 DOE：SiO₂ 含量 × 粒径分布 × 环氧-氰酸酯比例 · 2⁴⁻¹ · 12 runs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跨行业模式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什么在变？什么不变？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什么在变（每个行业的 CTQ、材料、测试方法）：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涂料：低聚物 · 有机硅 · UV 剂量 · 硬度/雾度/耐候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生物医用：Nb 含量 · 孔径 · HA 厚度 · 模量/磨损/细胞活性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电池：PSA 类型 · 基材 · 固化 · 粘接力/残胶/电气强度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复合材料：树脂比例 · 增韧剂 · 固化 · Tg/CAI/FST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电子：SiO₂% · 粒径 · 树脂比 · CTE/Tg/流动性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950208"/>
            <a:ext cx="8138160" cy="0"/>
          </a:xfrm>
          <a:prstGeom prst="line">
            <a:avLst/>
          </a:prstGeom>
          <a:noFill/>
          <a:ln w="1016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不变的（FORGE AI 处理）：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不变的：搜索 → 提取 → 比较 → DOE → 实验 → 学习。FORGE AI 处理共性。化学家提供专业判断。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设计 DOE — 两个案例对比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DOE 都基于该行业的专利证据设计——不是泛化的 DOE 模板。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31920" cy="32918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9319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涂料 DOE · 2³ 全因子 + 2 中心点 · 10 runs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3566160" cy="201168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6596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(-1)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83464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(+1)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70332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724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低聚物类型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聚氨酯丙烯酸酯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3464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环氧丙烯酸酯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03320" y="1901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主导硬度因素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有机硅含量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6596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3464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0332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主导耐候性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7724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辐照剂量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mJ/cm²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464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mJ/cm²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03320" y="2670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交联密度控制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3931920" cy="32918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39319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846320" y="13898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电池 DOE · 2³ 全因子 + 3 中心点 · 11 runs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645920"/>
            <a:ext cx="3566160" cy="201168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2648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(-1)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95160" y="1664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(+1)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86384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3776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类型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纯丙烯酸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95160" y="1901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丙烯酸-有机硅杂化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1901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主导耐电解液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3776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基材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2648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25μm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95160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12.5μm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286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电气强度 + 厚度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93776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固化条件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120°C/5min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95160" y="2670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150°C/3min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63840" y="2670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交联程度控制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SPC Platform 集成 — 闭环研发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告诉你要测什么。SPC Platform 告诉你发生了什么。反馈回去——AI 设计下一轮。</a:t>
            </a:r>
            <a:endParaRPr lang="en-US" sz="9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31BCE0F-EAA5-6C28-8FA6-02CCE729E4DC}"/>
              </a:ext>
            </a:extLst>
          </p:cNvPr>
          <p:cNvGrpSpPr/>
          <p:nvPr/>
        </p:nvGrpSpPr>
        <p:grpSpPr>
          <a:xfrm>
            <a:off x="502920" y="1371600"/>
            <a:ext cx="8138160" cy="1368000"/>
            <a:chOff x="502920" y="1371600"/>
            <a:chExt cx="8138160" cy="1368000"/>
          </a:xfrm>
        </p:grpSpPr>
        <p:sp>
          <p:nvSpPr>
            <p:cNvPr id="5" name="Shape 3"/>
            <p:cNvSpPr/>
            <p:nvPr/>
          </p:nvSpPr>
          <p:spPr>
            <a:xfrm>
              <a:off x="502920" y="1371600"/>
              <a:ext cx="2560320" cy="1368000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502920" y="1371600"/>
              <a:ext cx="2560320" cy="36576"/>
            </a:xfrm>
            <a:prstGeom prst="rect">
              <a:avLst/>
            </a:prstGeom>
            <a:solidFill>
              <a:srgbClr val="0A0A0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150876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A0A0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85800" y="187452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FORGE AI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85800" y="224028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0A3A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专利驱动的初始 DOE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82278" y="1902142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BFA5"/>
                  </a:solidFill>
                </a:rPr>
                <a:t>→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91840" y="1371600"/>
              <a:ext cx="2560320" cy="1368000"/>
            </a:xfrm>
            <a:prstGeom prst="rect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3291840" y="1371600"/>
              <a:ext cx="2560320" cy="36576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474720" y="150876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BE8E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4720" y="187452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BE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运行实验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474720" y="224028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你来执行实验方案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739765" y="1902142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BFA5"/>
                  </a:solidFill>
                </a:rPr>
                <a:t>→</a:t>
              </a:r>
              <a:endParaRPr lang="en-US" sz="2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080760" y="1371600"/>
              <a:ext cx="2560320" cy="1368000"/>
            </a:xfrm>
            <a:prstGeom prst="rect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6080760" y="1371600"/>
              <a:ext cx="2560320" cy="36576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263640" y="150876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BE8E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263640" y="187452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BE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SPC Platform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263640" y="224028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主效应 · 响应面 · Ppk</a:t>
              </a:r>
              <a:endParaRPr lang="en-US" sz="9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243342-4C35-C940-2939-890B74524F54}"/>
              </a:ext>
            </a:extLst>
          </p:cNvPr>
          <p:cNvGrpSpPr/>
          <p:nvPr/>
        </p:nvGrpSpPr>
        <p:grpSpPr>
          <a:xfrm>
            <a:off x="502920" y="2999612"/>
            <a:ext cx="8138160" cy="1368000"/>
            <a:chOff x="502920" y="2922270"/>
            <a:chExt cx="8138160" cy="1368000"/>
          </a:xfrm>
        </p:grpSpPr>
        <p:sp>
          <p:nvSpPr>
            <p:cNvPr id="22" name="Shape 20"/>
            <p:cNvSpPr/>
            <p:nvPr/>
          </p:nvSpPr>
          <p:spPr>
            <a:xfrm>
              <a:off x="502920" y="2922270"/>
              <a:ext cx="2560320" cy="1368000"/>
            </a:xfrm>
            <a:prstGeom prst="rect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502920" y="2922270"/>
              <a:ext cx="2560320" cy="36576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85800" y="305943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BE8E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85800" y="342519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 err="1">
                  <a:solidFill>
                    <a:srgbClr val="EBE8E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DOE优化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85800" y="379095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7E8D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多响应同时优化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971800" y="3373755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BFA5"/>
                  </a:solidFill>
                </a:rPr>
                <a:t>→</a:t>
              </a:r>
              <a:endParaRPr lang="en-US" sz="2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291840" y="2922270"/>
              <a:ext cx="2560320" cy="1368000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3291840" y="2922270"/>
              <a:ext cx="2560320" cy="36576"/>
            </a:xfrm>
            <a:prstGeom prst="rect">
              <a:avLst/>
            </a:prstGeom>
            <a:solidFill>
              <a:srgbClr val="0A0A0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3474720" y="305943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A0A0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05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474720" y="342519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FORGE AI</a:t>
              </a:r>
              <a:endParaRPr lang="en-US" sz="13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474720" y="379095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0A3A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解读数据 · 优化模型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760720" y="3365373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BFA5"/>
                  </a:solidFill>
                </a:rPr>
                <a:t>→</a:t>
              </a:r>
              <a:endParaRPr lang="en-US" sz="2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080760" y="2922270"/>
              <a:ext cx="2560320" cy="1368000"/>
            </a:xfrm>
            <a:prstGeom prst="rect">
              <a:avLst/>
            </a:prstGeom>
            <a:solidFill>
              <a:srgbClr val="00BFA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6080760" y="2922270"/>
              <a:ext cx="2560320" cy="36576"/>
            </a:xfrm>
            <a:prstGeom prst="rect">
              <a:avLst/>
            </a:prstGeom>
            <a:solidFill>
              <a:srgbClr val="0A0A0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6263640" y="305943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A0A0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06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263640" y="3425190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第 2 轮 DOE</a:t>
              </a:r>
              <a:endParaRPr lang="en-US" sz="13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263640" y="379095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0A3A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优化设计</a:t>
              </a:r>
              <a:endParaRPr lang="en-US" sz="90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跨项目学习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知识如何在项目之间迁移。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310895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0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 A（汽车涂层）发现：有机硅含量 12% 是耐候性和硬度的最佳平衡点，且该关系独立于丙烯酸酯低聚物类型。</a:t>
            </a:r>
            <a:endParaRPr lang="en-US" sz="1050" dirty="0"/>
          </a:p>
          <a:p>
            <a:pPr marL="0" indent="0">
              <a:lnSpc>
                <a:spcPct val="180000"/>
              </a:lnSpc>
              <a:buNone/>
            </a:pPr>
            <a:endParaRPr lang="en-US" sz="105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 B（电子胶粘剂）启动时：FORGE AI 自动加载项目 A 的有机硅-丙烯酸 X-Y 关系，预填充初始模型。电子胶粘剂不需要从零开始——它从项目 A 停下的地方继续。</a:t>
            </a:r>
            <a:endParaRPr lang="en-US" sz="1050" dirty="0"/>
          </a:p>
          <a:p>
            <a:pPr marL="0" indent="0">
              <a:lnSpc>
                <a:spcPct val="180000"/>
              </a:lnSpc>
              <a:buNone/>
            </a:pPr>
            <a:endParaRPr lang="en-US" sz="105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两个项目共享丙烯酸化学基础。FORGE AI 识别出这种共性并迁移知识。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你不需要理解这些。但严谨性是真实的。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06040" cy="34290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0604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引擎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097280" cy="0"/>
          </a:xfrm>
          <a:prstGeom prst="line">
            <a:avLst/>
          </a:prstGeom>
          <a:noFill/>
          <a:ln w="6350">
            <a:solidFill>
              <a:srgbClr val="0A3A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· 128K 上下文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一次处理 50+ 篇完整专利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 · 实时可见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证据分级 L0-L5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~207K 字符/次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060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47472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专利管道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474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大数据库并行搜索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USPTO · EPO · WIPO · Scholar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被墙自动回退下一源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每篇提取 10K+ 字符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每个专利号可追溯原文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80760" y="1325880"/>
            <a:ext cx="26060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636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636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一键部署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 Word · Markdown · PPTX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· MIT License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931545"/>
            <a:ext cx="813816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931545"/>
            <a:ext cx="813816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98640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本地开发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986409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→ pip install → npm run dev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0" y="98640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81353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681353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5800" y="173621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736217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docker run -e KEY=xxx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0" y="173621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一行命令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31161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431161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48602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 · Zeabur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486025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授权 → 自动检测 Dockerfile → 部署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48602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$5/月 · 支付宝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180969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3180969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5800" y="323583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 · HF Spaces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235833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自动构建 → 上线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323583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完全免费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30777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3930777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85800" y="398564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企业私有部署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3985641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Docker · 私有 LLM API · SSO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398564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联系作者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138160" y="482803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4792218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安全与知识产权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996696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996696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996696"/>
            <a:ext cx="4572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069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数据驻留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069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自托管时，VOC 和实验数据永不离开你的基础设施。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746504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746504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4572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819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管理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819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通过环境变量注入。不在代码中。不在 git 中。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96312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496312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02920" y="2496312"/>
            <a:ext cx="4572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专利搜索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5694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只读操作。不在公共数据库上留下足迹。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4572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319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开源审计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319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License。每一行代码都可审计。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68115"/>
            <a:ext cx="8138160" cy="6400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3995928"/>
            <a:ext cx="813816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995928"/>
            <a:ext cx="45720" cy="6400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人在回路中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4097655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不替你做决定。你始终掌控你的数据和 IP。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828032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162925" y="480936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4747641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03920" y="457200"/>
            <a:ext cx="109728" cy="1097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672465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原生研发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78305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906905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为每一家材料公司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4105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从创业公司到全球企业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912745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120" y="2857881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翻译 VOC 为 CTQ + 测试方法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113913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0120" y="3059049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调研竞品 · 找到空白区域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315081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3260217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提取 X-Y 关系 · 证据分级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516249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3461385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设计第 1 和第 2 轮 DOE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3717417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662553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你来跑实验 · AI 分析 DOE 数据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918585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0120" y="3863721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生成报告 · AI 设计幻灯片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4119753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0120" y="4064889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知识跨项目累积 · 持续学习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4572000"/>
            <a:ext cx="777240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github.com/newbison/spc-batch-monitor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1520" y="4828032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为每一家材料公司 · 化学家打造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2002</Words>
  <Application>Microsoft Office PowerPoint</Application>
  <PresentationFormat>On-screen Show (16:9)</PresentationFormat>
  <Paragraphs>500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AI 原生研发平台</dc:title>
  <dc:subject>PptxGenJS Presentation</dc:subject>
  <dc:creator>FORGE AI</dc:creator>
  <cp:lastModifiedBy>JUN NIE</cp:lastModifiedBy>
  <cp:revision>3</cp:revision>
  <dcterms:created xsi:type="dcterms:W3CDTF">2026-06-20T12:41:47Z</dcterms:created>
  <dcterms:modified xsi:type="dcterms:W3CDTF">2026-06-21T12:32:58Z</dcterms:modified>
</cp:coreProperties>
</file>