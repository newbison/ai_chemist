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world's best materials are built by the world's slowest R&amp;D process.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566160"/>
            <a:ext cx="27432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685800"/>
            <a:ext cx="91440" cy="914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0" kern="0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 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— The AI-Native R&amp;D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27432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71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Chemist · Human in the Loop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826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translates VOC into CTQs + test methods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3557016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021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researches competitors · finds white space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3776472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721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X-Y with evidence grading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3995928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4106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designs your 1st and 2nd DOE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4215384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160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experiments · AI analyzes your DOE 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4434840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37997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your report · AI designs your slides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7240" y="4654296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599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 across projects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Slow R&amp;D — By the Numbers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8138160" cy="77724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34440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07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0" y="1307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6184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polymer chemist screens 50 patents before a new formulation. Finding the right ones is the bottleneck.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8138160" cy="77724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148840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402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221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Screen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2221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5328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adhesive engineer spends a week mapping the competitive landscape. What you miss is risk.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8138160" cy="77724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063240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136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Analyze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0" y="3136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4472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coatings scientist runs DOE on intuition because the literature is too vast. Guessing which variable to test first.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977640"/>
            <a:ext cx="8138160" cy="77724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977640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69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Report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89520" y="4050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3616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report. Make the slides. Present to the R&amp;D director. Next project... start from zero.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315968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4074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days. Nothing reusable. Zero compounding knowledge.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25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Every Materials Industry's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43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Coatings &amp; Adhesives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2435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search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606040" y="14081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40 patents on acrylate chemistry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12435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waste time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029200" y="14081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UV-curable formulations, PSA tapes, barrier films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938528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938528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9933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Implants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99339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search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606040" y="21579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osseointegration data across 6 DBs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993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waste time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029200" y="2157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alloys, HA coatings, biodegradable scaffolds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688336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688336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743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27432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search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06040" y="29077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Li-ion safety patents from JP/KR/CN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7432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waste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029200" y="2907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Electrolyte-resistant tapes, solid-state electrolytes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438144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3438144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493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Composites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06040" y="34930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search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606040" y="3657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which interface lasts 1000h at 180°C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34930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waste time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029200" y="3657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CFRP, high-temp thermoplastics, flame retardants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4187952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" y="4187952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42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Materials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06040" y="424281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search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606040" y="4407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thermal cond. vs CTE tradeoffs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4242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waste time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029200" y="44074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TIM, underfill, EMC, die-attach materials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25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FORGE AI 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literature tool. An AI-native R&amp;D operating system.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560320" cy="21031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VOC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to CTQs + methods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560320" cy="21031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3258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463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searches 6 DBs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Patents, competitors, benchmarks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560320" cy="21031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0" y="13258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463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full patents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+ Claims + Description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657600"/>
            <a:ext cx="2560320" cy="21031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65760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794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4160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maps white space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4526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where nobody is looking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63240" y="4434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291840" y="3657600"/>
            <a:ext cx="2560320" cy="21031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0" y="365760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3794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474720" y="4160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designs DOE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74720" y="4526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Evidence-driven, not intuition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4434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080760" y="3657600"/>
            <a:ext cx="2560320" cy="21031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5" name="Shape 33"/>
          <p:cNvSpPr/>
          <p:nvPr/>
        </p:nvSpPr>
        <p:spPr>
          <a:xfrm>
            <a:off x="6080760" y="365760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3794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63640" y="4160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experiments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63640" y="4526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your DOE data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25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in the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the grunt work. The chemist owns the judgment.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931920" cy="3474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34440"/>
            <a:ext cx="39319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DOES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evidence · Extracts relationships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experiments · Generates reports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Cross-patent comparison · White space 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3977640" cy="34747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34440"/>
            <a:ext cx="39776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7160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patents truly matter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which X to test first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if DOE works on the production floor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8138160" cy="36576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343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human: LLM-fabricated patent numbers · Plausible but un-runable DOE · Inferences without hands-on experience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Determines Output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8138160" cy="384048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"Better bone implant"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8138160" cy="475488"/>
          </a:xfrm>
          <a:prstGeom prst="rect">
            <a:avLst/>
          </a:prstGeom>
          <a:solidFill>
            <a:srgbClr val="0A3A3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8366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"Ti alloy, modulus &lt;50 GPa, wear &lt;0.1 mm³/Nm in SBF, ISO 10993-5 cell viability &gt;90%, SLM-printable, fatigue &gt;10⁷ cycles"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8138160" cy="384048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"Better tape for battery"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145536"/>
            <a:ext cx="8138160" cy="475488"/>
          </a:xfrm>
          <a:prstGeom prst="rect">
            <a:avLst/>
          </a:prstGeom>
          <a:solidFill>
            <a:srgbClr val="0A3A3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6382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"PSA tape, 85°C/72h in carbonate electrolyte with LiPF6, post-soak adhesion &gt;0.8 N/cm, no residue, dielectric &gt;15 kV/mm"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005072"/>
            <a:ext cx="8138160" cy="384048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233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"Better thermal paste"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4425696"/>
            <a:ext cx="8138160" cy="475488"/>
          </a:xfrm>
          <a:prstGeom prst="rect">
            <a:avLst/>
          </a:prstGeom>
          <a:solidFill>
            <a:srgbClr val="0A3A3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44398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"TIM, thermal conductivity &gt;5 W/mK, BLT &lt;30μm, -40→125°C / 1000 thermal cycles, no pump-out, compatible with Cu/Al"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4315968"/>
            <a:ext cx="8138160" cy="0"/>
          </a:xfrm>
          <a:prstGeom prst="line">
            <a:avLst/>
          </a:prstGeom>
          <a:noFill/>
          <a:ln w="1016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material, target properties with numbers, constraints, and application. More in = more out.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2560320" cy="102412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3444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075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075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6324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23444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075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13075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CTQs +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0" y="123444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075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13075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Search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6-source FB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46888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4688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542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542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+ 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6324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91840" y="246888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24688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2542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49040" y="2542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X-Y Extract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L0-5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80760" y="246888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080760" y="24688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542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2542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Design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&amp; 2nd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70332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" y="370332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7764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37764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63240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291840" y="370332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8" name="Shape 36"/>
          <p:cNvSpPr/>
          <p:nvPr/>
        </p:nvSpPr>
        <p:spPr>
          <a:xfrm>
            <a:off x="3291840" y="370332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37764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49040" y="37764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Analysis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Data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52160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080760" y="3703320"/>
            <a:ext cx="2560320" cy="102412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3" name="Shape 41"/>
          <p:cNvSpPr/>
          <p:nvPr/>
        </p:nvSpPr>
        <p:spPr>
          <a:xfrm>
            <a:off x="6080760" y="370332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0" y="37764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37960" y="37764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25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6-Source Global Patent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2560320" cy="11887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Patents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91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最快 · US 优先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1005840" cy="18288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214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needed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1188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 PatentsView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591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结构化数据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0" y="2103120"/>
            <a:ext cx="1005840" cy="182880"/>
          </a:xfrm>
          <a:prstGeom prst="rect">
            <a:avLst/>
          </a:prstGeom>
          <a:solidFill>
            <a:srgbClr val="007A6A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1214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560320" cy="1188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0760" y="118872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 Espacenet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591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欧洲/全球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API · 国内可达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63640" y="2103120"/>
            <a:ext cx="1005840" cy="182880"/>
          </a:xfrm>
          <a:prstGeom prst="rect">
            <a:avLst/>
          </a:prstGeom>
          <a:solidFill>
            <a:srgbClr val="007A6A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1214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2606040"/>
            <a:ext cx="2560320" cy="1188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60604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715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WIPO Patentscope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30083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 PCT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联合国 · 国内可达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" y="3520440"/>
            <a:ext cx="1005840" cy="182880"/>
          </a:xfrm>
          <a:prstGeom prst="rect">
            <a:avLst/>
          </a:prstGeom>
          <a:solidFill>
            <a:srgbClr val="007A6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5387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91840" y="2606040"/>
            <a:ext cx="2560320" cy="1188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3" name="Shape 31"/>
          <p:cNvSpPr/>
          <p:nvPr/>
        </p:nvSpPr>
        <p:spPr>
          <a:xfrm>
            <a:off x="3291840" y="260604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2715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74720" y="30083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全球学术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7472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常可通 · HTML 解析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0" y="3520440"/>
            <a:ext cx="1005840" cy="182880"/>
          </a:xfrm>
          <a:prstGeom prst="rect">
            <a:avLst/>
          </a:prstGeom>
          <a:solidFill>
            <a:srgbClr val="007A6A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0" y="35387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080760" y="2606040"/>
            <a:ext cx="2560320" cy="1188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0" name="Shape 38"/>
          <p:cNvSpPr/>
          <p:nvPr/>
        </p:nvSpPr>
        <p:spPr>
          <a:xfrm>
            <a:off x="6080760" y="260604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2715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LLM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63640" y="30083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训练知识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6364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永远可用 · 保底兜底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63640" y="3520440"/>
            <a:ext cx="1005840" cy="182880"/>
          </a:xfrm>
          <a:prstGeom prst="rect">
            <a:avLst/>
          </a:prstGeom>
          <a:solidFill>
            <a:srgbClr val="007A6A"/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35387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2920" y="4160520"/>
            <a:ext cx="8138160" cy="0"/>
          </a:xfrm>
          <a:prstGeom prst="line">
            <a:avLst/>
          </a:prstGeom>
          <a:noFill/>
          <a:ln w="10160">
            <a:solidFill>
              <a:srgbClr val="00BF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251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every patent number is real and traceable to its original source. Not AI-fabricated.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25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1: Coatings &amp; Adhesives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70432"/>
            <a:ext cx="4572000" cy="13258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70432"/>
            <a:ext cx="45720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43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"UV-curable hard coat for polycarbonate automotive glazing, 9H pencil hardness, &gt;90% T at 550nm, &lt;2% haze after 1000 Taber cycles, 5-year Florida weatherability."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170432"/>
            <a:ext cx="3337560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2435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DECOMPOSES INTO 4 SEARCH ANGLES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Acrylate oligomer + multifunctional monomer + photoinitiator systems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719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Organic-inorganic hybrid · siloxane/POSS-modified coatings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Nanoparticle-reinforced hard coats · SiO₂/Al₂O₃ fillers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2231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UV + thermal dual-cure systems for enhanced weatherability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8138160" cy="12344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97480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patents found. Key insight: no one combines high-hardness acrylate + weatherable silicone topcoat + UV dual-cure in a single automotive glazing system.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DOE: Acrylate oligomer type × Silicone content × UV dose · 12 runs · Responses: hardness, haze, QUV ΔE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1 Deep Dive: X-Y Extraction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16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VARIABLE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651760" y="1216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OUTCOME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0" y="1216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92240" y="1216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1490472"/>
            <a:ext cx="8138160" cy="5029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636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Oligomer MW 500→2000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51760" y="15636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hardness 6H→9H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0" y="1563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Comparative ASTM D3363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92240" y="1563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US10465000B2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039112"/>
            <a:ext cx="8138160" cy="502920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12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Silicone content 5→20%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51760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QUV 5000h ΔE 5→1.2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122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5yr outdoor exposure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92240" y="21122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EP2987654B1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2587752"/>
            <a:ext cx="8138160" cy="5029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60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Photoinitiator 1→3%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51760" y="26609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Yellowness b* 3.5→0.8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26609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Xenon accelerated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92240" y="26609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JP6543210B2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136392"/>
            <a:ext cx="8138160" cy="502920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09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SiO₂ content 0→15%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51760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Taber haze 8→1.5%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209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ASTM D1044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92240" y="3209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CN108765432A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685032"/>
            <a:ext cx="8138160" cy="5029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7581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Dual-cure (UV+thermal)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51760" y="37581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Crosslink density +40%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FTIR+DSC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92240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US9987654B2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2: Biomedical Implants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70432"/>
            <a:ext cx="4572000" cy="13258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70432"/>
            <a:ext cx="45720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43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 alloy for spinal cage, promotes bone ingrowth, modulus matching cancellous bone, SLM-printable, fatigue &gt;5M cycles at 500N."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170432"/>
            <a:ext cx="3337560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2435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DECOMPOSES INTO 4 SEARCH ANGLES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Beta-Ti alloys · Nb/Zr/Ta systems · low modulus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719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SLM porous structures · pore gradient · bone ingrowth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HA/bioactive coatings · plasma spray · sol-gel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2231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AM Ti implants · fatigue performance · post-processing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8138160" cy="12344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97480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patents found. White space: no one combines low-modulus beta-Ti + SLM porosity gradient optimization + HA coating in a single integrated process.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DOE: Nb content × Pore size × HA thickness · 2⁴⁻¹ · 16 runs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2: Competitive Landscape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430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· Ti Alloy Bone Implants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029200" cy="5029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502920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08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Stryker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4081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Tritanium®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59105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Ti + HA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0" y="159105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· 10yr clinical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 3× bone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1993392"/>
            <a:ext cx="5029200" cy="5029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1993392"/>
            <a:ext cx="502920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0299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 Biomet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0299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Trabecular Metal™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21284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vapor deposition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0" y="221284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Bone-like modulus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2359152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costly · not printable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2920" y="2615184"/>
            <a:ext cx="5029200" cy="5029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615184"/>
            <a:ext cx="502920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651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NuVasive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26517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Modulus™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283464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Ti porous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283464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clinical use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2980944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coating design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3236976"/>
            <a:ext cx="5029200" cy="5029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3236976"/>
            <a:ext cx="502920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2735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CAS/IMR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32735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Ti-Nb-Zr-Sn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345643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Beta-Ti alloy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345643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602736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translation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760720" y="1371600"/>
            <a:ext cx="2880360" cy="20116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1371600"/>
            <a:ext cx="288036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 SPACE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0" y="1920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63640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combines low-modulus beta-Ti + SLM porosity gradient + HA coating in one process.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43600" y="25146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fatigue data is scarce — most patents only test cast or forged condition fatigue.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3: Battery Materials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70432"/>
            <a:ext cx="4572000" cy="13258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70432"/>
            <a:ext cx="45720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43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"Termination tape for Li-ion cell, resistant to carbonate electrolyte with LiPF6 at 85°C/72h, no residue after soak, dielectric &gt;15 kV/mm, compatible with automated cell assembly."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170432"/>
            <a:ext cx="3337560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2435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DECOMPOSES INTO 4 SEARCH ANGLES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Acrylic PSA · electrolyte-resistant · crosslinking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719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Silicone PSA · high-temp stability · residue control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Polyimide substrate · thin profile · electrical insulation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2231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JP/KR patent dominance · Nitto Denko/Tesa/LG Chem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8138160" cy="12344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97480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patents found. White space: electrolyte-resistant acrylic-silicone hybrid PSA with &lt;1% swell in carbonate at rubbery state. Gap in JP/KR patent portfolios.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DOE: PSA composition × Substrate × Cure · 2³ full factorial + 3 center points · 11 runs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3: Cross-Patent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377440" y="1216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069080" y="1216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0" y="1216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452360" y="1216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2920" y="1490472"/>
            <a:ext cx="8138160" cy="576072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453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US10465000B2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7440" y="15453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Nitto Denko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66160" y="15453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Acrylic PSA, acid &lt;5 mg KOH/g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0" y="1545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85°C/72h no residue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0880" y="1545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silicone component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2112264"/>
            <a:ext cx="8138160" cy="576072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167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EP3456789B1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77440" y="21671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Tesa 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66160" y="2167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Silicone-acrylic block copolymer PSA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0" y="2167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100°C/168h stable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40880" y="2167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 not reported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2734056"/>
            <a:ext cx="8138160" cy="576072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CN109876543A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77440" y="2788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Chem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6616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substrate + fluorinated acrylic PSA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 &gt;20 kV/mm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4088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electrolyte only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3355848"/>
            <a:ext cx="8138160" cy="576072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4107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JP6789012B2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77440" y="34107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Corp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66160" y="34107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Epoxy-crosslinked acrylic PSA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3410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 &lt;2%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40880" y="3410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Residue test incomplete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4: Polymer Composites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70432"/>
            <a:ext cx="4572000" cy="13258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70432"/>
            <a:ext cx="45720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43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"CFRP for aerospace secondary structure, Tg &gt;200°C, CAI &gt;300 MPa after 30J impact, FST compliant (FAR 25.853), out-of-autoclave processable."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170432"/>
            <a:ext cx="3337560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2435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DECOMPOSES INTO 4 SEARCH ANGLES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Benzoxazine · high Tg · low viscosity OOA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719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BMI resin · high-temp · toughened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Phthalonitrile · ultra-high Tg · flame retardant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2231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Thermoplastic-toughened epoxy · CAI optimized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8138160" cy="12344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97480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patents found. White space: benzoxazine-phthalonitrile copolymer + thermoplastic toughening for OOA. No patent covers this combination.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DOE: Benzoxazine/PN ratio × Toughener % × Cure profile · 12 runs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5: Electronic Materials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70432"/>
            <a:ext cx="4572000" cy="13258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70432"/>
            <a:ext cx="45720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43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"Underfill for 2.5D packaging, CTE &lt;25 ppm/°C, Tg &gt;150°C, flow distance &gt;15mm in &lt;30s, no voiding after 260°C reflow."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170432"/>
            <a:ext cx="3337560" cy="13258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2435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DECOMPOSES INTO 4 SEARCH ANGLES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Silica-filled epoxy · CTE control · flow optimization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719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Cyanate ester · low CTE · high-temp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Epoxy-cyanate hybrid · tradeoff balance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2231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Nanofiller · flow-fill dual optimization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8138160" cy="12344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97480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patents found. Core insight: Silica loading vs. flowability is the dominant tradeoff across ALL patents. Nano-SiO₂ (&lt;100nm) can improve CTE without sacrificing flow — but nobody optimized particle size distribution below 50nm.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DOE: SiO₂% × Particle size dist. × Epoxy-CE ratio · 2⁴⁻¹ · 12 runs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Cross-Industry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changes? What stays the same?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(CTQs, materials, test methods per industry):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Coatings: Oligomer · Silicone · UV dose · Hardness/Haze/Weatherability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Biomedical: Nb% · Pore · HA thickness · Modulus/Wear/Cell viability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Battery: PSA type · Substrate · Cure · Adhesion/Residue/Dielectric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Composites: Resin ratio · Toughener · Cure · Tg/CAI/FST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Electronics: SiO₂% · Particle · Resin ratio · CTE/Tg/Flow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3950208"/>
            <a:ext cx="8138160" cy="0"/>
          </a:xfrm>
          <a:prstGeom prst="line">
            <a:avLst/>
          </a:prstGeom>
          <a:noFill/>
          <a:ln w="1016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0416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THE SAME (FORGE AI handles):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Same: Search → Extract → Compare → DOE → Experiment → Learn. FORGE AI handles the pattern. The chemist provides domain expertise.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Designs DOE — Two Examples Compared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DOE is designed from patent evidence in that industry — not a generic DOE template.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31920" cy="329184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80160"/>
            <a:ext cx="39319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8988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Coatings DOE · 2³ full factorial + 2 CPs · 10 runs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645920"/>
            <a:ext cx="3566160" cy="201168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642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65960" y="1664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(-1)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834640" y="1664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(+1)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703320" y="16642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77240" y="1901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Oligomer type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65960" y="1901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Urethane acrylate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34640" y="1901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Epoxy acrylate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03320" y="1901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hardness lever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7724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Silicone content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65960" y="22860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34640" y="22860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03320" y="2286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weatherability lever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77240" y="26700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dose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65960" y="26700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mJ/cm²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34640" y="26700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mJ/cm²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03320" y="2670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Crosslink density control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63440" y="1280160"/>
            <a:ext cx="3931920" cy="329184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1280160"/>
            <a:ext cx="39319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38988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 DOE · 2³ full factorial + 3 CPs · 11 runs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1645920"/>
            <a:ext cx="3566160" cy="201168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16642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126480" y="1664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(-1)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995160" y="1664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(+1)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863840" y="16642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937760" y="1901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type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26480" y="1901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acrylic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95160" y="1901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Acrylic-silicone hybrid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0" y="1901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electrolyte resistance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93776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26480" y="22860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25μm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95160" y="22860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12.5μm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3840" y="2286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 + thickness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937760" y="26700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 condition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26480" y="26700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120°C/5min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95160" y="26700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150°C/3min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863840" y="2670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Crosslink degree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SPC Platform Integration — Closed-Loop R&amp;D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tells you what to test. SPC Platform tells you what happened. Feed back — AI designs the next round.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560320" cy="16459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Patent-driven initial DOE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16459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37160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Experiment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execute the plan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560320" cy="16459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0" y="137160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Platform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effects · RSM · Ppk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246120"/>
            <a:ext cx="2560320" cy="16459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24612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3749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 Opt.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Multi-response optimization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6324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291840" y="3246120"/>
            <a:ext cx="2560320" cy="16459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0" y="324612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474720" y="3749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7472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data · refines model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080760" y="3246120"/>
            <a:ext cx="2560320" cy="16459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5" name="Shape 33"/>
          <p:cNvSpPr/>
          <p:nvPr/>
        </p:nvSpPr>
        <p:spPr>
          <a:xfrm>
            <a:off x="6080760" y="324612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63640" y="3749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Round DOE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6364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AI-optimized design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4462272"/>
            <a:ext cx="8138160" cy="0"/>
          </a:xfrm>
          <a:prstGeom prst="line">
            <a:avLst/>
          </a:prstGeom>
          <a:noFill/>
          <a:ln w="3810">
            <a:solidFill>
              <a:srgbClr val="1A2D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553712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github.com/newbison/AI_CHEMIST  ·  github.com/newbison/spc-batch-monitor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Cross-Project Learning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knowledge migrates across projects.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138160" cy="352044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0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(automotive coating) found: silicone content at 12% is the sweet spot for weatherability vs. hardness tradeoff — and this relationship is independent of acrylate oligomer type.</a:t>
            </a:r>
            <a:endParaRPr lang="en-US" sz="1050" dirty="0"/>
          </a:p>
          <a:p>
            <a:pPr indent="0" marL="0">
              <a:lnSpc>
                <a:spcPct val="180000"/>
              </a:lnSpc>
              <a:buNone/>
            </a:pPr>
            <a:endParaRPr lang="en-US" sz="105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0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(electronic adhesive) starts: FORGE AI automatically loads Project A's silicone-acrylic X-Y relationships and pre-populates the initial model. The electronic adhesive doesn't start from zero — it picks up where Project A left off.</a:t>
            </a:r>
            <a:endParaRPr lang="en-US" sz="1050" dirty="0"/>
          </a:p>
          <a:p>
            <a:pPr indent="0" marL="0">
              <a:lnSpc>
                <a:spcPct val="180000"/>
              </a:lnSpc>
              <a:buNone/>
            </a:pPr>
            <a:endParaRPr lang="en-US" sz="105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0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 share acrylate chemistry fundamentals. FORGE AI recognizes this commonality and migrates the knowledge.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understand this. But the rigor is real.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06040" cy="34290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0"/>
            <a:ext cx="260604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1097280" cy="0"/>
          </a:xfrm>
          <a:prstGeom prst="line">
            <a:avLst/>
          </a:prstGeom>
          <a:noFill/>
          <a:ln w="6350">
            <a:solidFill>
              <a:srgbClr val="0A3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· 128K context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50+ full patents/pass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· real-time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grading L0-L5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~207K chars per analysis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606040" cy="342900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325880"/>
            <a:ext cx="26060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PATENT PIPELINE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1828800"/>
            <a:ext cx="1097280" cy="0"/>
          </a:xfrm>
          <a:prstGeom prst="line">
            <a:avLst/>
          </a:prstGeom>
          <a:noFill/>
          <a:ln w="6350">
            <a:solidFill>
              <a:srgbClr val="7E8D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databases in parallel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USPTO · EPO · WIPO · Scholar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Auto-fallback if blocked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chars per patent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1325880"/>
            <a:ext cx="2606040" cy="342900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0760" y="1325880"/>
            <a:ext cx="26060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1828800"/>
            <a:ext cx="1097280" cy="0"/>
          </a:xfrm>
          <a:prstGeom prst="line">
            <a:avLst/>
          </a:prstGeom>
          <a:noFill/>
          <a:ln w="6350">
            <a:solidFill>
              <a:srgbClr val="7E8D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FastAPI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one-command deploy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Word · Markdown · PPTX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MIT License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Paths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138160" cy="6400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435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2435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→ pip install → npm run dev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66560" y="12435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938528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933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9933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→ docker run -e KEY=xxx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66560" y="19933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88336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88336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Zeabur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7432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auth → auto-detect Dockerfile → deploy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$5/month · Alipay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438144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438144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930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HF Spaces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34930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auto-build → live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34930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187952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4187952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2428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242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Docker · private LLM · SSO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42428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author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IP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34440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34440"/>
            <a:ext cx="45720" cy="6400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07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3075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self-hosted, your VOC and experimental data never leave your infrastructure.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984248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984248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984248"/>
            <a:ext cx="45720" cy="6400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57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057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via environment variables. Not in code. Not in git.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734056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734056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734056"/>
            <a:ext cx="45720" cy="6400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07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Searches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8072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operations. No footprint left on public databases.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483864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483864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483864"/>
            <a:ext cx="45720" cy="6400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57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Audit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5570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License. Every line of code is auditable.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233672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4233672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233672"/>
            <a:ext cx="45720" cy="6400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3068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43068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make decisions for you. You always control your data and IP.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Built by a Chemist  ·  Human in the Loop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"/>
            <a:ext cx="109728" cy="10972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AI-Native R&amp;D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7432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40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Materials Company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Startup to Global Enterprise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246120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9125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translates VOC into CTQs + test methods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3447288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924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researches competitors · finds white space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3648456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5935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X-Y with evidence grading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3849624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794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designs your 1st and 2nd DOE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4050792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995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experiments · AI analyzes your DOE 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4251960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1970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your report · AI designs your slides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7240" y="4453128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3982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 across projects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4572000"/>
            <a:ext cx="777240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66344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github.com/newbison/AI_CHEMIST  ·  github.com/newbison/spc-batch-monitor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31520" y="4828032"/>
            <a:ext cx="7315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For every materials company · Built by a chemist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AI — The AI-Native R&amp;D Platform</dc:title>
  <dc:subject>PptxGenJS Presentation</dc:subject>
  <dc:creator>FORGE AI</dc:creator>
  <cp:lastModifiedBy>FORGE AI</cp:lastModifiedBy>
  <cp:revision>1</cp:revision>
  <dcterms:created xsi:type="dcterms:W3CDTF">2026-06-20T12:41:47Z</dcterms:created>
  <dcterms:modified xsi:type="dcterms:W3CDTF">2026-06-20T12:41:47Z</dcterms:modified>
</cp:coreProperties>
</file>