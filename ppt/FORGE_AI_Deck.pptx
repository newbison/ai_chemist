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99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188720" cy="2743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503920" y="731520"/>
            <a:ext cx="91440" cy="914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93193" y="1937619"/>
            <a:ext cx="4388407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1042675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1000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19570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Revolutionize Your Innovation Process for Materials Companies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22835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Chemist · Human in the Loop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642875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60120" y="2588011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VOC into CTQs + test methods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844043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789179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researches competitors · finds white space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3045211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0120" y="2990347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X-Y from patents with evidence grading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3246379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60120" y="3191515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 your 1st and 2nd DOE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447547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60120" y="3392683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experiments · AI analyzes your DOE 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" y="3648715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60120" y="3593851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your report · AI designs your slides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3849883"/>
            <a:ext cx="54864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60120" y="3795019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across projects · Human in the loop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1286" y="478724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in the Loop · Input Determines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66864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77640" cy="34747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5720" cy="3474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Humans Decide. AI Accelerates.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finds evidence, extracts relationships, and recommends experiments. But an experienced engineer still decides which patents matter, which X variables to prioritize, and whether a DOE makes practical sense on the production floor. AI accelerates the grunt work. The chemist owns the judgment.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77640" cy="3474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Precise VOC = Precise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3566160" cy="731520"/>
          </a:xfrm>
          <a:prstGeom prst="rect">
            <a:avLst/>
          </a:prstGeom>
          <a:solidFill>
            <a:srgbClr val="0A3A3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983480" y="19019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 VOC: "UV-curable hard coat for polycarbonate, 9H pencil hardness, &gt;90% T at 550nm, &lt;2% haze after 1000 Taber cycles"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566160" cy="457200"/>
          </a:xfrm>
          <a:prstGeom prst="rect">
            <a:avLst/>
          </a:prstGeom>
          <a:solidFill>
            <a:srgbClr val="E85D7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Poor VOC: "I need a better coating"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material, target properties with numbers, constraints, and application. The more you put in, the more you get out.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R&amp;D vs. FORGE AI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31920" cy="35204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customer email · guess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 patents · hope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50 papers · Excel notes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9443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" y="2944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X variables · guess DOE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experiments · Excel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858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report · make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315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4315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project · start from zero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4553712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· NOT REUSABLE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33672" y="2377440"/>
            <a:ext cx="685800" cy="502920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270248" y="2414016"/>
            <a:ext cx="612648" cy="42976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270248" y="2450592"/>
            <a:ext cx="612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2,300×</a:t>
            </a:r>
            <a:endParaRPr lang="en-US" sz="6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709160" y="1188720"/>
            <a:ext cx="3931920" cy="35204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12984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1572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57800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VOC · translates to CTQs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029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57800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searches 6 global patent DBs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5780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every patent in full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9443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800" y="2944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maps white space · recommends DOE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4015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7800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experiments · AI analyzes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8587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5780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report + designs slides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4315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57800" y="4315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· gets smarter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553712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· COMPOUNDING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Translates VOC into CTQs + Test Methods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114800" cy="1463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5720" cy="1463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00BFA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VOICE OF CUSTOMER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a titanium alloy for bone implants that promotes osseointegration, resists wear under cyclic loading, does not release toxic ions over 15+ years, and can be 3D-printed for patient-specific geometries."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794760" cy="1463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0A0A0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 OUTPUT: CTQs + TEST METHODS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modulus &lt; 50 GPa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60920" y="15544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E111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rate &lt; 0.1 mm³/Nm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60920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G133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viability &gt; 90%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60920" y="192024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10993-5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release &lt; 10 ppb/90d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60920" y="2103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10993-12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&gt; 10⁷ cycles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6092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F1160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· &gt; 99.5% dense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60920" y="24688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μCT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02920" y="2971800"/>
            <a:ext cx="1920240" cy="18745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2971800"/>
            <a:ext cx="192024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1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b="1" kern="0" spc="1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commercial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and competitor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portfolios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06040" y="2971800"/>
            <a:ext cx="1920240" cy="18745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2606040" y="2971800"/>
            <a:ext cx="192024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74320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1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b="1" kern="0" spc="1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3703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performance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found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2971800"/>
            <a:ext cx="1920240" cy="18745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709160" y="2971800"/>
            <a:ext cx="192024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84632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1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b="1" kern="0" spc="1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3703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where no one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solved the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yet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12280" y="2971800"/>
            <a:ext cx="1920240" cy="18745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812280" y="2971800"/>
            <a:ext cx="192024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94944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1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X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b="1" kern="0" spc="1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3703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which input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actually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your CTQs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Maps Competitors + Identifies White Space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754880" cy="420624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576" cy="42062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20240" y="12161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Tritanium®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SLM-printed Ti cage + HA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cleared · 10yr data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" y="149047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3× bone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4754880" cy="420624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36576" cy="42062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85800" y="17190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 Biomet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17190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Trabecular Metal™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187452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vapor deposition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86000" y="187452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Bone-like modulus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800" y="199339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costly · not printable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02920" y="2194560"/>
            <a:ext cx="4754880" cy="420624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02920" y="2194560"/>
            <a:ext cx="36576" cy="42062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5800" y="22219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 Properties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22219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Ti-35Nb-7Zr-5Ta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5800" y="237744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Beta-Ti, low modulus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0" y="237744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GPa · ISO 10993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" y="249631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 qualification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02920" y="2697480"/>
            <a:ext cx="4754880" cy="420624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2697480"/>
            <a:ext cx="36576" cy="42062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" y="27249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/ IMR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20240" y="27249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Ti-Nb-Zr-Sn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" y="288036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Nb+Zr reduce toxicity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286000" y="288036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· biocompatible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" y="2999232"/>
            <a:ext cx="3200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translation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486400" y="1188720"/>
            <a:ext cx="3154680" cy="20116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7150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SPACE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15000" y="1828800"/>
            <a:ext cx="109728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715000" y="1965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350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combines low-modulus beta-Ti + AM printability + bioactive coating in one system.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15000" y="24231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350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reduces ion release — proven. But nobody optimized Zr + Ta + Sn simultaneously for AM processing.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Extracts X-Y from Every Patent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text: Abstract + Claims + Description. Evidence-graded. Cross-referenced.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VARIABLE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560320" y="1353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OUTCOME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3440" y="1353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69280" y="13533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06640" y="1353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1627632"/>
            <a:ext cx="8138160" cy="3383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6824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28→35 wt%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0" y="1682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62→48 GPa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16824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Comparative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669280" y="1682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US10895000B2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52360" y="1719072"/>
            <a:ext cx="137160" cy="128016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80960" y="1682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" y="2011680"/>
            <a:ext cx="8138160" cy="338328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066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5→10 wt%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60320" y="2066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release ↓ 60% (90d)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0665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ICP-MS 90d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669280" y="20665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CN109234569B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452360" y="2103120"/>
            <a:ext cx="137160" cy="128016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680960" y="20665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2920" y="2395728"/>
            <a:ext cx="8138160" cy="3383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0080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diffusion hardening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0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rate ↓ 3×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24505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ASTM G133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505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US10188778B2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52360" y="2487168"/>
            <a:ext cx="137160" cy="128016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680960" y="2450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02920" y="2779776"/>
            <a:ext cx="8138160" cy="338328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0080" y="28346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300-600μm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28346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ingrowth ↑ 65%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28346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Histomorphometry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0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EP3428288B1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452360" y="2871216"/>
            <a:ext cx="137160" cy="128016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680960" y="28346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3163824"/>
            <a:ext cx="8138160" cy="33832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40080" y="3218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0→5 wt%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60320" y="3218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Tensile +150 MPa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63440" y="3218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ASTM E8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669280" y="3218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CN109234569B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452360" y="3255264"/>
            <a:ext cx="137160" cy="128016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680960" y="32186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02920" y="3547872"/>
            <a:ext cx="8138160" cy="338328"/>
          </a:xfrm>
          <a:prstGeom prst="rect">
            <a:avLst/>
          </a:prstGeom>
          <a:solidFill>
            <a:srgbClr val="060E1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40080" y="36027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450 vs 500°C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60320" y="3602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ω-phase fraction 2×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63440" y="36027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TEM+XRD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69280" y="3602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D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US10895000B2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452360" y="3639312"/>
            <a:ext cx="137160" cy="128016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680960" y="36027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Designs Your 1st and 2nd DOE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patent evidence, white space, and critical X ranking — AI recommends what to test.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931920" cy="34747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93192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 DOE · SCREENING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 factorial 2⁴⁻¹ · Resolution IV · 12 runs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566160" cy="182880"/>
          </a:xfrm>
          <a:prstGeom prst="rect">
            <a:avLst/>
          </a:prstGeom>
          <a:solidFill>
            <a:srgbClr val="1324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470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65960" y="1847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(-1)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43200" y="184708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(+1)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20440" y="18470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77240" y="20391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content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65960" y="20391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wt%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0" y="20391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wt%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20391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modulus lever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" y="24231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content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65960" y="24231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wt%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0" y="24231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wt%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20440" y="24231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biocompat. lever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" y="28072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content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28072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wt%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28072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wt%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0440" y="28072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+ AM compatible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" y="319125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temp.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65960" y="31912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400°C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31912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500°C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20440" y="319125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ω-phase optimization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63440" y="1234440"/>
            <a:ext cx="3977640" cy="347472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663440" y="1234440"/>
            <a:ext cx="397764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846320" y="13716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 DOE · OPTIMIZATION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1572768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Central composite · 2 factors · α=1.414 · 8 runs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4632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screening identifies top 2 levers (likely Nb + Zr), optimize the sweet spot with response surface design.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2423160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SURFACE CONTOUR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846320" y="260604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559552" y="260604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272784" y="260604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986016" y="260604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699248" y="260604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846320" y="301752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559552" y="301752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272784" y="301752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986016" y="301752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99248" y="301752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846320" y="342900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5559552" y="342900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272784" y="342900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986016" y="342900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699248" y="342900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4846320" y="384048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559552" y="3840480"/>
            <a:ext cx="621792" cy="320040"/>
          </a:xfrm>
          <a:prstGeom prst="rect">
            <a:avLst/>
          </a:prstGeom>
          <a:solidFill>
            <a:srgbClr val="13243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272784" y="384048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986016" y="3840480"/>
            <a:ext cx="621792" cy="320040"/>
          </a:xfrm>
          <a:prstGeom prst="rect">
            <a:avLst/>
          </a:prstGeom>
          <a:solidFill>
            <a:srgbClr val="007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7699248" y="3840480"/>
            <a:ext cx="621792" cy="32004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85800" y="4407408"/>
            <a:ext cx="3566160" cy="0"/>
          </a:xfrm>
          <a:prstGeom prst="line">
            <a:avLst/>
          </a:prstGeom>
          <a:noFill/>
          <a:ln w="381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484632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experiments. AI analyzes your DOE data. The model updates. Feed results back — knowledge compounds.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AI ↔ SPC Platform · Closed-Loop R&amp;D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tells you what to test. SPC Platform tells you what happened. Feed back — AI designs the next round.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560320" cy="15544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15544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47472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DOE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Patent-driven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560320" cy="15544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080760" y="137160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1508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Experiment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execute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154680"/>
            <a:ext cx="2560320" cy="15544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15468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85800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023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effects · RSM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632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91840" y="3154680"/>
            <a:ext cx="2560320" cy="155448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291840" y="3154680"/>
            <a:ext cx="2560320" cy="36576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474720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7472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0" y="4023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Multi-response opt.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080760" y="3154680"/>
            <a:ext cx="2560320" cy="155448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080760" y="3154680"/>
            <a:ext cx="2560320" cy="36576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263640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6364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DOE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4023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(One Page Only)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82880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understand any of this. But the rigor is real.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06040" cy="34290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097280" cy="0"/>
          </a:xfrm>
          <a:prstGeom prst="line">
            <a:avLst/>
          </a:prstGeom>
          <a:noFill/>
          <a:ln w="6350">
            <a:solidFill>
              <a:srgbClr val="0A3A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· 128K context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50+ full patents in one pass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· real-time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grading L0-L5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207K chars · 52K tokens per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325880"/>
            <a:ext cx="2606040" cy="342900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47472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 PIPELINE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1097280" cy="0"/>
          </a:xfrm>
          <a:prstGeom prst="line">
            <a:avLst/>
          </a:prstGeom>
          <a:noFill/>
          <a:ln w="6350">
            <a:solidFill>
              <a:srgbClr val="7E8D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global databases in parallel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USPTO · EPO · WIPO · Scholar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 when sources blocked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chars extracted per patent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links to original source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1325880"/>
            <a:ext cx="2606040" cy="342900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26364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1097280" cy="0"/>
          </a:xfrm>
          <a:prstGeom prst="line">
            <a:avLst/>
          </a:prstGeom>
          <a:noFill/>
          <a:ln w="6350">
            <a:solidFill>
              <a:srgbClr val="7E8D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636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deploy in one command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Word · Markdown · PPTX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MIT License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8097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· Built by a Chemist · Human in the Loop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046720" y="48097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03920" y="457200"/>
            <a:ext cx="109728" cy="10972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BE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LITERATURE TOOL.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560320" cy="0"/>
          </a:xfrm>
          <a:prstGeom prst="line">
            <a:avLst/>
          </a:prstGeom>
          <a:noFill/>
          <a:ln w="1524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AI-NATIVE R&amp;D.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64008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24140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VOC into CTQs + test methods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2688336"/>
            <a:ext cx="64008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633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researches competitors · finds white space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907792"/>
            <a:ext cx="64008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X-Y from patents with evidence grading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127248"/>
            <a:ext cx="64008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30723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 your 1st and 2nd DOE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64008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experiments · AI analyzes your DOE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64008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35112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your report · AI designs your slides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785616"/>
            <a:ext cx="64008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37307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across projects · Human in the loop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7772400" cy="0"/>
          </a:xfrm>
          <a:prstGeom prst="line">
            <a:avLst/>
          </a:prstGeom>
          <a:noFill/>
          <a:ln w="508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github.com/newbison/AI_CHEMIST  ·  github.com/newbison/spc-batch-monitor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470916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7E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materials company, from startup to global enterprise.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1289</Words>
  <Application>Microsoft Office PowerPoint</Application>
  <PresentationFormat>On-screen Show (16:9)</PresentationFormat>
  <Paragraphs>264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AI — The AI-Native R&amp;D Platform for Materials Companies</dc:title>
  <dc:subject>PptxGenJS Presentation</dc:subject>
  <dc:creator>FORGE AI</dc:creator>
  <cp:lastModifiedBy>JUN NIE</cp:lastModifiedBy>
  <cp:revision>2</cp:revision>
  <dcterms:created xsi:type="dcterms:W3CDTF">2026-06-20T12:22:35Z</dcterms:created>
  <dcterms:modified xsi:type="dcterms:W3CDTF">2026-06-20T12:32:45Z</dcterms:modified>
</cp:coreProperties>
</file>