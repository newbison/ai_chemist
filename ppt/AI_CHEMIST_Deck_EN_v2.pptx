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654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</a:t>
            </a:r>
            <a:r>
              <a:rPr lang="en-US" altLang="zh-CN" sz="4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</a:t>
            </a:r>
            <a:r>
              <a:rPr lang="en-US" sz="4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TOOL.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32004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800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CHEMIST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AI-Native R&amp;D Platform. From VOC to DOE — autonomously.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0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customer needs into technical specs. AI researches competitors. AI finds white space. AI extracts critical X-Y relationships. AI designs your 1st and 2nd DOE. AI analyzes your experimental data. This is the full product lifecycle — accelerated by AI.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4800600"/>
            <a:ext cx="293386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 </a:t>
            </a:r>
            <a:r>
              <a:rPr lang="en-US" altLang="zh-CN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A CHEMIST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09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R&amp;D vs. AI CHEMIST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931920" cy="33832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R&amp;D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customer email. Guess what they mean.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83080" y="19659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1854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search patents. Hope you found the right ones.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783080" y="23682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5877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50 papers. Take notes in a spreadsheet.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27706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9900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which X variables matter. Guess DOE levels.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83080" y="3172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392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experiments. Analyze data in Excel.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83080" y="35753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report. Make slides. Present to manager.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D42"/>
                </a:solidFill>
              </a:rPr>
              <a:t>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1970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for next project. Learn nothing reusable.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44074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· MANUAL · NOT REUSABLE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280160"/>
            <a:ext cx="3931920" cy="338328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4846320" y="141732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17830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VOC. Translates to CTQs + test methods.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09360" y="19659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46320" y="218541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global patent DBs. Finds competitor products.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09360" y="23682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58775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every patent in full. Extracts X-Y with evidence grading.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277063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46320" y="29900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white space. Recommends 1st &amp; 2nd DOE formulas.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3172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3392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experiments. AI analyzes your DOE data.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357530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complete report. AI designs your presentation.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0936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4A20"/>
                </a:solidFill>
              </a:rPr>
              <a:t>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41970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remembers everything. Cross-project learning compounds.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44074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· AI-DRIVEN · COMPOUNDING KNOWLEDGE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09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AI Translates VOC into Technical Specifications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13296" y="1160834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114800" cy="14630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5720" cy="1463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77240" y="162763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need a titanium alloy for bone implants that promotes osseointegration, resists wear under cyclic loading, does not release toxic ions over 15+ years, and can be 3D-printed for patient-specific geometries."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0" y="1280160"/>
            <a:ext cx="3657600" cy="1463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0" y="13716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OUTPUT: CTQs + TEST METHODS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120640" y="16276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178040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 / nanoindentation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120640" y="18105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178040" y="18105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 / pin-on-disk in SBF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120640" y="199339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viability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178040" y="199339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 / MTT assay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120640" y="217627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&lt; 10 ppb at 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178040" y="217627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 / ICP-MS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120640" y="235915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life &gt; 10⁷ cycles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178040" y="23591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 / R=-1, 10Hz in SBF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120640" y="25420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Printable: density &gt; 99.5%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178040" y="2542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4A3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Archimedes / μCT porosity &lt; 0.5%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48640" y="3017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AI researches who else is solving this problem — and where the gaps are.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74720"/>
            <a:ext cx="1920240" cy="14630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1920240" cy="36576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identifies commercial products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competitor patent portfolios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97480" y="3474720"/>
            <a:ext cx="1920240" cy="14630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2697480" y="3474720"/>
            <a:ext cx="1920240" cy="36576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283464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83464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compares performance data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found solutions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846320" y="3474720"/>
            <a:ext cx="1920240" cy="14630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4846320" y="3474720"/>
            <a:ext cx="1920240" cy="36576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498348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8348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where no one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solved the problem yet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995160" y="3474720"/>
            <a:ext cx="1920240" cy="14630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995160" y="3474720"/>
            <a:ext cx="1920240" cy="36576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Text 35"/>
          <p:cNvSpPr/>
          <p:nvPr/>
        </p:nvSpPr>
        <p:spPr>
          <a:xfrm>
            <a:off x="713232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b="1" kern="0" spc="15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132320" y="4160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ranks which input variables</a:t>
            </a:r>
            <a:endParaRPr lang="en-US" sz="8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matter for your CTQs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09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AI Maps the Competitive Landscape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81328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"Who is working on this? What have they achieved? Where is nobody looking?"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LANDSCAPE — Ti Alloy Bone Implants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0" cy="475488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8196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03120" y="181965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98424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SLM-printed Ti cage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03120" y="198424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cleared, 10yr clinical data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749040" y="198424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still 3× bone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350008"/>
            <a:ext cx="5029200" cy="475488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23865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238658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255117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Tantalum vapor deposition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103120" y="2551176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porosity, bone-like modulus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49040" y="255117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expensive, not printable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8640" y="2916936"/>
            <a:ext cx="5029200" cy="475488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5800" y="295351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" y="3118104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 alloy, low modulus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103120" y="3118104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modulus, ISO 10993 passed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749040" y="311810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AM qualification data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3483864"/>
            <a:ext cx="5029200" cy="475488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85800" y="352044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/ IMR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35204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 series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reduce cytotoxicity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103120" y="368503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improves strength, low cost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49040" y="3685032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 yet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852160" y="1508760"/>
            <a:ext cx="2743200" cy="196596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035040" y="1691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IDENTIFIED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035040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combines low-modulus beta-Ti alloy + AM printability + bioactive coating in one system.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3504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9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effect on ion release is known — but nobody optimized Zr + Ta + Sn simultaneously for AM.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4864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X VARIABLES IDENTIFIED BY AI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48640" y="39776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68680" y="39776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 (28-40 wt%)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96596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↓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51760" y="39776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971800" y="39776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 (3-10 wt%)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6908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754880" y="39776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#3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074920" y="39776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 (2-8 wt%)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17220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↑, biocompat.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58000" y="39776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#4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78040" y="39776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content (2-6 wt%)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↑, cost ↓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48640" y="42976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#5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68680" y="429768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 (400-500°C)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965960" y="42976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control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651760" y="42976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#6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971800" y="429768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scan speed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069080" y="42976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Porosity, texture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54880" y="42976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#7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29768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coating thickness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172200" y="42976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Osseointegration 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858000" y="429768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7178040" y="429768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content (&lt;0.15 wt%)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275320" y="42976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Ductility control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09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3: AI Extracts X-Y Relationships from Every Patent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abstracts. Full text: Claims + Description. Evidence-graded. Cross-referenced.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4996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88920" y="14996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92040" y="14996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97880" y="14996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PATENT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635240" y="14996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1828800"/>
            <a:ext cx="8046720" cy="301752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88920" y="187452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modulus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92040" y="1874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897880" y="18745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680960" y="1901952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909560" y="187452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48640" y="2176272"/>
            <a:ext cx="8046720" cy="301752"/>
          </a:xfrm>
          <a:prstGeom prst="rect">
            <a:avLst/>
          </a:prstGeom>
          <a:solidFill>
            <a:srgbClr val="08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85800" y="22219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88920" y="22219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release ↓ 60% (90d SBF)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92040" y="22219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97880" y="22219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80960" y="2249424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909560" y="22219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48640" y="2523744"/>
            <a:ext cx="8046720" cy="301752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85800" y="25694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diffusion hardening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788920" y="25694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rate ↓ 3× (pin-on-disk)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25694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897880" y="25694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680960" y="2596896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909560" y="256946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48640" y="2871216"/>
            <a:ext cx="8046720" cy="301752"/>
          </a:xfrm>
          <a:prstGeom prst="rect">
            <a:avLst/>
          </a:prstGeom>
          <a:solidFill>
            <a:srgbClr val="08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85800" y="2916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pore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788920" y="29169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ingrowth ↑ 65% at 12wk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92040" y="29169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Histomorphometry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897880" y="291693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680960" y="2944368"/>
            <a:ext cx="146304" cy="146304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909560" y="291693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48640" y="3218688"/>
            <a:ext cx="8046720" cy="301752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85800" y="3264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788920" y="3264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Tensile strength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892040" y="32644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5897880" y="32644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80960" y="3291840"/>
            <a:ext cx="146304" cy="146304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7909560" y="326440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48640" y="3566160"/>
            <a:ext cx="8046720" cy="301752"/>
          </a:xfrm>
          <a:prstGeom prst="rect">
            <a:avLst/>
          </a:prstGeom>
          <a:solidFill>
            <a:srgbClr val="08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85800" y="3611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450°C/4h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788920" y="3611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volume fraction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892040" y="3611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 + XRD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5897880" y="361188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7680960" y="3639312"/>
            <a:ext cx="146304" cy="146304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7909560" y="36118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48640" y="3913632"/>
            <a:ext cx="8046720" cy="301752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Text 52"/>
          <p:cNvSpPr/>
          <p:nvPr/>
        </p:nvSpPr>
        <p:spPr>
          <a:xfrm>
            <a:off x="685800" y="3959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coating 50→100μm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788920" y="3959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contact area +25%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4892040" y="39593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Limited data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5897880" y="39593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680960" y="3986784"/>
            <a:ext cx="146304" cy="146304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7909560" y="395935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548640" y="4261104"/>
            <a:ext cx="8046720" cy="301752"/>
          </a:xfrm>
          <a:prstGeom prst="rect">
            <a:avLst/>
          </a:prstGeom>
          <a:solidFill>
            <a:srgbClr val="08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1" name="Text 59"/>
          <p:cNvSpPr/>
          <p:nvPr/>
        </p:nvSpPr>
        <p:spPr>
          <a:xfrm>
            <a:off x="685800" y="4306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 2→6 wt%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788920" y="43068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YS +80 MPa, cost -30%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4892040" y="4306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B69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Limited samples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5897880" y="43068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80960" y="4334256"/>
            <a:ext cx="146304" cy="146304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6" name="Text 64"/>
          <p:cNvSpPr/>
          <p:nvPr/>
        </p:nvSpPr>
        <p:spPr>
          <a:xfrm>
            <a:off x="7909560" y="4306824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548640" y="4572000"/>
            <a:ext cx="8046720" cy="13716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8" name="Text 66"/>
          <p:cNvSpPr/>
          <p:nvPr/>
        </p:nvSpPr>
        <p:spPr>
          <a:xfrm>
            <a:off x="685800" y="4572000"/>
            <a:ext cx="777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8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 is the dominant lever for modulus. Zr is the dominant lever for biocompatibility. Ta + Sn are secondary strengtheners. No single patent optimized all four simultaneously — this is your white space.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09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4: AI Designs Your 1st and 2nd DOE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patent evidence, white space analysis, and critical X ranking — AI recommends what to test first.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931920" cy="31546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93192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16642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1ST DOE · SCREENING (12 runs)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90195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6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Fractional factorial · 2⁴⁻¹ · Resolution IV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content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194560" y="219456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28 wt%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200400" y="219456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38 wt%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31520" y="237744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modulus lever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31520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content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194560" y="26974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3 wt%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200400" y="269748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10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31520" y="288036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biocompat. lever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31520" y="32004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content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94560" y="320040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0 wt%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320040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8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33832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+ AM compatibility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Aging temp.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94560" y="37033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400°C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200400" y="3703320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500°C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388620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ω-phase optimization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31520" y="4251960"/>
            <a:ext cx="356616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731520" y="43708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7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Responses: </a:t>
            </a: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(GPa), UTS (MPa), εf (%), wear rate (mm³/Nm), ion release (ppb at 90d), cell viability (%)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1508760"/>
            <a:ext cx="3931920" cy="31546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Shape 26"/>
          <p:cNvSpPr/>
          <p:nvPr/>
        </p:nvSpPr>
        <p:spPr>
          <a:xfrm>
            <a:off x="4663440" y="1508760"/>
            <a:ext cx="3931920" cy="54864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846320" y="16642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2ND DOE · OPTIMIZATION (8 runs)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1901952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69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Central composite · 2 factors · α = 1.414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46320" y="214884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screening identifies the top 2 levers, optimize the sweet spot.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2468880"/>
            <a:ext cx="3566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CONTOUR PLOT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846320" y="269748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5559552" y="269748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272784" y="269748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6986016" y="269748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7699248" y="269748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4846320" y="310896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5559552" y="3108960"/>
            <a:ext cx="621792" cy="32004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272784" y="310896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6986016" y="310896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7699248" y="310896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4846320" y="352044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5559552" y="352044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6272784" y="352044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6986016" y="352044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7699248" y="352044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4846320" y="3931920"/>
            <a:ext cx="621792" cy="320040"/>
          </a:xfrm>
          <a:prstGeom prst="rect">
            <a:avLst/>
          </a:prstGeom>
          <a:solidFill>
            <a:srgbClr val="1A2A3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5559552" y="3931920"/>
            <a:ext cx="621792" cy="32004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6272784" y="393192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6986016" y="3931920"/>
            <a:ext cx="621792" cy="320040"/>
          </a:xfrm>
          <a:prstGeom prst="rect">
            <a:avLst/>
          </a:prstGeom>
          <a:solidFill>
            <a:srgbClr val="8B6914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7699248" y="3931920"/>
            <a:ext cx="621792" cy="3200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Text 51"/>
          <p:cNvSpPr/>
          <p:nvPr/>
        </p:nvSpPr>
        <p:spPr>
          <a:xfrm>
            <a:off x="4846320" y="446227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will analyze your DOE data. </a:t>
            </a: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results back. AI refines the model. The learning compounds across projects.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09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the Full Product Lifecycle — Accelerated by AI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89498"/>
            <a:ext cx="18288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4023360" y="1325880"/>
            <a:ext cx="1280160" cy="64008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4114800" y="13990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114800" y="16459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669280" y="1554480"/>
            <a:ext cx="128016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760720" y="16276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0" y="1874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specs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methods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675120" y="2240280"/>
            <a:ext cx="137160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76656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766560" y="25603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675120" y="3063240"/>
            <a:ext cx="137160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766560" y="31363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6656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mapping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943600" y="3749040"/>
            <a:ext cx="1280160" cy="64008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035040" y="38221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35040" y="4069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&amp; 2nd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389120" y="3977640"/>
            <a:ext cx="128016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4480560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80560" y="42976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2926080" y="3749040"/>
            <a:ext cx="128016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3017520" y="38221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017520" y="4069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data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554480" y="3063240"/>
            <a:ext cx="128016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1645920" y="31363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645920" y="33832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updates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280160" y="2240280"/>
            <a:ext cx="1371600" cy="64008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1371600" y="23134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EDE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371600" y="25603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554480" y="1554480"/>
            <a:ext cx="1371600" cy="64008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1645920" y="162763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45920" y="1874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project</a:t>
            </a:r>
            <a:endParaRPr lang="en-US" sz="7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75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faster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886200" y="2331720"/>
            <a:ext cx="1645920" cy="1645920"/>
          </a:xfrm>
          <a:prstGeom prst="ellipse">
            <a:avLst/>
          </a:prstGeom>
          <a:solidFill>
            <a:srgbClr val="08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3977640" y="2423160"/>
            <a:ext cx="1463040" cy="1463040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3977640" y="256032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CHEMIST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461772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cycle feeds the next. Your R&amp;D knowledge compounds. This is not a search tool — this is an R&amp;D operating system.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09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 Under the Hood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37160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any of this. But the rigor is real.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560320" cy="329184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— 128K context window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5146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 in one pass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streaming: see results in real-time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5204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OpenAI-compatible protocol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A2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grading: L0 (AI guess) to L5 (controlled experiment)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37560" y="1417320"/>
            <a:ext cx="2560320" cy="32918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520440" y="1554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global databases in parallel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520440" y="25146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 · USPTO · EPO · WIPO · Scholar · LLM fallback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20440" y="30175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when sources blocked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520440" y="35204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Extracts: Abstract, Claims, Description, Inventors, Assignee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20440" y="40233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structured characters per patent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417320"/>
            <a:ext cx="2560320" cy="3291840"/>
          </a:xfrm>
          <a:prstGeom prst="rect">
            <a:avLst/>
          </a:prstGeom>
          <a:solidFill>
            <a:srgbClr val="111A2C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309360" y="1554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 backend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25146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frontend · TypeScript · Vite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30175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deploy anywhere in one command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35204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(.docx), Markdown, AI-designed PPTX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40233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 · GitHub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80060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CHEMIST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046720" y="480060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09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Literature Tool.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EDE8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3474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with test methods.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competitors. AI finds white space.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from patents with evidence grading.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experimental data.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report. AI designs your slides. </a:t>
            </a:r>
            <a:endParaRPr lang="en-US" sz="11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1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feeds the next. Your knowledge compounds.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4434840"/>
            <a:ext cx="7772400" cy="0"/>
          </a:xfrm>
          <a:prstGeom prst="line">
            <a:avLst/>
          </a:prstGeom>
          <a:noFill/>
          <a:ln w="5080">
            <a:solidFill>
              <a:srgbClr val="1E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45262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Open Source  ·  MIT License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4736592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materials scientists. No coding required.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1477</Words>
  <Application>Microsoft Office PowerPoint</Application>
  <PresentationFormat>On-screen Show (16:9)</PresentationFormat>
  <Paragraphs>285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CHEMIST — The AI-Native R&amp;D Platform</dc:title>
  <dc:subject>PptxGenJS Presentation</dc:subject>
  <dc:creator>AI CHEMIST</dc:creator>
  <cp:lastModifiedBy>JUN NIE</cp:lastModifiedBy>
  <cp:revision>2</cp:revision>
  <dcterms:created xsi:type="dcterms:W3CDTF">2026-06-20T10:04:54Z</dcterms:created>
  <dcterms:modified xsi:type="dcterms:W3CDTF">2026-06-20T10:09:04Z</dcterms:modified>
</cp:coreProperties>
</file>