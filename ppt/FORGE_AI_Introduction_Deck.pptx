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90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217920" y="-1097280"/>
            <a:ext cx="4572000" cy="4114800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-1080000">
            <a:off x="5303520" y="2011680"/>
            <a:ext cx="5029200" cy="4114800"/>
          </a:xfrm>
          <a:prstGeom prst="rect">
            <a:avLst/>
          </a:prstGeom>
          <a:solidFill>
            <a:srgbClr val="14B8A6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⚒️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Revolutionize Your Innovation Process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R&amp;D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Chemist  ·  Human in the Loop  ·  For Every Materials Company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R&amp;D Bottleneck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materials innovation takes too long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06750"/>
            <a:ext cx="3474720" cy="1321448"/>
          </a:xfrm>
          <a:prstGeom prst="rect">
            <a:avLst/>
          </a:prstGeom>
          <a:solidFill>
            <a:srgbClr val="0D9488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140581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00779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R&amp;D time spent on searching &amp; reading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innovation is painstakingly time-consuming</a:t>
            </a:r>
            <a:endParaRPr lang="en-US" sz="11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EE42D61-E5F3-B3A2-4577-C2E442D6A75B}"/>
              </a:ext>
            </a:extLst>
          </p:cNvPr>
          <p:cNvGrpSpPr/>
          <p:nvPr/>
        </p:nvGrpSpPr>
        <p:grpSpPr>
          <a:xfrm>
            <a:off x="4572000" y="1306750"/>
            <a:ext cx="3931920" cy="548640"/>
            <a:chOff x="4572000" y="1306750"/>
            <a:chExt cx="3931920" cy="548640"/>
          </a:xfrm>
        </p:grpSpPr>
        <p:sp>
          <p:nvSpPr>
            <p:cNvPr id="8" name="Shape 6"/>
            <p:cNvSpPr/>
            <p:nvPr/>
          </p:nvSpPr>
          <p:spPr>
            <a:xfrm>
              <a:off x="4572000" y="1306750"/>
              <a:ext cx="3931920" cy="5486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754880" y="1306750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🔍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212080" y="1306750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Screen 50+ patents per formulation</a:t>
              </a:r>
              <a:endParaRPr lang="en-US" sz="125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EA8CB18-7F49-35E1-2EA2-73863942BEAE}"/>
              </a:ext>
            </a:extLst>
          </p:cNvPr>
          <p:cNvGrpSpPr/>
          <p:nvPr/>
        </p:nvGrpSpPr>
        <p:grpSpPr>
          <a:xfrm>
            <a:off x="4572000" y="2079558"/>
            <a:ext cx="3931920" cy="548640"/>
            <a:chOff x="4572000" y="1965118"/>
            <a:chExt cx="3931920" cy="548640"/>
          </a:xfrm>
        </p:grpSpPr>
        <p:sp>
          <p:nvSpPr>
            <p:cNvPr id="11" name="Shape 9"/>
            <p:cNvSpPr/>
            <p:nvPr/>
          </p:nvSpPr>
          <p:spPr>
            <a:xfrm>
              <a:off x="4572000" y="1965118"/>
              <a:ext cx="3931920" cy="5486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754880" y="1965118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📋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212080" y="1965118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Manual extraction into spreadsheets</a:t>
              </a:r>
              <a:endParaRPr lang="en-US" sz="12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F8AE02E-8C89-54C5-144B-EDD333769438}"/>
              </a:ext>
            </a:extLst>
          </p:cNvPr>
          <p:cNvGrpSpPr/>
          <p:nvPr/>
        </p:nvGrpSpPr>
        <p:grpSpPr>
          <a:xfrm>
            <a:off x="4572000" y="2852366"/>
            <a:ext cx="3931920" cy="548640"/>
            <a:chOff x="4572000" y="2623486"/>
            <a:chExt cx="3931920" cy="548640"/>
          </a:xfrm>
        </p:grpSpPr>
        <p:sp>
          <p:nvSpPr>
            <p:cNvPr id="14" name="Shape 12"/>
            <p:cNvSpPr/>
            <p:nvPr/>
          </p:nvSpPr>
          <p:spPr>
            <a:xfrm>
              <a:off x="4572000" y="2623486"/>
              <a:ext cx="3931920" cy="5486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754880" y="2623486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🧪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2080" y="2623486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DOE based on intuition, not evidence</a:t>
              </a:r>
              <a:endParaRPr lang="en-US" sz="12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6A433F-4835-092A-11CB-46C0ABFE5898}"/>
              </a:ext>
            </a:extLst>
          </p:cNvPr>
          <p:cNvGrpSpPr/>
          <p:nvPr/>
        </p:nvGrpSpPr>
        <p:grpSpPr>
          <a:xfrm>
            <a:off x="4572000" y="3625175"/>
            <a:ext cx="3931920" cy="548640"/>
            <a:chOff x="4572000" y="3281854"/>
            <a:chExt cx="3931920" cy="548640"/>
          </a:xfrm>
        </p:grpSpPr>
        <p:sp>
          <p:nvSpPr>
            <p:cNvPr id="17" name="Shape 15"/>
            <p:cNvSpPr/>
            <p:nvPr/>
          </p:nvSpPr>
          <p:spPr>
            <a:xfrm>
              <a:off x="4572000" y="3281854"/>
              <a:ext cx="3931920" cy="5486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381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754880" y="3281854"/>
              <a:ext cx="411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</a:rPr>
                <a:t>📄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12080" y="3281854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Days spent writing reports &amp; slides</a:t>
              </a:r>
              <a:endParaRPr lang="en-US" sz="125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55793EC-6355-2086-CA69-FF6E786B2BED}"/>
              </a:ext>
            </a:extLst>
          </p:cNvPr>
          <p:cNvGrpSpPr/>
          <p:nvPr/>
        </p:nvGrpSpPr>
        <p:grpSpPr>
          <a:xfrm>
            <a:off x="640080" y="2852367"/>
            <a:ext cx="3474720" cy="1327124"/>
            <a:chOff x="640080" y="2642896"/>
            <a:chExt cx="3474720" cy="1327124"/>
          </a:xfrm>
        </p:grpSpPr>
        <p:sp>
          <p:nvSpPr>
            <p:cNvPr id="20" name="Shape 18"/>
            <p:cNvSpPr/>
            <p:nvPr/>
          </p:nvSpPr>
          <p:spPr>
            <a:xfrm>
              <a:off x="640080" y="2642896"/>
              <a:ext cx="3474720" cy="1327124"/>
            </a:xfrm>
            <a:prstGeom prst="rect">
              <a:avLst/>
            </a:prstGeom>
            <a:solidFill>
              <a:srgbClr val="0F172A"/>
            </a:solidFill>
            <a:ln/>
            <a:effectLst>
              <a:outerShdw blurRad="38100" dist="127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1154430" y="2906529"/>
              <a:ext cx="24460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EF444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8 days  </a:t>
              </a:r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manual, not reusable     </a:t>
              </a:r>
              <a:endPara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endParaRPr>
            </a:p>
            <a:p>
              <a:pPr marL="0" indent="0" algn="ctr">
                <a:buNone/>
              </a:pPr>
              <a:r>
                <a:rPr lang="en-US" sz="1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5 minutes  </a:t>
              </a:r>
            </a:p>
            <a:p>
              <a:pPr marL="0" indent="0" algn="ctr">
                <a:buNone/>
              </a:pPr>
              <a:r>
                <a:rPr lang="en-US" sz="13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AI-driven, compounding knowledge</a:t>
              </a:r>
              <a:endParaRPr lang="en-US" sz="180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FORGE AI 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research question in → a complete R&amp;D report 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2940" y="1463040"/>
            <a:ext cx="1417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62940" y="146304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629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6294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 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8026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63140" y="1463040"/>
            <a:ext cx="1417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263140" y="146304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2631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6314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6314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global patent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scanned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8046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63340" y="1463040"/>
            <a:ext cx="1417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863340" y="146304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8633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6334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Read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6334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extraction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8066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63540" y="1463040"/>
            <a:ext cx="1417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463540" y="146304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635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6354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Analyze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6354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space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DOE design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80860" y="21031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063740" y="1463040"/>
            <a:ext cx="1417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063740" y="1463040"/>
            <a:ext cx="141732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06374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06374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63740" y="25603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slides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across projects. The more you use it, the smarter it gets.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Patent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sources · full-text deep reading · automatic fallback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Patents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08960" y="1325880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108960" y="132588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1984248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1984248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 Espacenet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1984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08960" y="1984248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108960" y="1984248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291840" y="19842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 Patentscope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198424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PCT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2642616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2642616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2960" y="26426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26426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108960" y="2642616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108960" y="2642616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291840" y="26426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</a:t>
            </a:r>
            <a:r>
              <a:rPr lang="en-US" altLang="zh-CN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6426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knowledge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77840" y="132588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8064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patent is real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10,000+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1783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extracted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patent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2221992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806440" y="2240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2240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analyzed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~3 minutes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10655" y="2679289"/>
            <a:ext cx="246888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806440" y="2697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7512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3337560"/>
            <a:ext cx="78638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2296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Full-Text Deep Analysis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2960" y="3657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patent: Abstract + Claims + Description — all extracted, parsed, and fed to the LLM. No summaries. No truncation. Every claim is citeable.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X-Y Extraction &amp; Evidence Grading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patent text to structured technical knowledge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74904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X → 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material, composition, 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process parameter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performance or effect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Adhesion strength increased from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→ 8.7 N/cm when silane content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raised from 1.5 → 3.0 wt%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5-Level Evidence Grading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847088"/>
            <a:ext cx="73152" cy="21945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206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disclosure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167128"/>
            <a:ext cx="73152" cy="2194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12064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normalization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487168"/>
            <a:ext cx="73152" cy="21945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12064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807208"/>
            <a:ext cx="73152" cy="21945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12064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hypothesis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127248"/>
            <a:ext cx="73152" cy="21945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12064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suggestion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⛓️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cites its patent number.  </a:t>
            </a:r>
            <a:r>
              <a:rPr lang="en-US" sz="1200" dirty="0">
                <a:solidFill>
                  <a:srgbClr val="000000"/>
                </a:solidFill>
              </a:rPr>
              <a:t>🔬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≠ experimental evidence.  </a:t>
            </a:r>
            <a:r>
              <a:rPr lang="en-US" sz="1200" dirty="0">
                <a:solidFill>
                  <a:srgbClr val="000000"/>
                </a:solidFill>
              </a:rPr>
              <a:t>📊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Cross-patent comparison with concrete numbers.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Intelligence &amp; White 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everyone is — and where nobody is looking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Products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who is working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problem and what they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achieved so far.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874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performance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found solutions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concrete numbers.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 Space Mapping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gaps — compositions,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and applications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patent covers.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379476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X Ranking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which input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drive your CTQs.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right things first.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AI-Designed DOE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patent evidence to experimental plans — in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74904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1500" b="1" baseline="30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</a:t>
            </a: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DOE  ·  Screening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factorial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dominant X variables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IV — no confounding of main effects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down from many factors to few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center points for curvature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749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r>
              <a:rPr lang="en-US" sz="1500" b="1" baseline="30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nd</a:t>
            </a: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DOE  ·  Optimization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composite 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formulation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 modeling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function — multi-objective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sweet spot confirmation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You run experiments  →  </a:t>
            </a: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analyzes your DOE data  →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 updates. Learning compounds.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R&amp;D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workflow · 3 export formats · AI-designed slides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3268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3268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Intake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0644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80644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1384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VOC→CTQ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68020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68020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8760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Mining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55396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55396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6136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X-Y Extract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2772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42772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3512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Synthesize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0148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30148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888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Risk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17524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17524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8264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DOE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04900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704900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5640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Learn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922768" y="12801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792276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0160" y="1645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Replicate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40080" y="228600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640080" y="22860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008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400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Markdown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— paste into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wiki, or docs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83280" y="228600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3383280" y="22860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338328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3832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38328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document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CJK-optimized fonts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2286000"/>
            <a:ext cx="24688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126480" y="2286000"/>
            <a:ext cx="2468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12648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61264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PowerPoint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12648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.pptx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slides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color palettes, premium look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includes:  Patent priority scoring  ·  X/Y dictionaries  ·  X-Y relationship matrix  ·  Risk screening  ·  DOE portfolio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Closed-Loop R&amp;D: FORGE AI + SPC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literature to production — a unified learning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27048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5270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385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intelligence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X-Y extraction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DOE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8470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51760" y="1389888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651760" y="1389888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743200" y="152704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74320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15270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Run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19385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or pilot plant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18470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54880" y="1389888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1389888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846320" y="1527048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15270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SPC Platform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9385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surfaces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Desirability optimization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18470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58000" y="1389888"/>
            <a:ext cx="1828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858000" y="1389888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949440" y="1527048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94944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60920" y="15270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 AI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19385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the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2nd-round DOE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Learning loop — each cycle makes the model smarter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solidFill>
            <a:srgbClr val="0F172A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 and why.</a:t>
            </a: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SPC Platform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4864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AI  ·  R&amp;D Intelligence Platform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3200400"/>
            <a:ext cx="4572000" cy="320040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 rot="900000">
            <a:off x="5486400" y="-914400"/>
            <a:ext cx="4572000" cy="3200400"/>
          </a:xfrm>
          <a:prstGeom prst="rect">
            <a:avLst/>
          </a:prstGeom>
          <a:solidFill>
            <a:srgbClr val="14B8A6">
              <a:alpha val="6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Your Project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university lab to R&amp;D floor — FORGE AI works at every scale.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4688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554480" y="17830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Describe Your VOC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research question 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specific, the better.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4688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Does the 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Searches, reads, extracts,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30+ patents in minutes.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46888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040880" y="17830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408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Your Report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R&amp;D report + AI-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slides in one click.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solidFill>
            <a:srgbClr val="0D9488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⚒️  Try FORGE AI Live  →  ai-chemist.zeabur.app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github.com/newbison/AI_CHEMIST  ·  Built with DeepSeek + FastAPI + React + Docker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912</Words>
  <Application>Microsoft Office PowerPoint</Application>
  <PresentationFormat>On-screen Show (16:9)</PresentationFormat>
  <Paragraphs>238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Introduction Deck</dc:title>
  <dc:subject>PptxGenJS Presentation</dc:subject>
  <dc:creator>FORGE AI</dc:creator>
  <cp:lastModifiedBy>JUN NIE</cp:lastModifiedBy>
  <cp:revision>5</cp:revision>
  <dcterms:created xsi:type="dcterms:W3CDTF">2026-06-21T13:12:51Z</dcterms:created>
  <dcterms:modified xsi:type="dcterms:W3CDTF">2026-06-21T13:32:30Z</dcterms:modified>
</cp:coreProperties>
</file>