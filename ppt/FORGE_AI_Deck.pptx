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2743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Shape 2"/>
          <p:cNvSpPr/>
          <p:nvPr/>
        </p:nvSpPr>
        <p:spPr>
          <a:xfrm>
            <a:off x="8595360" y="77724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Shape 3"/>
          <p:cNvSpPr/>
          <p:nvPr/>
        </p:nvSpPr>
        <p:spPr>
          <a:xfrm>
            <a:off x="8458200" y="640080"/>
            <a:ext cx="109728" cy="109728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943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LITERATURE TOOL.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31520" y="2057400"/>
            <a:ext cx="29260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1000" kern="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AI-Native R&amp;D Platform. From VOC to DOE — autonomously.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749040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941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customer needs into technical specs with test methods.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3968496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9136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competitors. AI maps white space.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4187952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133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critical X-Y relationships from global patents.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4407408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35254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DOE. AI analyzes your experimental data.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77240" y="4626864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5720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product lifecycle — accelerated by AI. Knowledge compounds.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480974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046720" y="480974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09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R&amp;D vs. FORGE AI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0116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241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manual steps. 8 days. Nothing reusable.  vs.  7 AI-powered steps. 5 minutes. Compounding knowledge.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31920" cy="3246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417320"/>
            <a:ext cx="3931920" cy="36576"/>
          </a:xfrm>
          <a:prstGeom prst="rect">
            <a:avLst/>
          </a:prstGeom>
          <a:solidFill>
            <a:srgbClr val="7E8D9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544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customer email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205740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what they really mean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85800" y="2258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51560" y="22585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search patents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51560" y="24414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 you found the right ones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85800" y="264261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264261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50 papers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51560" y="2825496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notes in a spreadsheet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85800" y="302666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51560" y="30266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which X matters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51560" y="3209544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DOE levels. Hope it works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85800" y="341071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51560" y="34107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" y="3593592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data in Excel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85800" y="37947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51560" y="379476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report. Make slides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1560" y="397764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to manager. Hope they agree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5800" y="417880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51560" y="41788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project starts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51560" y="436168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nothing from the last one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85800" y="45445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ZERO REUSE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233672" y="2560320"/>
            <a:ext cx="685800" cy="502920"/>
          </a:xfrm>
          <a:prstGeom prst="rect">
            <a:avLst>
              <a:gd name="adj" fmla="val 7273"/>
            </a:avLst>
          </a:prstGeom>
          <a:solidFill>
            <a:srgbClr val="060E18"/>
          </a:solidFill>
          <a:ln/>
        </p:spPr>
      </p:sp>
      <p:sp>
        <p:nvSpPr>
          <p:cNvPr id="31" name="Shape 29"/>
          <p:cNvSpPr/>
          <p:nvPr/>
        </p:nvSpPr>
        <p:spPr>
          <a:xfrm>
            <a:off x="4270248" y="2596896"/>
            <a:ext cx="612648" cy="42976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2" name="Text 30"/>
          <p:cNvSpPr/>
          <p:nvPr/>
        </p:nvSpPr>
        <p:spPr>
          <a:xfrm>
            <a:off x="4270248" y="2633472"/>
            <a:ext cx="61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2,300×</a:t>
            </a:r>
            <a:endParaRPr lang="en-US" sz="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709160" y="1417320"/>
            <a:ext cx="3931920" cy="32461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4" name="Shape 32"/>
          <p:cNvSpPr/>
          <p:nvPr/>
        </p:nvSpPr>
        <p:spPr>
          <a:xfrm>
            <a:off x="4709160" y="1417320"/>
            <a:ext cx="39319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5" name="Text 33"/>
          <p:cNvSpPr/>
          <p:nvPr/>
        </p:nvSpPr>
        <p:spPr>
          <a:xfrm>
            <a:off x="4892040" y="15544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1874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57800" y="1874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VOC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57800" y="205740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Translates to CTQs + test methods automatically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92040" y="2258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257800" y="22585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6 global DBs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257800" y="24414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patents, competitor products, benchmarks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892040" y="264261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257800" y="264261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every patent in full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257800" y="2825496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X-Y with evidence grading (L0-L5)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892040" y="302666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257800" y="30266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maps white space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257800" y="3209544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critical X. Recommends 1st &amp; 2nd DOE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4892040" y="341071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257800" y="341071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257800" y="3593592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 your DOE data. Refines the model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892040" y="37947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257800" y="379476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report + slides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257800" y="397764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R&amp;D report. AI-designed presentation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892040" y="417880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257800" y="41788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57800" y="436168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feeds the next. Learning accelerates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892040" y="45445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 ·  COMPOUNDING KNOWLEDGE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02920" y="480974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8046720" y="480974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AI Translates VOC into CTQs with Test Methods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0116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241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keywords. AI reasons about what needs to be measured — and how.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4114800" cy="13716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71600"/>
            <a:ext cx="45720" cy="13716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63040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need a titanium alloy for bone implants that promotes osseointegration, resists wear under cyclic loading, does not release toxic ions over 15+ years, and can be 3D-printed for patient-specific geometries."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1371600"/>
            <a:ext cx="3794760" cy="13716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46304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OUTPUT: CTQs + TEST METHODS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0" y="1691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&lt; 50 GPa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360920" y="16916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E111 / nanoindentation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029200" y="18745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&lt; 0.1 mm³/Nm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60920" y="187452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G133 · pin-on-disk in SBF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viability &gt; 90%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360920" y="20574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 · MTT assay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029200" y="22402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&lt; 10 ppb / 90d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60920" y="22402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10993-12 · ICP-MS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5029200" y="24231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life &gt; 10⁷ cycles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60920" y="24231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F1160 · R=-1, 10Hz, 37°C SBF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5029200" y="26060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 · density &gt; 99.5%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60920" y="26060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1A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Archimedes · μCT porosity &lt; 0.5%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502920" y="294436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AI proceeds to research who else is solving this — and where the gaps are.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337560"/>
            <a:ext cx="1920240" cy="1417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333756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080" y="3474720"/>
            <a:ext cx="201168" cy="201168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4747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BFA5"/>
                </a:solidFill>
              </a:rPr>
              <a:t>◈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commercial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and competitor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portfolios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606040" y="3337560"/>
            <a:ext cx="1920240" cy="1417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1" name="Shape 29"/>
          <p:cNvSpPr/>
          <p:nvPr/>
        </p:nvSpPr>
        <p:spPr>
          <a:xfrm>
            <a:off x="2606040" y="333756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2" name="Shape 30"/>
          <p:cNvSpPr/>
          <p:nvPr/>
        </p:nvSpPr>
        <p:spPr>
          <a:xfrm>
            <a:off x="2743200" y="3474720"/>
            <a:ext cx="201168" cy="201168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3" name="Text 31"/>
          <p:cNvSpPr/>
          <p:nvPr/>
        </p:nvSpPr>
        <p:spPr>
          <a:xfrm>
            <a:off x="2743200" y="34747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BFA5"/>
                </a:solidFill>
              </a:rPr>
              <a:t>◇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performance data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found solutions.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identified.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709160" y="3337560"/>
            <a:ext cx="1920240" cy="1417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7" name="Shape 35"/>
          <p:cNvSpPr/>
          <p:nvPr/>
        </p:nvSpPr>
        <p:spPr>
          <a:xfrm>
            <a:off x="4709160" y="333756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8" name="Shape 36"/>
          <p:cNvSpPr/>
          <p:nvPr/>
        </p:nvSpPr>
        <p:spPr>
          <a:xfrm>
            <a:off x="4846320" y="3474720"/>
            <a:ext cx="201168" cy="201168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9" name="Text 37"/>
          <p:cNvSpPr/>
          <p:nvPr/>
        </p:nvSpPr>
        <p:spPr>
          <a:xfrm>
            <a:off x="4846320" y="34747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BFA5"/>
                </a:solidFill>
              </a:rPr>
              <a:t>◆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4632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84632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where no one has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the problem yet.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opportunity zone.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812280" y="3337560"/>
            <a:ext cx="1920240" cy="1417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43" name="Shape 41"/>
          <p:cNvSpPr/>
          <p:nvPr/>
        </p:nvSpPr>
        <p:spPr>
          <a:xfrm>
            <a:off x="6812280" y="333756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4" name="Shape 42"/>
          <p:cNvSpPr/>
          <p:nvPr/>
        </p:nvSpPr>
        <p:spPr>
          <a:xfrm>
            <a:off x="6949440" y="3474720"/>
            <a:ext cx="201168" cy="201168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5" name="Text 43"/>
          <p:cNvSpPr/>
          <p:nvPr/>
        </p:nvSpPr>
        <p:spPr>
          <a:xfrm>
            <a:off x="6949440" y="34747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BFA5"/>
                </a:solidFill>
              </a:rPr>
              <a:t>◈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4944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X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949440" y="4251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which input variables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drive your CTQs.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test first.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502920" y="480974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046720" y="480974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AI Maps the Competitive Landscape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0116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241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"Who is working on this? What have they achieved? Where is nobody looking?"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LANDSCAPE  ·  Ti ALLOY BONE IMPLANTS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627632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55064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1655064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85800" y="1810512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SLM-printed Ti cage + HA coating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cleared · 10yr clinical data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85800" y="1929384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still 3× cortical bone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502920" y="2130552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2130552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157984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874520" y="2157984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85800" y="2313432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Tantalum vapor deposition · 80% porosity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286000" y="2313432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Bone-like elastic modulus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85800" y="2432304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expensive · not printable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502920" y="2633472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2633472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2660904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 Properties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874520" y="2660904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Ti-35Nb-7Zr-5Ta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85800" y="2816352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Beta-Ti alloy · low modulus · ISO 10993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286000" y="2816352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GPa modulus achieved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85800" y="2935224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 qualification data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02920" y="3136392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" y="3136392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3163824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/ IMR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874520" y="3163824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 series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85800" y="3319272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Nb+Zr reduce cytotoxicity · Sn strengthens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286000" y="3319272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 · good biocompatibility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85800" y="3438144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translation yet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5486400" y="1417320"/>
            <a:ext cx="3154680" cy="18745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5" name="Text 33"/>
          <p:cNvSpPr/>
          <p:nvPr/>
        </p:nvSpPr>
        <p:spPr>
          <a:xfrm>
            <a:off x="5715000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SPACE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IDENTIFIED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715000" y="2148840"/>
            <a:ext cx="1097280" cy="18288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7" name="Text 35"/>
          <p:cNvSpPr/>
          <p:nvPr/>
        </p:nvSpPr>
        <p:spPr>
          <a:xfrm>
            <a:off x="5715000" y="226771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35040" y="22677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combines low-modulus beta-Ti alloy + AM printability + bioactive coating in one system.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715000" y="274320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035040" y="2743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effect on ion release is proven — but nobody optimized Zr + Ta + Sn simultaneously for AM processing.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02920" y="374904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X VARIABLES  ·  AI-RANKED BY IMPACT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02920" y="3977640"/>
            <a:ext cx="1920240" cy="274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43" name="Text 41"/>
          <p:cNvSpPr/>
          <p:nvPr/>
        </p:nvSpPr>
        <p:spPr>
          <a:xfrm>
            <a:off x="576072" y="401421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868680" y="399592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 (28-40 wt%)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68680" y="4133088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↓↓↓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3977640"/>
            <a:ext cx="1920240" cy="274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47" name="Text 45"/>
          <p:cNvSpPr/>
          <p:nvPr/>
        </p:nvSpPr>
        <p:spPr>
          <a:xfrm>
            <a:off x="2679192" y="401421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2971800" y="399592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content (3-10 wt%)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971800" y="4133088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↓ 60%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4709160" y="3977640"/>
            <a:ext cx="1920240" cy="274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1" name="Text 49"/>
          <p:cNvSpPr/>
          <p:nvPr/>
        </p:nvSpPr>
        <p:spPr>
          <a:xfrm>
            <a:off x="4782312" y="401421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#3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074920" y="399592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content (2-8 wt%)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74920" y="4133088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↑ · biocompat ↑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6812280" y="3977640"/>
            <a:ext cx="1920240" cy="274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5" name="Text 53"/>
          <p:cNvSpPr/>
          <p:nvPr/>
        </p:nvSpPr>
        <p:spPr>
          <a:xfrm>
            <a:off x="6885432" y="401421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#4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78040" y="399592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 content (2-6 wt%)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178040" y="4133088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↑ · cost ↓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02920" y="4325112"/>
            <a:ext cx="1920240" cy="274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9" name="Text 57"/>
          <p:cNvSpPr/>
          <p:nvPr/>
        </p:nvSpPr>
        <p:spPr>
          <a:xfrm>
            <a:off x="576072" y="43616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#5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68680" y="434340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T (400-500°C)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68680" y="448056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control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606040" y="4325112"/>
            <a:ext cx="1920240" cy="274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3" name="Text 61"/>
          <p:cNvSpPr/>
          <p:nvPr/>
        </p:nvSpPr>
        <p:spPr>
          <a:xfrm>
            <a:off x="2679192" y="43616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971800" y="434340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scan speed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971800" y="448056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Porosity · texture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4709160" y="4325112"/>
            <a:ext cx="1920240" cy="274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7" name="Text 65"/>
          <p:cNvSpPr/>
          <p:nvPr/>
        </p:nvSpPr>
        <p:spPr>
          <a:xfrm>
            <a:off x="4782312" y="43616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074920" y="434340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coating thickness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074920" y="448056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Osseointegration ↑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6812280" y="4325112"/>
            <a:ext cx="1920240" cy="2743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71" name="Text 69"/>
          <p:cNvSpPr/>
          <p:nvPr/>
        </p:nvSpPr>
        <p:spPr>
          <a:xfrm>
            <a:off x="6885432" y="43616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178040" y="434340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content (&lt; 0.15 wt%)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7178040" y="448056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Ductility control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02920" y="480974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8046720" y="480974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AI Extracts X-Y from Every Patent — With Evidence Grading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0116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241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text: Abstract + Claims + Description. Cross-referenced. Confidence-rated.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8138160" cy="2926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264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VARIABLE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560320" y="14264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OUTCOME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663440" y="14264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669280" y="14264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14264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02920" y="1709928"/>
            <a:ext cx="8138160" cy="3200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647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28→35 wt%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60320" y="1764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62→48 GPa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63440" y="17647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Comparative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669280" y="17647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452360" y="180136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0" y="176479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02920" y="2075688"/>
            <a:ext cx="8138160" cy="32004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130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5→10 wt%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0320" y="2130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↓ 60% (90d SBF)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2130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ICP-MS 90d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669280" y="21305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452360" y="216712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21305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02920" y="2441448"/>
            <a:ext cx="8138160" cy="3200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24963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diffusion hardening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60320" y="24963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↓ 3× (pin-on-disk)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663440" y="24963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G133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669280" y="24963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US10188778B2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52360" y="253288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0" y="2496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2807208"/>
            <a:ext cx="8138160" cy="32004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2862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pore 300-600μm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60320" y="28620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ingrowth ↑ 65% at 12wk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63440" y="2862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Histomorphometry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0" y="28620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452360" y="289864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8" name="Text 36"/>
          <p:cNvSpPr/>
          <p:nvPr/>
        </p:nvSpPr>
        <p:spPr>
          <a:xfrm>
            <a:off x="7680960" y="28620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02920" y="3172968"/>
            <a:ext cx="8138160" cy="3200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2278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0→5 wt%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560320" y="32278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Tensile strength +150 MPa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3227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E8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669280" y="32278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52360" y="3264408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45" name="Text 43"/>
          <p:cNvSpPr/>
          <p:nvPr/>
        </p:nvSpPr>
        <p:spPr>
          <a:xfrm>
            <a:off x="7680960" y="32278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02920" y="3538728"/>
            <a:ext cx="8138160" cy="32004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" y="3593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450 vs 500°C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560320" y="3593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volume fraction 2×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663440" y="35935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TEM + XRD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69280" y="3593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52360" y="3630168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52" name="Text 50"/>
          <p:cNvSpPr/>
          <p:nvPr/>
        </p:nvSpPr>
        <p:spPr>
          <a:xfrm>
            <a:off x="7680960" y="359359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02920" y="3904488"/>
            <a:ext cx="8138160" cy="3200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3959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coating 50→100μm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560320" y="3959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contact area +25%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4663440" y="39593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Limited samples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669280" y="3959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452360" y="3995928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59" name="Text 57"/>
          <p:cNvSpPr/>
          <p:nvPr/>
        </p:nvSpPr>
        <p:spPr>
          <a:xfrm>
            <a:off x="7680960" y="3959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02920" y="4270248"/>
            <a:ext cx="8138160" cy="32004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61" name="Text 59"/>
          <p:cNvSpPr/>
          <p:nvPr/>
        </p:nvSpPr>
        <p:spPr>
          <a:xfrm>
            <a:off x="640080" y="43251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 2→6 wt%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560320" y="43251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YS +80 MPa · cost -30%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663440" y="4325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Limited data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69280" y="43251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452360" y="4361688"/>
            <a:ext cx="137160" cy="128016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66" name="Text 64"/>
          <p:cNvSpPr/>
          <p:nvPr/>
        </p:nvSpPr>
        <p:spPr>
          <a:xfrm>
            <a:off x="7680960" y="43251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502920" y="4590288"/>
            <a:ext cx="8138160" cy="14630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8" name="Text 66"/>
          <p:cNvSpPr/>
          <p:nvPr/>
        </p:nvSpPr>
        <p:spPr>
          <a:xfrm>
            <a:off x="640080" y="4590288"/>
            <a:ext cx="7863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pPr indent="0" marL="0">
              <a:buNone/>
            </a:pPr>
            <a:r>
              <a:rPr lang="en-US" sz="7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is the dominant lever for modulus. Zr dominates biocompatibility. Ta + Sn are secondary strengtheners. No single patent optimized all four simultaneously — this is your white space.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502920" y="480974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8046720" y="480974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4: AI Designs Your 1st and 2nd DOE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0116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241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patent evidence, white space, and critical X ranking — AI recommends what to test.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31920" cy="3246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417320"/>
            <a:ext cx="3931920" cy="45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72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1ST DOE  ·  SCREENING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792224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Fractional factorial  ·  2⁴⁻¹  ·  Resolution IV  ·  12 runs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214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965960" y="21214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743200" y="21214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520440" y="21214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77240" y="233172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65960" y="233172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wt%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0" y="233172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wt%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20440" y="233172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modulus lever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77240" y="271576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content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65960" y="27157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wt%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27157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wt%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520440" y="271576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biocompatibility lever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7240" y="309981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content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30998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wt%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30998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wt%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20440" y="309981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+ AM compatibility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77240" y="348386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temp.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65960" y="34838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400°C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348386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500°C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20440" y="348386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precipitation control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85800" y="3886200"/>
            <a:ext cx="3566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Responses: </a:t>
            </a:r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(GPa), UTS (MPa), εf (%), wear rate (mm³/Nm), ion release (ppb at 90d), cell viability (%)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85800" y="437083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screening: </a:t>
            </a:r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top 2 levers and proceeds to optimization.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663440" y="1417320"/>
            <a:ext cx="3977640" cy="3246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4" name="Shape 32"/>
          <p:cNvSpPr/>
          <p:nvPr/>
        </p:nvSpPr>
        <p:spPr>
          <a:xfrm>
            <a:off x="4663440" y="1417320"/>
            <a:ext cx="3977640" cy="45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1572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2ND DOE  ·  OPTIMIZATION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46320" y="1792224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Central composite design  ·  2 factors  ·  α = 1.414  ·  8 runs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84632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 identifies the top 2 levers (likely Nb + Zr), optimize the sweet spot with a response surface design.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846320" y="2651760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SURFACE CONTOUR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846320" y="28346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0" name="Shape 38"/>
          <p:cNvSpPr/>
          <p:nvPr/>
        </p:nvSpPr>
        <p:spPr>
          <a:xfrm>
            <a:off x="5559552" y="28346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1" name="Shape 39"/>
          <p:cNvSpPr/>
          <p:nvPr/>
        </p:nvSpPr>
        <p:spPr>
          <a:xfrm>
            <a:off x="6272784" y="28346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2" name="Shape 40"/>
          <p:cNvSpPr/>
          <p:nvPr/>
        </p:nvSpPr>
        <p:spPr>
          <a:xfrm>
            <a:off x="6986016" y="283464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3" name="Shape 41"/>
          <p:cNvSpPr/>
          <p:nvPr/>
        </p:nvSpPr>
        <p:spPr>
          <a:xfrm>
            <a:off x="7699248" y="28346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4" name="Shape 42"/>
          <p:cNvSpPr/>
          <p:nvPr/>
        </p:nvSpPr>
        <p:spPr>
          <a:xfrm>
            <a:off x="4846320" y="32461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5" name="Shape 43"/>
          <p:cNvSpPr/>
          <p:nvPr/>
        </p:nvSpPr>
        <p:spPr>
          <a:xfrm>
            <a:off x="5559552" y="324612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6" name="Shape 44"/>
          <p:cNvSpPr/>
          <p:nvPr/>
        </p:nvSpPr>
        <p:spPr>
          <a:xfrm>
            <a:off x="6272784" y="324612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7" name="Shape 45"/>
          <p:cNvSpPr/>
          <p:nvPr/>
        </p:nvSpPr>
        <p:spPr>
          <a:xfrm>
            <a:off x="6986016" y="32461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8" name="Shape 46"/>
          <p:cNvSpPr/>
          <p:nvPr/>
        </p:nvSpPr>
        <p:spPr>
          <a:xfrm>
            <a:off x="7699248" y="32461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9" name="Shape 47"/>
          <p:cNvSpPr/>
          <p:nvPr/>
        </p:nvSpPr>
        <p:spPr>
          <a:xfrm>
            <a:off x="4846320" y="36576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0" name="Shape 48"/>
          <p:cNvSpPr/>
          <p:nvPr/>
        </p:nvSpPr>
        <p:spPr>
          <a:xfrm>
            <a:off x="5559552" y="365760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1" name="Shape 49"/>
          <p:cNvSpPr/>
          <p:nvPr/>
        </p:nvSpPr>
        <p:spPr>
          <a:xfrm>
            <a:off x="6272784" y="365760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2" name="Shape 50"/>
          <p:cNvSpPr/>
          <p:nvPr/>
        </p:nvSpPr>
        <p:spPr>
          <a:xfrm>
            <a:off x="6986016" y="36576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3" name="Shape 51"/>
          <p:cNvSpPr/>
          <p:nvPr/>
        </p:nvSpPr>
        <p:spPr>
          <a:xfrm>
            <a:off x="7699248" y="365760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4" name="Shape 52"/>
          <p:cNvSpPr/>
          <p:nvPr/>
        </p:nvSpPr>
        <p:spPr>
          <a:xfrm>
            <a:off x="4846320" y="406908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5" name="Shape 53"/>
          <p:cNvSpPr/>
          <p:nvPr/>
        </p:nvSpPr>
        <p:spPr>
          <a:xfrm>
            <a:off x="5559552" y="40690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2784" y="40690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7" name="Shape 55"/>
          <p:cNvSpPr/>
          <p:nvPr/>
        </p:nvSpPr>
        <p:spPr>
          <a:xfrm>
            <a:off x="6986016" y="406908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8" name="Shape 56"/>
          <p:cNvSpPr/>
          <p:nvPr/>
        </p:nvSpPr>
        <p:spPr>
          <a:xfrm>
            <a:off x="7699248" y="40690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59" name="Text 57"/>
          <p:cNvSpPr/>
          <p:nvPr/>
        </p:nvSpPr>
        <p:spPr>
          <a:xfrm>
            <a:off x="4846320" y="4407408"/>
            <a:ext cx="1828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 →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6766560" y="4407408"/>
            <a:ext cx="1828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Zr content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846320" y="4526280"/>
            <a:ext cx="3566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experiments. AI analyzes your DOE data. The model updates. Feed results back — the learning compounds across projects.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502920" y="480974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8046720" y="480974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Product Lifecycle — Accelerated by AI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0116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241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search tool. This is an R&amp;D operating system.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840480" y="1170432"/>
            <a:ext cx="1051560" cy="5486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2" y="122529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913632" y="14813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166360" y="1298448"/>
            <a:ext cx="1097280" cy="5486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9" name="Text 7"/>
          <p:cNvSpPr/>
          <p:nvPr/>
        </p:nvSpPr>
        <p:spPr>
          <a:xfrm>
            <a:off x="5239512" y="135331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CTQs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239512" y="16093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specs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methods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6126480" y="1901952"/>
            <a:ext cx="1188720" cy="5486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6199632" y="195681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99632" y="2212848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Patents ·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126480" y="2788920"/>
            <a:ext cx="1188720" cy="5486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Text 13"/>
          <p:cNvSpPr/>
          <p:nvPr/>
        </p:nvSpPr>
        <p:spPr>
          <a:xfrm>
            <a:off x="6199632" y="284378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99632" y="3099816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 matrix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486400" y="3493008"/>
            <a:ext cx="1097280" cy="5486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5559552" y="354787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559552" y="380390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&amp; 2nd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069080" y="3767328"/>
            <a:ext cx="1097280" cy="5486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1" name="Text 19"/>
          <p:cNvSpPr/>
          <p:nvPr/>
        </p:nvSpPr>
        <p:spPr>
          <a:xfrm>
            <a:off x="4142232" y="382219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142232" y="407822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487168" y="3493008"/>
            <a:ext cx="1097280" cy="5486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4" name="Text 22"/>
          <p:cNvSpPr/>
          <p:nvPr/>
        </p:nvSpPr>
        <p:spPr>
          <a:xfrm>
            <a:off x="2560320" y="354787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380390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data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463040" y="2788920"/>
            <a:ext cx="1188720" cy="5486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7" name="Text 25"/>
          <p:cNvSpPr/>
          <p:nvPr/>
        </p:nvSpPr>
        <p:spPr>
          <a:xfrm>
            <a:off x="1536192" y="284378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536192" y="3099816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updates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463040" y="1901952"/>
            <a:ext cx="1188720" cy="5486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0" name="Text 28"/>
          <p:cNvSpPr/>
          <p:nvPr/>
        </p:nvSpPr>
        <p:spPr>
          <a:xfrm>
            <a:off x="1536192" y="195681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536192" y="2212848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463040" y="1298448"/>
            <a:ext cx="1188720" cy="5486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3" name="Text 31"/>
          <p:cNvSpPr/>
          <p:nvPr/>
        </p:nvSpPr>
        <p:spPr>
          <a:xfrm>
            <a:off x="1536192" y="135331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536192" y="1609344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project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faster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429000" y="2011680"/>
            <a:ext cx="2103120" cy="2103120"/>
          </a:xfrm>
          <a:prstGeom prst="ellipse">
            <a:avLst/>
          </a:prstGeom>
          <a:solidFill>
            <a:srgbClr val="060E18"/>
          </a:solidFill>
          <a:ln/>
        </p:spPr>
      </p:sp>
      <p:sp>
        <p:nvSpPr>
          <p:cNvPr id="36" name="Shape 34"/>
          <p:cNvSpPr/>
          <p:nvPr/>
        </p:nvSpPr>
        <p:spPr>
          <a:xfrm>
            <a:off x="3547872" y="2130552"/>
            <a:ext cx="1865376" cy="1865376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37" name="Text 35"/>
          <p:cNvSpPr/>
          <p:nvPr/>
        </p:nvSpPr>
        <p:spPr>
          <a:xfrm>
            <a:off x="3547872" y="242316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02920" y="4645152"/>
            <a:ext cx="80467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cycle feeds the next. Your R&amp;D knowledge compounds. This is an R&amp;D operating system, not a search tool.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02920" y="480974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046720" y="480974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 Under the Hood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0116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02412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understand any of this. But the rigor is real.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606040" cy="333756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54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121408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8600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context window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" y="267004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50+ full patents in one pass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85800" y="305409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streaming: see results in real-time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5800" y="34381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· easily swappable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8221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grading: L0 (AI guess) to L5 (controlled experiment)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85800" y="420624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207K chars · 52K tokens per analysis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91840" y="1417320"/>
            <a:ext cx="2606040" cy="333756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554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PATENT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74720" y="2121408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0" y="228600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global databases in parallel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74720" y="267004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 · USPTO · EPO · WIPO · Scholar · LLM fallback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474720" y="305409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 when sources blocked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474720" y="34381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Extracts: Abstract · Claims · Description · Inventors · Assignee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74720" y="38221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structured characters per patent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74720" y="420624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patent number links to original source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80760" y="1417320"/>
            <a:ext cx="2606040" cy="333756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15544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2121408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28600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 backend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63640" y="267004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 frontend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263640" y="305409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deploy anywhere in one command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263640" y="343814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Word (.docx) · Markdown · AI-designed PPTX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263640" y="38221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MIT License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263640" y="420624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chemist, for chemists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02920" y="4809744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8046720" y="480974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8549640" y="502920"/>
            <a:ext cx="128016" cy="12801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Shape 2"/>
          <p:cNvSpPr/>
          <p:nvPr/>
        </p:nvSpPr>
        <p:spPr>
          <a:xfrm>
            <a:off x="8366760" y="365760"/>
            <a:ext cx="128016" cy="128016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6400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LITERATURE TOOL.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2926080" cy="0"/>
          </a:xfrm>
          <a:prstGeom prst="line">
            <a:avLst/>
          </a:prstGeom>
          <a:noFill/>
          <a:ln w="19050">
            <a:solidFill>
              <a:srgbClr val="00B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300" kern="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AI-NATIVE R&amp;D.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77240" y="2834640"/>
            <a:ext cx="73152" cy="7315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7797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with test methods.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072384"/>
            <a:ext cx="73152" cy="7315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17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competitors. AI finds white space.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310128"/>
            <a:ext cx="73152" cy="7315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25526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from patents with evidence grading.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547872"/>
            <a:ext cx="73152" cy="7315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49300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785616"/>
            <a:ext cx="73152" cy="7315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3075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 your experimental data.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4023360"/>
            <a:ext cx="73152" cy="7315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9684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report. AI designs your slides.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261104"/>
            <a:ext cx="73152" cy="7315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062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feeds the next. Your knowledge compounds.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457200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Open Source  ·  MIT License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1520" y="486460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DEVELOPED BY A CHEMIST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The AI-Native R&amp;D Platform</dc:title>
  <dc:subject>PptxGenJS Presentation</dc:subject>
  <dc:creator>FORGE AI</dc:creator>
  <cp:lastModifiedBy>FORGE AI</cp:lastModifiedBy>
  <cp:revision>1</cp:revision>
  <dcterms:created xsi:type="dcterms:W3CDTF">2026-06-20T10:14:25Z</dcterms:created>
  <dcterms:modified xsi:type="dcterms:W3CDTF">2026-06-20T10:14:25Z</dcterms:modified>
</cp:coreProperties>
</file>