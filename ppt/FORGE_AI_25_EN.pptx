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0918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world's best materials are built by the world's slowest R&amp;D process.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68580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935805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987365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Revolutionize Your Innovation Process </a:t>
            </a:r>
            <a:r>
              <a:rPr lang="en-US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AI-Native R&amp;D Platform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536005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2718885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308464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302978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30410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24923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52355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468693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74301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688149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962469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907605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18192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412706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0138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434651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Cost of Slow R&amp;D — By the Numbers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19A3009-1686-721D-32B4-00DD0B905A7C}"/>
              </a:ext>
            </a:extLst>
          </p:cNvPr>
          <p:cNvGrpSpPr/>
          <p:nvPr/>
        </p:nvGrpSpPr>
        <p:grpSpPr>
          <a:xfrm>
            <a:off x="502920" y="1089660"/>
            <a:ext cx="8138160" cy="612000"/>
            <a:chOff x="502920" y="1234440"/>
            <a:chExt cx="8138160" cy="612000"/>
          </a:xfrm>
        </p:grpSpPr>
        <p:sp>
          <p:nvSpPr>
            <p:cNvPr id="4" name="Shape 2"/>
            <p:cNvSpPr/>
            <p:nvPr/>
          </p:nvSpPr>
          <p:spPr>
            <a:xfrm>
              <a:off x="502920" y="12344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2344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3258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188720" y="13075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Search Patents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9520" y="13075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88720" y="14965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polymer chemist screens 50 patents before a new formulation. Finding the right ones is the bottleneck.</a:t>
              </a:r>
              <a:endParaRPr lang="en-US" sz="9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C0953A-93B9-99A1-2CBA-9E2E0BC70F5A}"/>
              </a:ext>
            </a:extLst>
          </p:cNvPr>
          <p:cNvGrpSpPr/>
          <p:nvPr/>
        </p:nvGrpSpPr>
        <p:grpSpPr>
          <a:xfrm>
            <a:off x="502920" y="1906146"/>
            <a:ext cx="8138160" cy="612000"/>
            <a:chOff x="502920" y="2148840"/>
            <a:chExt cx="8138160" cy="612000"/>
          </a:xfrm>
        </p:grpSpPr>
        <p:sp>
          <p:nvSpPr>
            <p:cNvPr id="10" name="Shape 8"/>
            <p:cNvSpPr/>
            <p:nvPr/>
          </p:nvSpPr>
          <p:spPr>
            <a:xfrm>
              <a:off x="502920" y="21488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21488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22402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88720" y="22219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 &amp; Screen</a:t>
              </a:r>
              <a:endParaRPr lang="en-US" sz="14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589520" y="22219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 days</a:t>
              </a:r>
              <a:endParaRPr lang="en-US" sz="1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1188720" y="24109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 adhesive engineer spends a week mapping the competitive landscape. What you miss is risk.</a:t>
              </a:r>
              <a:endParaRPr lang="en-US" sz="9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1AB69E-41D3-A7A1-239C-9478C6FF3D0F}"/>
              </a:ext>
            </a:extLst>
          </p:cNvPr>
          <p:cNvGrpSpPr/>
          <p:nvPr/>
        </p:nvGrpSpPr>
        <p:grpSpPr>
          <a:xfrm>
            <a:off x="502920" y="2722632"/>
            <a:ext cx="8138160" cy="612000"/>
            <a:chOff x="502920" y="3063240"/>
            <a:chExt cx="8138160" cy="612000"/>
          </a:xfrm>
        </p:grpSpPr>
        <p:sp>
          <p:nvSpPr>
            <p:cNvPr id="16" name="Shape 14"/>
            <p:cNvSpPr/>
            <p:nvPr/>
          </p:nvSpPr>
          <p:spPr>
            <a:xfrm>
              <a:off x="502920" y="30632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30632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5800" y="31546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8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188720" y="31363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Extract &amp; Analyze</a:t>
              </a:r>
              <a:endParaRPr lang="en-US" sz="14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589520" y="31363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188720" y="33253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coatings scientist runs DOE on intuition because the literature is too vast. Guessing which variable to test first.</a:t>
              </a:r>
              <a:endParaRPr lang="en-US" sz="9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403FC64-8126-205D-F75E-31D1BE5A1161}"/>
              </a:ext>
            </a:extLst>
          </p:cNvPr>
          <p:cNvGrpSpPr/>
          <p:nvPr/>
        </p:nvGrpSpPr>
        <p:grpSpPr>
          <a:xfrm>
            <a:off x="502920" y="3539118"/>
            <a:ext cx="8138160" cy="612000"/>
            <a:chOff x="502920" y="3977640"/>
            <a:chExt cx="8138160" cy="612000"/>
          </a:xfrm>
        </p:grpSpPr>
        <p:sp>
          <p:nvSpPr>
            <p:cNvPr id="22" name="Shape 20"/>
            <p:cNvSpPr/>
            <p:nvPr/>
          </p:nvSpPr>
          <p:spPr>
            <a:xfrm>
              <a:off x="502920" y="39776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3977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685800" y="40690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04</a:t>
              </a:r>
              <a:endParaRPr lang="en-US" sz="18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1188720" y="40507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Report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89520" y="40507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 day</a:t>
              </a:r>
              <a:endParaRPr lang="en-US" sz="1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1188720" y="42397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the report. Make the slides. Present to the R&amp;D director. Next project... start from zero.</a:t>
              </a:r>
              <a:endParaRPr lang="en-US" sz="900" dirty="0"/>
            </a:p>
          </p:txBody>
        </p:sp>
      </p:grpSp>
      <p:sp>
        <p:nvSpPr>
          <p:cNvPr id="28" name="Shape 26"/>
          <p:cNvSpPr/>
          <p:nvPr/>
        </p:nvSpPr>
        <p:spPr>
          <a:xfrm>
            <a:off x="502920" y="4292299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38373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days. Nothing reusable. Zero compounding knowledge.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Every Materials Industry's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43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 &amp; Adhesives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12435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606040" y="1408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40 patents on acrylate chemistry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12435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029200" y="1408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UV-curable formulations, PSA tapes, barrier films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Implants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19933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606040" y="21579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osseointegration data across 6 DBs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157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alloys, HA coatings, biodegradable scaffolds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7432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606040" y="29077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Li-ion safety patents from JP/KR/CN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Electrolyte-resistant tapes, solid-state electrolytes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3493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 Composites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4930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606040" y="3657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which interface lasts 1000h at 180°C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CFRP, high-temp thermoplastics, flame retardants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85800" y="42428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Materials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06040" y="424281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606040" y="4407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thermal cond. vs CTE tradeoffs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42428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029200" y="4407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TIM, underfill, EMC, die-attach materials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FORGE AI 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literature tool. An AI-native R&amp;D operating system.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60320" cy="147218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to CTQs + methods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DBs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Patents, competitors, benchmarks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full patents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Claims + Description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where nobody is looking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71800" y="338327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DOE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Evidence-driven, not intuition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81040" y="34081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DOE data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151376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the grunt work. The chemist owns the judgment.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794761" cy="275234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evidence · Extracts relationships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experiments · Generates reports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Cross-patent comparison · White space ID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838886" cy="275234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39776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which patents truly matter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Prioritizes which X to test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if DOE works on the production floor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87368"/>
            <a:ext cx="8138160" cy="36576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48646" y="4178807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human: LLM-fabricated patent numbers · Plausible but un-runable DOE · Inferences without hands-on experience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Determines Output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E18FF07-D03B-4295-2910-982658A20958}"/>
              </a:ext>
            </a:extLst>
          </p:cNvPr>
          <p:cNvGrpSpPr/>
          <p:nvPr/>
        </p:nvGrpSpPr>
        <p:grpSpPr>
          <a:xfrm>
            <a:off x="502920" y="964691"/>
            <a:ext cx="8138160" cy="999343"/>
            <a:chOff x="502920" y="1188720"/>
            <a:chExt cx="8138160" cy="999343"/>
          </a:xfrm>
        </p:grpSpPr>
        <p:sp>
          <p:nvSpPr>
            <p:cNvPr id="4" name="Text 2"/>
            <p:cNvSpPr/>
            <p:nvPr/>
          </p:nvSpPr>
          <p:spPr>
            <a:xfrm>
              <a:off x="502920" y="118872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Biomedical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44475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46304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bone implant"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02920" y="18003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685800" y="1749151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 alloy, modulus &lt;50 GPa, wear &lt;0.1 mm³/Nm in SBF, ISO 10993-5 cell viability &gt;90%, SLM-printable, fatigue &gt;10⁷ cycles"</a:t>
              </a:r>
              <a:endParaRPr lang="en-US" sz="8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F9B9D8-3FC6-1525-8CC6-A1EA31D04A21}"/>
              </a:ext>
            </a:extLst>
          </p:cNvPr>
          <p:cNvGrpSpPr/>
          <p:nvPr/>
        </p:nvGrpSpPr>
        <p:grpSpPr>
          <a:xfrm>
            <a:off x="499731" y="1954571"/>
            <a:ext cx="8141349" cy="1002634"/>
            <a:chOff x="499731" y="2468880"/>
            <a:chExt cx="8141349" cy="1002634"/>
          </a:xfrm>
        </p:grpSpPr>
        <p:sp>
          <p:nvSpPr>
            <p:cNvPr id="9" name="Text 7"/>
            <p:cNvSpPr/>
            <p:nvPr/>
          </p:nvSpPr>
          <p:spPr>
            <a:xfrm>
              <a:off x="502920" y="246888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Battery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272491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274320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tape for battery"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9731" y="30849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682611" y="3032602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"PSA tape, 85°C/72h in carbonate electrolyte with LiPF6, post-soak adhesion &gt;0.8 N/cm, no residue, dielectric &gt;15 kV/mm"</a:t>
              </a:r>
              <a:endParaRPr lang="en-US" sz="8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15620" y="4188739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More in = more out.</a:t>
            </a:r>
            <a:endParaRPr lang="en-US" sz="1200" b="1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7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2C09C2-0C95-75BD-07C4-9646F204C415}"/>
              </a:ext>
            </a:extLst>
          </p:cNvPr>
          <p:cNvGrpSpPr/>
          <p:nvPr/>
        </p:nvGrpSpPr>
        <p:grpSpPr>
          <a:xfrm>
            <a:off x="457200" y="3069017"/>
            <a:ext cx="8183880" cy="1546179"/>
            <a:chOff x="457200" y="3749040"/>
            <a:chExt cx="8183880" cy="1546179"/>
          </a:xfrm>
        </p:grpSpPr>
        <p:sp>
          <p:nvSpPr>
            <p:cNvPr id="14" name="Text 12"/>
            <p:cNvSpPr/>
            <p:nvPr/>
          </p:nvSpPr>
          <p:spPr>
            <a:xfrm>
              <a:off x="502920" y="374904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Electronics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400507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85800" y="402336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thermal paste"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43734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2611" y="4339115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"TIM, thermal conductivity &gt;5 W/mK, BLT &lt;30μm, -40→125°C / 1000 thermal cycles, no pump-out, compatible with Cu/Al"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7200" y="5295219"/>
              <a:ext cx="8138160" cy="0"/>
            </a:xfrm>
            <a:prstGeom prst="line">
              <a:avLst/>
            </a:prstGeom>
            <a:noFill/>
            <a:ln w="10160">
              <a:solidFill>
                <a:srgbClr val="00BFA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4773168"/>
              <a:ext cx="8138160" cy="0"/>
            </a:xfrm>
            <a:prstGeom prst="line">
              <a:avLst/>
            </a:prstGeom>
            <a:noFill/>
            <a:ln w="5080">
              <a:solidFill>
                <a:srgbClr val="1A2D4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71800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42900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CTQs +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Methods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15955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08076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Search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6-source FB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+ WS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49102" y="279307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329184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342900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Extract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L0-5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37698" y="278392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08076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21792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Design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&amp; 2nd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008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949102" y="401421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29184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329184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342900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4904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Data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51317" y="40325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80760" y="370332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080760" y="37033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21792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3796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Update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6-Source Global Patent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60320" cy="1188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 · US 优先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05840" cy="18288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8580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needed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结构化数据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347472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08076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欧洲/全球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API · 国内可达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PCT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 · 国内可达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8580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347472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7472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全球学术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47472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 · HTML 解析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47472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347472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08076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08076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626364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6364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训练知识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永远可用 · 保底兜底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26364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626364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every patent number is real and traceable to its original source. Not AI-fabricated.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1: Coatings &amp; Adhesives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"UV-curable hard coat for polycarbonate automotive glazing, 9H pencil hardness, &gt;90% T at 550nm, &lt;2% haze after 1000 Taber cycles, 5-year Florida weatherability."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Acrylate oligomer + multifunctional monomer + photoinitiator systems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Organic-inorganic hybrid · siloxane/POSS-modified coatings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Nanoparticle-reinforced hard coats · SiO₂/Al₂O₃ fillers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UV + thermal dual-cure systems for enhanced weatherability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patents found. Key insight: no one combines high-hardness acrylate + weatherable silicone topcoat + UV dual-cure in a single automotive glazing system.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Acrylate oligomer type × Silicone content × UV dose · 12 runs · Responses: hardness, haze, QUV ΔE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 Deep Dive: X-Y Extraction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651760" y="1216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9224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149047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636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MW 500→2000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51760" y="15636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Pencil hardness 6H→9H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 ASTM D3363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9224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203911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112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 5→20%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65176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QUV 5000h ΔE 5→1.2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5yr outdoor exposure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9224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EP2987654B1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258775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660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Photoinitiator 1→3%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51760" y="26609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Yellowness b* 3.5→0.8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Xenon accelerated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9224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JP6543210B2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13639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209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SiO₂ content 0→15%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51760" y="3209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Taber haze 8→1.5%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D1044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9224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CN108765432A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68503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40080" y="3758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Dual-cure (UV+thermal)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51760" y="37581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+40%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FTIR+DSC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9224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US9987654B2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Biomedical Implants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 alloy for spinal cage, promotes bone ingrowth, modulus matching cancellous bone, SLM-printable, fatigue &gt;5M cycles at 500N."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Beta-Ti alloys · Nb/Zr/Ta systems · low modulus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SLM porous structures · pore gradient · bone ingrowth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HA/bioactive coatings · plasma spray · sol-gel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AM Ti implants · fatigue performance · post-processing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patents found. White space: no one combines low-modulus beta-Ti + SLM porosity gradient optimization + HA coating in a single integrated process.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Nb content × Pore size × HA thickness · 2⁴⁻¹ · 16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Competitive Landscape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 · Ti Alloy Bone Implants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08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4081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Ti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43200" y="159105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· 10yr clinical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02920" y="1993392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0299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02996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212848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2359152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615184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2615184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26517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NuVasive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2651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Modulus™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Ti porous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use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" y="2980944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coating design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236976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85800" y="32735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CAS/IMR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735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45643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 alloy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456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602736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760720" y="1371600"/>
            <a:ext cx="288036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5760720" y="1371600"/>
            <a:ext cx="28803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19202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63640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combines low-modulus beta-Ti + SLM porosity gradient + HA coating in one process.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94360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fatigue data is scarce — most patents only test cast or forged condition fatigue.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Battery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"Termination tape for Li-ion cell, resistant to carbonate electrolyte with LiPF6 at 85°C/72h, no residue after soak, dielectric &gt;15 kV/mm, compatible with automated cell assembly."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Acrylic PSA · electrolyte-resistant · crosslinking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Silicone PSA · high-temp stability · residue control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Polyimide substrate · thin profile · electrical insulation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JP/KR patent dominance · Nitto Denko/Tesa/LG Chem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patents found. White space: electrolyte-resistant acrylic-silicone hybrid PSA with &lt;1% swell in carbonate at rubbery state. Gap in JP/KR patent portfolios.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PSA composition × Substrate × Cure · 2³ full factorial + 3 center points · 11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Cross-Patent Comparison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377440" y="1216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69080" y="1216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236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02920" y="1490472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545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Nitto Denko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66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 PSA, acid &lt;5 mg KOH/g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85°C/72h no residue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silicone component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2112264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167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EP3456789B1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2167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Tesa SE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Silicone-acrylic block copolymer PSA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100°C/168h stable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04088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not reported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34056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4008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CN109876543A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2788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Chem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substrate + fluorinated acrylic PSA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&gt;20 kV/mm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4088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electrolyte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355848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4008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JP6789012B2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77440" y="34107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Corp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6160" y="3410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Epoxy-crosslinked acrylic PSA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 &lt;2%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04088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Residue test incomplete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4: Polymer Composites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"CFRP for aerospace secondary structure, Tg &gt;200°C, CAI &gt;300 MPa after 30J impact, FST compliant (FAR 25.853), out-of-autoclave processable."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Benzoxazine · high Tg · low viscosity OOA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BMI resin · high-temp · toughened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Phthalonitrile · ultra-high Tg · flame retardant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Thermoplastic-toughened epoxy · CAI optimized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patents found. White space: benzoxazine-phthalonitrile copolymer + thermoplastic toughening for OOA. No patent covers this combination.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Benzoxazine/PN ratio × Toughener % × Cure profile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5: Electronic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"Underfill for 2.5D packaging, CTE &lt;25 ppm/°C, Tg &gt;150°C, flow distance &gt;15mm in &lt;30s, no voiding after 260°C reflow."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Silica-filled epoxy · CTE control · flow optimization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Cyanate ester · low CTE · high-temp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Epoxy-cyanate hybrid · tradeoff balance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Nanofiller · flow-fill dual optimization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patents found. Core insight: Silica loading vs. flowability is the dominant tradeoff across ALL patents. Nano-SiO₂ (&lt;100nm) can improve CTE without sacrificing flow — but nobody optimized particle size distribution below 50nm.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SiO₂% × Particle size dist. × Epoxy-CE ratio · 2⁴⁻¹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Cross-Industry Pattern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changes? What stays the same?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(CTQs, materials, test methods per industry):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Coatings: Oligomer · Silicone · UV dose · Hardness/Haze/Weatherability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Biomedical: Nb% · Pore · HA thickness · Modulus/Wear/Cell viability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Battery: PSA type · Substrate · Cure · Adhesion/Residue/Dielectric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Composites: Resin ratio · Toughener · Cure · Tg/CAI/FST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Electronics: SiO₂% · Particle · Resin ratio · CTE/Tg/Flow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95020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02920" y="40416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 (FORGE AI handles):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Same: Search → Extract → Compare → DOE → Experiment → Learn. FORGE AI handles the pattern. The chemist provides domain expertise.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DOE — Two Examples Compared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DOE is designed from patent evidence in that industry — not a generic DOE template.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Coatings DOE · 2³ full factorial + 2 CPs · 10 runs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7724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659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83464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70332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type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Urethane acrylate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 acrylate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0332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hardness lever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7724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0332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weatherability lever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7724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dose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9659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mJ/cm²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464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mJ/cm²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0332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control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466344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484632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DOE · 2³ full factorial + 3 CPs · 11 runs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4632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3776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9951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type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acrylic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Acrylic-silicone hybrid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electrolyte resistance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93776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2648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25μm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12.5μm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+ thickness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93776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 condition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2648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120°C/5min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951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150°C/3min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86384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degree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SPC Platform Integration — Closed-Loop R&amp;D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 initial DOE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4894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 the plan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3786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 · Ppk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2461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 Opt.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optimization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39212" y="3831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data · refines model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47588" y="375182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Round DOE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AI-optimized design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91947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Cross-Project Learning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knowledge migrates across projects.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(automotive coating) found: silicone content at 12% is the sweet spot for weatherability vs. hardness tradeoff — and this relationship is independent of acrylate oligomer type.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 (electronic adhesive) starts: FORGE AI automatically loads Project A's silicone-acrylic X-Y relationships and pre-populates the initial model. The electronic adhesive doesn't start from zero — it picks up where Project A left off.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projects share acrylate chemistry fundamentals. FORGE AI recognizes this commonality and migrates the knowledge.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60604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patents/pass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~207K chars per analysis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29184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databases in parallel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if blocked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per patent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traceable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608076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one-command deploy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Paths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991508"/>
            <a:ext cx="8138160" cy="6400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991508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0463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→ pip install → npm run dev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6656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4131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502920" y="174131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8580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7961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docker run -e KEY=xxx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6656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49112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49112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Zeabur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54598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auth → auto-detect Dockerfile → deploy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$5/month · Alipay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24093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324093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HF Spaces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29579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auto-build → live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free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9074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502920" y="39907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8580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0456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Docker · private LLM · SSO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author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51054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1C97CAD-55F7-3829-71FD-C92BFAAAA8BA}"/>
              </a:ext>
            </a:extLst>
          </p:cNvPr>
          <p:cNvGrpSpPr/>
          <p:nvPr/>
        </p:nvGrpSpPr>
        <p:grpSpPr>
          <a:xfrm>
            <a:off x="502920" y="955581"/>
            <a:ext cx="8183880" cy="3675888"/>
            <a:chOff x="502920" y="897216"/>
            <a:chExt cx="8183880" cy="3675888"/>
          </a:xfrm>
        </p:grpSpPr>
        <p:sp>
          <p:nvSpPr>
            <p:cNvPr id="4" name="Shape 2"/>
            <p:cNvSpPr/>
            <p:nvPr/>
          </p:nvSpPr>
          <p:spPr>
            <a:xfrm>
              <a:off x="502920" y="897216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897216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502920" y="897216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731520" y="970368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Residency</a:t>
              </a:r>
              <a:endParaRPr lang="en-US" sz="12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651760" y="970368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When self-hosted, your VOC and experimental data never leave your infrastructure.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2920" y="1647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1647024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1647024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1720176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Key Management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651760" y="1720176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Injected via environment variables. Not in code. Not in git.</a:t>
              </a:r>
              <a:endParaRPr lang="en-US" sz="9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02920" y="2396832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2396832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502920" y="239683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246998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Patent Searches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2651760" y="2469984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Read-only operations. No footprint left on public databases.</a:t>
              </a:r>
              <a:endParaRPr lang="en-US" sz="9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2920" y="3146640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02920" y="3146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502920" y="3146640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731520" y="3219792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 Source Audit</a:t>
              </a:r>
              <a:endParaRPr lang="en-US" sz="1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2651760" y="3219792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MIT License. Every line of code is auditable.</a:t>
              </a:r>
              <a:endParaRPr lang="en-US" sz="9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3933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502920" y="3896448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502920" y="392239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3969600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Human in the Loop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651760" y="3969600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does not make decisions for you. You always control your data and IP.</a:t>
              </a:r>
              <a:endParaRPr lang="en-US" sz="9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802223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50000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 R&amp;D 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505842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73444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EBE8E3"/>
                </a:solidFill>
                <a:latin typeface="Calibri" pitchFamily="34" charset="0"/>
                <a:cs typeface="Calibri" pitchFamily="34" charset="-120"/>
              </a:rPr>
              <a:t>Revolutionize Your Innovation Process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9164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Startup to Global Enterprise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74028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268541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145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288658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14261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08775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34378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28892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54495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49009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374612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369125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394729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389242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4805462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31520" y="4828032"/>
            <a:ext cx="7315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For every materials company · Built by a chemist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2838</Words>
  <Application>Microsoft Office PowerPoint</Application>
  <PresentationFormat>On-screen Show (16:9)</PresentationFormat>
  <Paragraphs>501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</dc:title>
  <dc:subject>PptxGenJS Presentation</dc:subject>
  <dc:creator>FORGE AI</dc:creator>
  <cp:lastModifiedBy>JUN NIE</cp:lastModifiedBy>
  <cp:revision>5</cp:revision>
  <dcterms:created xsi:type="dcterms:W3CDTF">2026-06-20T12:41:47Z</dcterms:created>
  <dcterms:modified xsi:type="dcterms:W3CDTF">2026-06-21T12:08:59Z</dcterms:modified>
</cp:coreProperties>
</file>