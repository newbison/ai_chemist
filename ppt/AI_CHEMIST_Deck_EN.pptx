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25603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0"/>
            <a:ext cx="12801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CHEMIST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56032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R&amp;D Intelligence for Materials Scientists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research question to a complete R&amp;D report — in minutes, not days.</a:t>
            </a:r>
            <a:endParaRPr lang="en-US" sz="1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patent search  ·  AI deep analysis  ·  X-Y extraction  ·  DOE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 ·  R&amp;D Intelligence for Materials Scientists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R&amp;D Literature Review Takes 8 Days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64592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could do it in 5 minutes?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3017520"/>
          </a:xfrm>
          <a:prstGeom prst="rect">
            <a:avLst>
              <a:gd name="adj" fmla="val 1515"/>
            </a:avLst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2057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patents &amp; papers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2768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Patents, USPTO, Web of Science. Try different keyword combinations. Export results.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37360" y="2624328"/>
            <a:ext cx="228600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2679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679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screen 30-50 papers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898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abstracts, claims, and methods. Judge relevance. Exclude background noise.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37360" y="3246120"/>
            <a:ext cx="228600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77240" y="3300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300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compare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technical approaches. Build comparison tables. Map X (materials/process) to Y (properties).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3867912"/>
            <a:ext cx="228600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77240" y="3922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9227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technical report. Create presentation slides for team review.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554480"/>
            <a:ext cx="3840480" cy="3017520"/>
          </a:xfrm>
          <a:prstGeom prst="rect">
            <a:avLst>
              <a:gd name="adj" fmla="val 1515"/>
            </a:avLst>
          </a:prstGeom>
          <a:solidFill>
            <a:srgbClr val="C9A96E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691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WORKFLOW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20574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research question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22768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need in plain language. Example: 'Titanium alloy for bone implant with osseointegration and wear resistance.'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06440" y="2624328"/>
            <a:ext cx="2286000" cy="0"/>
          </a:xfrm>
          <a:prstGeom prst="line">
            <a:avLst/>
          </a:prstGeom>
          <a:noFill/>
          <a:ln w="6350">
            <a:solidFill>
              <a:srgbClr val="6B5A3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983480" y="26791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26791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searches 6 global patent DBs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2898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Patents, USPTO, EPO, WIPO, Scholar. Auto-fallback when sources are blocked. 20-50 most relevant patents found.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06440" y="3246120"/>
            <a:ext cx="2286000" cy="0"/>
          </a:xfrm>
          <a:prstGeom prst="line">
            <a:avLst/>
          </a:prstGeom>
          <a:noFill/>
          <a:ln w="6350">
            <a:solidFill>
              <a:srgbClr val="6B5A3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983480" y="33009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3300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&amp; extracts every patent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0644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text: Abstract + Claims + Description. 10K+ characters per patent. X-Y relationship extraction with evidence grading.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06440" y="3867912"/>
            <a:ext cx="2286000" cy="0"/>
          </a:xfrm>
          <a:prstGeom prst="line">
            <a:avLst/>
          </a:prstGeom>
          <a:noFill/>
          <a:ln w="6350">
            <a:solidFill>
              <a:srgbClr val="6B5A3A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983480" y="39227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06440" y="39227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ready for download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06440" y="41422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R&amp;D report: patent priority list, X-Y matrix, contradiction map, DOE hypotheses. Export to Word, Markdown, or AI-designed slides.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8348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60520" y="2377440"/>
            <a:ext cx="914400" cy="548640"/>
          </a:xfrm>
          <a:prstGeom prst="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416052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2,300×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 ·  R&amp;D Intelligence for Materials Scientists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Titanium Alloy for Bone Replacement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64592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materials R&amp;D question, from start to finish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937760" cy="2377440"/>
          </a:xfrm>
          <a:prstGeom prst="rect">
            <a:avLst>
              <a:gd name="adj" fmla="val 1923"/>
            </a:avLst>
          </a:prstGeom>
          <a:solidFill>
            <a:srgbClr val="1522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45720" cy="23774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QUESTION (VOC)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a titanium alloy for bone implant applications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promotes osseointegration, resists wear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cyclic loading, and does not release toxic ions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15+ year implant lifetime. The alloy must be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additive manufacturing (SLM/EBM)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patient-specific geometries."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DECOMPOSES INTO 4 SEARCH ANGLES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Ti alloy composition + osseointegration + bone implant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36941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additive manufacturing Ti alloy + fatigue + biocompatibility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Ti surface modification + hydroxyapatite + wear resistance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0965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beta titanium alloy + elastic modulus + ion release + long-term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5216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5216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found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global databases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85216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per patent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3108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· Claims · Description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sec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852160" y="3822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enter the question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English, no query syntax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852160" y="4736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4937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 days of manual 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 ·  R&amp;D Intelligence for Materials Scientists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Patents Found — Here Are the Most Relevant 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64592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 alloy + bone implant: AI searched 6 databases and ranked by relevance to your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640080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45720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27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US10895000B2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titanium alloy for biomedical implants with low elastic modulus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 Properties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modulus 45-65 GPa, matches cortical bone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640080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31720"/>
            <a:ext cx="45720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04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CN109234569B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606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Ti-Nb-Zr-Sn alloy with excellent osseointegration and corrosion resistance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4048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Metal Research, CAS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+ Zr reduce cytotoxicity; Sn improves strength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8046720" cy="640080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108960"/>
            <a:ext cx="45720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182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EP3428288B1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383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Additively manufactured porous titanium scaffold with bioactive coating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3182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 European Operations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3504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SLM-printed lattice + HA coating + 80% porosity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640080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886200"/>
            <a:ext cx="45720" cy="6400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593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US10188778B2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Surface-modified titanium implant with enhanced wear and fatigue resistance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959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 Biomet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50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diffusion hardening: 3× wear resistance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patents are real, traceable, and clickable. </a:t>
            </a:r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Patents, USPTO, EPO — every patent number links to the original.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 ·  R&amp;D Intelligence for Materials Scientists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Reads Every Patent in Full — Not Just the 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64592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patent: Abstract + Claims + Description + Inventors + Assignee — 10K+ characters of structured extraction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120640" cy="3246120"/>
          </a:xfrm>
          <a:prstGeom prst="rect">
            <a:avLst>
              <a:gd name="adj" fmla="val 1408"/>
            </a:avLst>
          </a:prstGeom>
          <a:solidFill>
            <a:srgbClr val="1522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361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DIVE: US10895000B2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titanium alloy for biomedical implants with low elastic modulus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27432" cy="3840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(Materials)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Ti-35Nb-7Zr-5Ta alloy; Nb beta-stabilizer; Zr for corrosion resistance; Ta for strength. Oxygen content controlled at &lt;0.15 wt% to avoid embrittlement.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27432" cy="3840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(Performance)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modulus: 48 GPa (vs. 110 GPa for Ti-6Al-4V). Tensile strength: 850 MPa. Elongation: 15%. Corrosion rate: &lt;0.001 mm/year in SBF at 37°C.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27432" cy="3840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0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arc remelting (VAR) → hot forging at 900°C → solution treatment at 850°C / 1h → water quench → aging at 450°C / 4h. Grain size: ASTM 8-10.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27432" cy="3840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Level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4/5: Comparative experiments with Ti-6Al-4V and CP-Ti controls. Cytotoxicity (ISO 10993-5), ion release (ICP-MS, 90-day soak), fatigue (ASTM F1160).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27432" cy="3840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X→Y Relationship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Nb from 28 to 35 wt% lowers elastic modulus from 62 → 48 GPa (linear). Zr content &gt;5 wt% reduces ion release by 60%. Aging at 450°C maximizes ω-phase strengthening.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0" y="1508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X-Y MATRIX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1783080"/>
            <a:ext cx="2651760" cy="384048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8013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Ti-Nb-Zr-Ta alloy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406640" y="1801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Elastic modulus ↓ 48 GPa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080760" y="1965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content linear correlation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943600" y="2258568"/>
            <a:ext cx="2651760" cy="384048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27685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diffusion hardening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406640" y="22768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Wear resistance ↑ 3×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80760" y="24414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gradient 200μm deep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943600" y="2734056"/>
            <a:ext cx="2651760" cy="384048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275234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coating (plasma spray)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406640" y="275234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Osseointegration ↑ 40%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080760" y="29169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contact area at 12 weeks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943600" y="3209544"/>
            <a:ext cx="2651760" cy="384048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32278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pore size 300-600μm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406640" y="32278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Bone ingrowth ↑ 65%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80760" y="33924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porosity window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943600" y="3685032"/>
            <a:ext cx="2651760" cy="384048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41" name="Text 39"/>
          <p:cNvSpPr/>
          <p:nvPr/>
        </p:nvSpPr>
        <p:spPr>
          <a:xfrm>
            <a:off x="6080760" y="37033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 &gt; 5 wt% in Ti alloy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406640" y="3703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Ion release ↓ 60%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80760" y="38679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passive oxide layer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943600" y="4160520"/>
            <a:ext cx="2651760" cy="384048"/>
          </a:xfrm>
          <a:prstGeom prst="rect">
            <a:avLst>
              <a:gd name="adj" fmla="val 7143"/>
            </a:avLst>
          </a:prstGeom>
          <a:solidFill>
            <a:srgbClr val="152238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41788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at 450°C / 4h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406640" y="41788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Strength ↑ 200 MPa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80760" y="4343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ω-phase precipitation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 ·  R&amp;D Intelligence for Materials Scientists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Deliverable: A Complete R&amp;D Report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64592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code. Not raw data. A ready-to-present analysis, just like your team would produce in 8 days.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Intake &amp; VOC→CTQ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question translated into Critical-to-Quality parameters: elastic modulus &lt; 50 GPa, wear rate &lt; 0.1 mm³/Nm, cell viability &gt; 90%.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Priority List (0-50 scoring)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691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patents scored by relevance, assignee credibility, evidence strength, and manufacturability. Top 8 recommended for deep extraction.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947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Dictionary / Y Dictionary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index of all materials variables (X) and performance outcomes (Y) found across patents. Normalized units for cross-comparison.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0" y="1947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12080" y="19476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X-Y Matrix &amp; Contradiction Map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X drives which Y? Where are the tradeoffs? Elastic modulus vs. strength. Osseointegration vs. wear resistance.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386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23865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Screening &amp; Feasibility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569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readiness, regulatory pathway (FDA 510k / CE Mark), supplier availability of Nb/Ta/Zr powders for AM.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386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12080" y="23865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Experiment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569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experiment portfolio: 3 alloy compositions × 2 heat treatments × 2 surface modifications = 12 conditions. Response variables and test methods specified.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28254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840" y="28254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Post-Experiment Learning Template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30083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template to record your own experimental results and feed them back into the AI for continuous learning across your portfolio.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8254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2080" y="28254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Replication Guide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0083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apply these findings to related projects: dental implants, spinal cages, trauma plates — same X-Y logic, different CTQ targets.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 ·  R&amp;D Intelligence for Materials Scientists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Under the Hood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64592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any of this. But if you're curious: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3246120"/>
          </a:xfrm>
          <a:prstGeom prst="rect">
            <a:avLst>
              <a:gd name="adj" fmla="val 1786"/>
            </a:avLst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Search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6 patent databases in parallel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 · USPTO · EPO · WIPO · Scholar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Auto-fallback: if one is blocked, tries the next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real patent numbers, not AI-generated ones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patent: clickable link to original source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560320" cy="3246120"/>
          </a:xfrm>
          <a:prstGeom prst="rect">
            <a:avLst>
              <a:gd name="adj" fmla="val 1786"/>
            </a:avLst>
          </a:prstGeom>
          <a:solidFill>
            <a:srgbClr val="152238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Analysis (DeepSeek)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full patent text: Abstract + Claims + Description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X (materials/process) → Y (properties) relationships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971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evidence level: experimental data vs. inference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3474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across patents; builds contradiction matrix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39776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DOE hypotheses based on identified gaps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560320" cy="3246120"/>
          </a:xfrm>
          <a:prstGeom prst="rect">
            <a:avLst>
              <a:gd name="adj" fmla="val 1786"/>
            </a:avLst>
          </a:prstGeom>
          <a:solidFill>
            <a:srgbClr val="15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965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following R&amp;D workflow (9-step)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Word (.docx) for editing and sharing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971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Markdown for Notion/Lark/wiki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3474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AI-designed slides (.pptx) for team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39776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Docker or cloud (Zeabur, Hugging Face)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CHEMIST  ·  R&amp;D Intelligence for Materials Scientists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Your Time on Science,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8E4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 Literature Review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200400" cy="0"/>
          </a:xfrm>
          <a:prstGeom prst="line">
            <a:avLst/>
          </a:prstGeom>
          <a:noFill/>
          <a:ln w="1524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834640"/>
            <a:ext cx="73152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788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one research question → get a complete R&amp;D report in 5 minutes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73152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998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patents from real databases — every number traceable to its source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456432"/>
            <a:ext cx="73152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10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X-Y extraction done for you: materials → properties, with evidence grading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767328"/>
            <a:ext cx="73152" cy="73152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21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Word, Markdown, or AI-designed slides for your next team meeting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7772400" cy="0"/>
          </a:xfrm>
          <a:prstGeom prst="line">
            <a:avLst/>
          </a:prstGeom>
          <a:noFill/>
          <a:ln w="6350">
            <a:solidFill>
              <a:srgbClr val="2A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github.com/newbison/AI_CHEMIST  ·  Open Source  ·  MIT License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materials scientists. No coding required.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CHEMIST — AI-Powered R&amp;D Intelligence for Materials Scientists</dc:title>
  <dc:subject>PptxGenJS Presentation</dc:subject>
  <dc:creator>AI CHEMIST</dc:creator>
  <cp:lastModifiedBy>AI CHEMIST</cp:lastModifiedBy>
  <cp:revision>1</cp:revision>
  <dcterms:created xsi:type="dcterms:W3CDTF">2026-06-20T09:58:28Z</dcterms:created>
  <dcterms:modified xsi:type="dcterms:W3CDTF">2026-06-20T09:58:28Z</dcterms:modified>
</cp:coreProperties>
</file>