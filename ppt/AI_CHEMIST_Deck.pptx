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237744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0"/>
            <a:ext cx="1097280" cy="36576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8016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800" kern="0" dirty="0">
                <a:solidFill>
                  <a:srgbClr val="E8E4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CHEMIST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777240" y="2331720"/>
            <a:ext cx="2286000" cy="0"/>
          </a:xfrm>
          <a:prstGeom prst="line">
            <a:avLst/>
          </a:prstGeom>
          <a:noFill/>
          <a:ln w="19050">
            <a:solidFill>
              <a:srgbClr val="C9A9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514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驱动的材料科学研发加速器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3108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从客户需求到 R&amp;D 智能报告 — 一键生成</a:t>
            </a:r>
            <a:endParaRPr lang="en-US" sz="13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全球专利检索 · AI 逐篇分析 · X-Y 关系抽取 · DOE 实验设计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CHEMIST · R&amp;D Intelligence Report Generator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09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2A3A5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4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传统 R&amp;D 流程的痛点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371600" cy="0"/>
          </a:xfrm>
          <a:prstGeom prst="line">
            <a:avLst/>
          </a:prstGeom>
          <a:noFill/>
          <a:ln w="19050">
            <a:solidFill>
              <a:srgbClr val="C9A9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371600"/>
            <a:ext cx="1828800" cy="2331720"/>
          </a:xfrm>
          <a:prstGeom prst="rect">
            <a:avLst>
              <a:gd name="adj" fmla="val 2500"/>
            </a:avLst>
          </a:prstGeom>
          <a:solidFill>
            <a:srgbClr val="152238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371600"/>
            <a:ext cx="1828800" cy="4572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19385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手动搜索专利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2677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天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260604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Patents / USPTO / 知网</a:t>
            </a:r>
            <a:endParaRPr lang="en-US" sz="9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关键词组合 · 结果筛选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450592" y="21488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764A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651760" y="1371600"/>
            <a:ext cx="1828800" cy="2331720"/>
          </a:xfrm>
          <a:prstGeom prst="rect">
            <a:avLst>
              <a:gd name="adj" fmla="val 2500"/>
            </a:avLst>
          </a:prstGeom>
          <a:solidFill>
            <a:srgbClr val="152238"/>
          </a:solidFill>
          <a:ln/>
        </p:spPr>
      </p:sp>
      <p:sp>
        <p:nvSpPr>
          <p:cNvPr id="12" name="Shape 10"/>
          <p:cNvSpPr/>
          <p:nvPr/>
        </p:nvSpPr>
        <p:spPr>
          <a:xfrm>
            <a:off x="2651760" y="1371600"/>
            <a:ext cx="1828800" cy="4572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13" name="Text 11"/>
          <p:cNvSpPr/>
          <p:nvPr/>
        </p:nvSpPr>
        <p:spPr>
          <a:xfrm>
            <a:off x="2788920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788920" y="19385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阅读与筛选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88920" y="22677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天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88920" y="260604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逐篇阅读摘要和权利要求</a:t>
            </a:r>
            <a:endParaRPr lang="en-US" sz="9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判断相关性 · 排除无关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53712" y="21488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764A"/>
                </a:solidFill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754880" y="1371600"/>
            <a:ext cx="1828800" cy="2331720"/>
          </a:xfrm>
          <a:prstGeom prst="rect">
            <a:avLst>
              <a:gd name="adj" fmla="val 2500"/>
            </a:avLst>
          </a:prstGeom>
          <a:solidFill>
            <a:srgbClr val="152238"/>
          </a:solidFill>
          <a:ln/>
        </p:spPr>
      </p:sp>
      <p:sp>
        <p:nvSpPr>
          <p:cNvPr id="19" name="Shape 17"/>
          <p:cNvSpPr/>
          <p:nvPr/>
        </p:nvSpPr>
        <p:spPr>
          <a:xfrm>
            <a:off x="4754880" y="1371600"/>
            <a:ext cx="1828800" cy="4572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20" name="Text 18"/>
          <p:cNvSpPr/>
          <p:nvPr/>
        </p:nvSpPr>
        <p:spPr>
          <a:xfrm>
            <a:off x="4892040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892040" y="19385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整理与分析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22677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天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92040" y="260604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提取技术方案 · 对比分析</a:t>
            </a:r>
            <a:endParaRPr lang="en-US" sz="9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 X-Y 关系矩阵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656832" y="21488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764A"/>
                </a:solidFill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858000" y="1371600"/>
            <a:ext cx="1828800" cy="2331720"/>
          </a:xfrm>
          <a:prstGeom prst="rect">
            <a:avLst>
              <a:gd name="adj" fmla="val 2500"/>
            </a:avLst>
          </a:prstGeom>
          <a:solidFill>
            <a:srgbClr val="152238"/>
          </a:solidFill>
          <a:ln/>
        </p:spPr>
      </p:sp>
      <p:sp>
        <p:nvSpPr>
          <p:cNvPr id="26" name="Shape 24"/>
          <p:cNvSpPr/>
          <p:nvPr/>
        </p:nvSpPr>
        <p:spPr>
          <a:xfrm>
            <a:off x="6858000" y="1371600"/>
            <a:ext cx="1828800" cy="4572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27" name="Text 25"/>
          <p:cNvSpPr/>
          <p:nvPr/>
        </p:nvSpPr>
        <p:spPr>
          <a:xfrm>
            <a:off x="6995160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995160" y="19385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撰写报告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95160" y="22677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995160" y="260604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编写技术报告</a:t>
            </a:r>
            <a:endParaRPr lang="en-US" sz="9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制作 PPT 演示文稿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48640" y="39776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5A5"/>
                </a:solidFill>
              </a:rPr>
              <a:t>总耗时</a:t>
            </a:r>
            <a:endParaRPr lang="en-US" sz="11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CHEMIST · R&amp;D Intelligence Report Generator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09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2A3A5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4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CHEMIST 解决方案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371600" cy="0"/>
          </a:xfrm>
          <a:prstGeom prst="line">
            <a:avLst/>
          </a:prstGeom>
          <a:noFill/>
          <a:ln w="19050">
            <a:solidFill>
              <a:srgbClr val="C9A9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分钟</a:t>
            </a:r>
            <a:pPr indent="0" marL="0">
              <a:buNone/>
            </a:pPr>
            <a:r>
              <a:rPr lang="en-US" sz="1600" dirty="0">
                <a:solidFill>
                  <a:srgbClr val="8A95A5"/>
                </a:solidFill>
              </a:rPr>
              <a:t>  完成传统 8 天的 R&amp;D 调研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828800" cy="1508760"/>
          </a:xfrm>
          <a:prstGeom prst="rect">
            <a:avLst>
              <a:gd name="adj" fmla="val 3030"/>
            </a:avLst>
          </a:prstGeom>
          <a:solidFill>
            <a:srgbClr val="C9A96E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4231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27432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 输入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31272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客户需求描述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50592" y="3017520"/>
            <a:ext cx="137160" cy="0"/>
          </a:xfrm>
          <a:prstGeom prst="line">
            <a:avLst/>
          </a:prstGeom>
          <a:noFill/>
          <a:ln w="25400">
            <a:solidFill>
              <a:srgbClr val="C9A96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51760" y="2331720"/>
            <a:ext cx="1828800" cy="1508760"/>
          </a:xfrm>
          <a:prstGeom prst="rect">
            <a:avLst>
              <a:gd name="adj" fmla="val 3030"/>
            </a:avLst>
          </a:prstGeom>
          <a:solidFill>
            <a:srgbClr val="152238"/>
          </a:solidFill>
          <a:ln/>
        </p:spPr>
      </p:sp>
      <p:sp>
        <p:nvSpPr>
          <p:cNvPr id="11" name="Text 9"/>
          <p:cNvSpPr/>
          <p:nvPr/>
        </p:nvSpPr>
        <p:spPr>
          <a:xfrm>
            <a:off x="2788920" y="24231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88920" y="27432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全球专利检索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88920" y="31272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源自动回退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53712" y="3017520"/>
            <a:ext cx="137160" cy="0"/>
          </a:xfrm>
          <a:prstGeom prst="line">
            <a:avLst/>
          </a:prstGeom>
          <a:noFill/>
          <a:ln w="25400">
            <a:solidFill>
              <a:srgbClr val="C9A9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0" y="2331720"/>
            <a:ext cx="1828800" cy="1508760"/>
          </a:xfrm>
          <a:prstGeom prst="rect">
            <a:avLst>
              <a:gd name="adj" fmla="val 3030"/>
            </a:avLst>
          </a:prstGeom>
          <a:solidFill>
            <a:srgbClr val="152238"/>
          </a:solidFill>
          <a:ln/>
        </p:spPr>
      </p:sp>
      <p:sp>
        <p:nvSpPr>
          <p:cNvPr id="16" name="Text 14"/>
          <p:cNvSpPr/>
          <p:nvPr/>
        </p:nvSpPr>
        <p:spPr>
          <a:xfrm>
            <a:off x="4892040" y="24231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27432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逐篇分析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92040" y="31272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10K+ 字符 / 篇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56832" y="3017520"/>
            <a:ext cx="137160" cy="0"/>
          </a:xfrm>
          <a:prstGeom prst="line">
            <a:avLst/>
          </a:prstGeom>
          <a:noFill/>
          <a:ln w="25400">
            <a:solidFill>
              <a:srgbClr val="C9A96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0" y="2331720"/>
            <a:ext cx="1828800" cy="1508760"/>
          </a:xfrm>
          <a:prstGeom prst="rect">
            <a:avLst>
              <a:gd name="adj" fmla="val 3030"/>
            </a:avLst>
          </a:prstGeom>
          <a:solidFill>
            <a:srgbClr val="152238"/>
          </a:solidFill>
          <a:ln/>
        </p:spPr>
      </p:sp>
      <p:sp>
        <p:nvSpPr>
          <p:cNvPr id="21" name="Text 19"/>
          <p:cNvSpPr/>
          <p:nvPr/>
        </p:nvSpPr>
        <p:spPr>
          <a:xfrm>
            <a:off x="6995160" y="24231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95160" y="27432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智能报告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995160" y="31272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.docx .pptx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41148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48640" y="44622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专利数据源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464515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自动回退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651760" y="41148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10K+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651760" y="44622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字符 / 篇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651760" y="464515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完整文本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754880" y="41148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步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754880" y="44622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分析工作流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54880" y="464515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 → DOE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858000" y="41148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种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858000" y="44622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导出格式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858000" y="464515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md·docx·pptx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4864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CHEMIST · R&amp;D Intelligence Report Generator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09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2A3A5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4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全球专利检索 — 6 源自动回退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371600" cy="0"/>
          </a:xfrm>
          <a:prstGeom prst="line">
            <a:avLst/>
          </a:prstGeom>
          <a:noFill/>
          <a:ln w="19050">
            <a:solidFill>
              <a:srgbClr val="C9A9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188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无需科学上网 · Google 被墙自动切换到 EPO / WIPO / Scholar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60320" cy="1325880"/>
          </a:xfrm>
          <a:prstGeom prst="rect">
            <a:avLst>
              <a:gd name="adj" fmla="val 3448"/>
            </a:avLst>
          </a:prstGeom>
          <a:solidFill>
            <a:srgbClr val="15223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91640"/>
            <a:ext cx="2560320" cy="36576"/>
          </a:xfrm>
          <a:prstGeom prst="rect">
            <a:avLst/>
          </a:prstGeom>
          <a:solidFill>
            <a:srgbClr val="8A95A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74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Patents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22199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5A5"/>
                </a:solidFill>
              </a:rPr>
              <a:t>全球</a:t>
            </a:r>
            <a:pPr indent="0" marL="0">
              <a:buNone/>
            </a:pPr>
            <a:r>
              <a:rPr lang="en-US" sz="800" dirty="0">
                <a:solidFill>
                  <a:srgbClr val="8B764A"/>
                </a:solidFill>
              </a:rPr>
              <a:t>  ·  </a:t>
            </a:r>
            <a:pPr indent="0" marL="0">
              <a:buNone/>
            </a:pPr>
            <a:r>
              <a:rPr lang="en-US" sz="1000" dirty="0">
                <a:solidFill>
                  <a:srgbClr val="8A95A5"/>
                </a:solidFill>
              </a:rPr>
              <a:t>最快·US 优先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37560" y="1691640"/>
            <a:ext cx="2560320" cy="1325880"/>
          </a:xfrm>
          <a:prstGeom prst="rect">
            <a:avLst>
              <a:gd name="adj" fmla="val 3448"/>
            </a:avLst>
          </a:prstGeom>
          <a:solidFill>
            <a:srgbClr val="152238"/>
          </a:solidFill>
          <a:ln/>
        </p:spPr>
      </p:sp>
      <p:sp>
        <p:nvSpPr>
          <p:cNvPr id="11" name="Shape 9"/>
          <p:cNvSpPr/>
          <p:nvPr/>
        </p:nvSpPr>
        <p:spPr>
          <a:xfrm>
            <a:off x="3337560" y="1691640"/>
            <a:ext cx="2560320" cy="36576"/>
          </a:xfrm>
          <a:prstGeom prst="rect">
            <a:avLst/>
          </a:prstGeom>
          <a:solidFill>
            <a:srgbClr val="8A95A5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1874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USPTO PatentsView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20440" y="222199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5A5"/>
                </a:solidFill>
              </a:rPr>
              <a:t>美国</a:t>
            </a:r>
            <a:pPr indent="0" marL="0">
              <a:buNone/>
            </a:pPr>
            <a:r>
              <a:rPr lang="en-US" sz="800" dirty="0">
                <a:solidFill>
                  <a:srgbClr val="8B764A"/>
                </a:solidFill>
              </a:rPr>
              <a:t>  ·  </a:t>
            </a:r>
            <a:pPr indent="0" marL="0">
              <a:buNone/>
            </a:pPr>
            <a:r>
              <a:rPr lang="en-US" sz="1000" dirty="0">
                <a:solidFill>
                  <a:srgbClr val="8A95A5"/>
                </a:solidFill>
              </a:rPr>
              <a:t>REST API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20440" y="2560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可能通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26480" y="1691640"/>
            <a:ext cx="2560320" cy="1325880"/>
          </a:xfrm>
          <a:prstGeom prst="rect">
            <a:avLst>
              <a:gd name="adj" fmla="val 3448"/>
            </a:avLst>
          </a:prstGeom>
          <a:solidFill>
            <a:srgbClr val="152238"/>
          </a:solidFill>
          <a:ln/>
        </p:spPr>
      </p:sp>
      <p:sp>
        <p:nvSpPr>
          <p:cNvPr id="16" name="Shape 14"/>
          <p:cNvSpPr/>
          <p:nvPr/>
        </p:nvSpPr>
        <p:spPr>
          <a:xfrm>
            <a:off x="6126480" y="1691640"/>
            <a:ext cx="2560320" cy="36576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874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 Espacenet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09360" y="222199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5A5"/>
                </a:solidFill>
              </a:rPr>
              <a:t>欧洲/全球</a:t>
            </a:r>
            <a:pPr indent="0" marL="0">
              <a:buNone/>
            </a:pPr>
            <a:r>
              <a:rPr lang="en-US" sz="800" dirty="0">
                <a:solidFill>
                  <a:srgbClr val="8B764A"/>
                </a:solidFill>
              </a:rPr>
              <a:t>  ·  </a:t>
            </a:r>
            <a:pPr indent="0" marL="0">
              <a:buNone/>
            </a:pPr>
            <a:r>
              <a:rPr lang="en-US" sz="1000" dirty="0">
                <a:solidFill>
                  <a:srgbClr val="8A95A5"/>
                </a:solidFill>
              </a:rPr>
              <a:t>OAuth2 API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09360" y="2560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国内可达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3246120"/>
            <a:ext cx="2560320" cy="1325880"/>
          </a:xfrm>
          <a:prstGeom prst="rect">
            <a:avLst>
              <a:gd name="adj" fmla="val 3448"/>
            </a:avLst>
          </a:prstGeom>
          <a:solidFill>
            <a:srgbClr val="152238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246120"/>
            <a:ext cx="2560320" cy="36576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429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WIPO Patentscope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377647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5A5"/>
                </a:solidFill>
              </a:rPr>
              <a:t>全球 PCT</a:t>
            </a:r>
            <a:pPr indent="0" marL="0">
              <a:buNone/>
            </a:pPr>
            <a:r>
              <a:rPr lang="en-US" sz="800" dirty="0">
                <a:solidFill>
                  <a:srgbClr val="8B764A"/>
                </a:solidFill>
              </a:rPr>
              <a:t>  ·  </a:t>
            </a:r>
            <a:pPr indent="0" marL="0">
              <a:buNone/>
            </a:pPr>
            <a:r>
              <a:rPr lang="en-US" sz="1000" dirty="0">
                <a:solidFill>
                  <a:srgbClr val="8A95A5"/>
                </a:solidFill>
              </a:rPr>
              <a:t>联合国机构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4114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国内可达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337560" y="3246120"/>
            <a:ext cx="2560320" cy="1325880"/>
          </a:xfrm>
          <a:prstGeom prst="rect">
            <a:avLst>
              <a:gd name="adj" fmla="val 3448"/>
            </a:avLst>
          </a:prstGeom>
          <a:solidFill>
            <a:srgbClr val="152238"/>
          </a:solidFill>
          <a:ln/>
        </p:spPr>
      </p:sp>
      <p:sp>
        <p:nvSpPr>
          <p:cNvPr id="26" name="Shape 24"/>
          <p:cNvSpPr/>
          <p:nvPr/>
        </p:nvSpPr>
        <p:spPr>
          <a:xfrm>
            <a:off x="3337560" y="3246120"/>
            <a:ext cx="2560320" cy="36576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27" name="Text 25"/>
          <p:cNvSpPr/>
          <p:nvPr/>
        </p:nvSpPr>
        <p:spPr>
          <a:xfrm>
            <a:off x="3520440" y="3429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Scholar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520440" y="377647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5A5"/>
                </a:solidFill>
              </a:rPr>
              <a:t>全球学术</a:t>
            </a:r>
            <a:pPr indent="0" marL="0">
              <a:buNone/>
            </a:pPr>
            <a:r>
              <a:rPr lang="en-US" sz="800" dirty="0">
                <a:solidFill>
                  <a:srgbClr val="8B764A"/>
                </a:solidFill>
              </a:rPr>
              <a:t>  ·  </a:t>
            </a:r>
            <a:pPr indent="0" marL="0">
              <a:buNone/>
            </a:pPr>
            <a:r>
              <a:rPr lang="en-US" sz="1000" dirty="0">
                <a:solidFill>
                  <a:srgbClr val="8A95A5"/>
                </a:solidFill>
              </a:rPr>
              <a:t>HTML 解析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520440" y="4114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常可通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26480" y="3246120"/>
            <a:ext cx="2560320" cy="1325880"/>
          </a:xfrm>
          <a:prstGeom prst="rect">
            <a:avLst>
              <a:gd name="adj" fmla="val 3448"/>
            </a:avLst>
          </a:prstGeom>
          <a:solidFill>
            <a:srgbClr val="152238"/>
          </a:solidFill>
          <a:ln/>
        </p:spPr>
      </p:sp>
      <p:sp>
        <p:nvSpPr>
          <p:cNvPr id="31" name="Shape 29"/>
          <p:cNvSpPr/>
          <p:nvPr/>
        </p:nvSpPr>
        <p:spPr>
          <a:xfrm>
            <a:off x="6126480" y="3246120"/>
            <a:ext cx="2560320" cy="36576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3429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LLM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309360" y="377647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5A5"/>
                </a:solidFill>
              </a:rPr>
              <a:t>训练知识</a:t>
            </a:r>
            <a:pPr indent="0" marL="0">
              <a:buNone/>
            </a:pPr>
            <a:r>
              <a:rPr lang="en-US" sz="800" dirty="0">
                <a:solidFill>
                  <a:srgbClr val="8B764A"/>
                </a:solidFill>
              </a:rPr>
              <a:t>  ·  </a:t>
            </a:r>
            <a:pPr indent="0" marL="0">
              <a:buNone/>
            </a:pPr>
            <a:r>
              <a:rPr lang="en-US" sz="1000" dirty="0">
                <a:solidFill>
                  <a:srgbClr val="8A95A5"/>
                </a:solidFill>
              </a:rPr>
              <a:t>永远可用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09360" y="4114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保底兜底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4864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CHEMIST · R&amp;D Intelligence Report Generator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09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2A3A5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4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深度专利分析 — 不只是摘要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371600" cy="0"/>
          </a:xfrm>
          <a:prstGeom prst="line">
            <a:avLst/>
          </a:prstGeom>
          <a:noFill/>
          <a:ln w="19050">
            <a:solidFill>
              <a:srgbClr val="C9A9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5303520" cy="3291840"/>
          </a:xfrm>
          <a:prstGeom prst="rect">
            <a:avLst>
              <a:gd name="adj" fmla="val 1389"/>
            </a:avLst>
          </a:prstGeom>
          <a:solidFill>
            <a:srgbClr val="15223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173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C9A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US11685841B2 · Avery Dennison Corp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71907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Cure-in-place pressure sensitive adhesive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084832"/>
            <a:ext cx="18288" cy="36576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1031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C9A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Abstract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868680" y="22860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Cure in place pressure sensitive adhesive compositions comprising a bodying component, a structural diluent, a radical diluent, and additives...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31520" y="2633472"/>
            <a:ext cx="18288" cy="36576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651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C9A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Inventors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868680" y="2834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Zajaczkowski, Michael T. Waterman, Kyle R. Heimbach, Eric L. Bartholomew, Brandon S. Miller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31520" y="3090672"/>
            <a:ext cx="18288" cy="36576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1089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C9A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868680" y="32918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claims · Method of curing a liquid composition comprising: providing a cure in place liquid composition comprising 5-70 wt% of a bodying component...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31520" y="3639312"/>
            <a:ext cx="18288" cy="36576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6576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C9A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present subject matter relates to pressure sensitive adhesive compositions. In particular, the compositions are curable in place...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12648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每篇提取 10K+ 字符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126480" y="178308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变量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26480" y="202082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材料/组分/工艺参数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126480" y="235000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变量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26480" y="258775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性能/效果/测试结果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126480" y="291693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证据层级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126480" y="31546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事实→抽取→推断→假设→DOE (0-5级)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126480" y="348386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矛盾矩阵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0" y="372160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识别技术矛盾 (如粘接力↑ vs 耐电解液↓)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126480" y="405079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横向对比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0" y="42885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不同专利技术方案差异 + 性能数据对比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864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CHEMIST · R&amp;D Intelligence Report Generator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09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2A3A5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4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完整 R&amp;D 报告 — 9 步工作流输出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371600" cy="0"/>
          </a:xfrm>
          <a:prstGeom prst="line">
            <a:avLst/>
          </a:prstGeom>
          <a:noFill/>
          <a:ln w="19050">
            <a:solidFill>
              <a:srgbClr val="C9A9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325880"/>
            <a:ext cx="2560320" cy="658368"/>
          </a:xfrm>
          <a:prstGeom prst="rect">
            <a:avLst>
              <a:gd name="adj" fmla="val 6944"/>
            </a:avLst>
          </a:prstGeom>
          <a:solidFill>
            <a:srgbClr val="C9A96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项目摄入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37560" y="1325880"/>
            <a:ext cx="2560320" cy="658368"/>
          </a:xfrm>
          <a:prstGeom prst="rect">
            <a:avLst>
              <a:gd name="adj" fmla="val 6944"/>
            </a:avLst>
          </a:prstGeom>
          <a:solidFill>
            <a:srgbClr val="152238"/>
          </a:solidFill>
          <a:ln/>
        </p:spPr>
      </p:sp>
      <p:sp>
        <p:nvSpPr>
          <p:cNvPr id="7" name="Text 5"/>
          <p:cNvSpPr/>
          <p:nvPr/>
        </p:nvSpPr>
        <p:spPr>
          <a:xfrm>
            <a:off x="3520440" y="14630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VOC→CTQ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26480" y="1325880"/>
            <a:ext cx="2560320" cy="658368"/>
          </a:xfrm>
          <a:prstGeom prst="rect">
            <a:avLst>
              <a:gd name="adj" fmla="val 6944"/>
            </a:avLst>
          </a:prstGeom>
          <a:solidFill>
            <a:srgbClr val="152238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0" y="14630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证据挖掘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2560320" cy="658368"/>
          </a:xfrm>
          <a:prstGeom prst="rect">
            <a:avLst>
              <a:gd name="adj" fmla="val 6944"/>
            </a:avLst>
          </a:prstGeom>
          <a:solidFill>
            <a:srgbClr val="C9A96E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3317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专利抽取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37560" y="2194560"/>
            <a:ext cx="2560320" cy="658368"/>
          </a:xfrm>
          <a:prstGeom prst="rect">
            <a:avLst>
              <a:gd name="adj" fmla="val 6944"/>
            </a:avLst>
          </a:prstGeom>
          <a:solidFill>
            <a:srgbClr val="152238"/>
          </a:solidFill>
          <a:ln/>
        </p:spPr>
      </p:sp>
      <p:sp>
        <p:nvSpPr>
          <p:cNvPr id="13" name="Text 11"/>
          <p:cNvSpPr/>
          <p:nvPr/>
        </p:nvSpPr>
        <p:spPr>
          <a:xfrm>
            <a:off x="3520440" y="23317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X-Y 综合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2194560"/>
            <a:ext cx="2560320" cy="658368"/>
          </a:xfrm>
          <a:prstGeom prst="rect">
            <a:avLst>
              <a:gd name="adj" fmla="val 6944"/>
            </a:avLst>
          </a:prstGeom>
          <a:solidFill>
            <a:srgbClr val="152238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23317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风险筛查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2560320" cy="658368"/>
          </a:xfrm>
          <a:prstGeom prst="rect">
            <a:avLst>
              <a:gd name="adj" fmla="val 6944"/>
            </a:avLst>
          </a:prstGeom>
          <a:solidFill>
            <a:srgbClr val="C9A96E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2004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DOE 设计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337560" y="3063240"/>
            <a:ext cx="2560320" cy="658368"/>
          </a:xfrm>
          <a:prstGeom prst="rect">
            <a:avLst>
              <a:gd name="adj" fmla="val 6944"/>
            </a:avLst>
          </a:prstGeom>
          <a:solidFill>
            <a:srgbClr val="152238"/>
          </a:solidFill>
          <a:ln/>
        </p:spPr>
      </p:sp>
      <p:sp>
        <p:nvSpPr>
          <p:cNvPr id="19" name="Text 17"/>
          <p:cNvSpPr/>
          <p:nvPr/>
        </p:nvSpPr>
        <p:spPr>
          <a:xfrm>
            <a:off x="3520440" y="32004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后实验学习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26480" y="3063240"/>
            <a:ext cx="2560320" cy="658368"/>
          </a:xfrm>
          <a:prstGeom prst="rect">
            <a:avLst>
              <a:gd name="adj" fmla="val 6944"/>
            </a:avLst>
          </a:prstGeom>
          <a:solidFill>
            <a:srgbClr val="152238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0" y="32004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组合复制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160520"/>
            <a:ext cx="8046720" cy="0"/>
          </a:xfrm>
          <a:prstGeom prst="line">
            <a:avLst/>
          </a:prstGeom>
          <a:noFill/>
          <a:ln w="6350">
            <a:solidFill>
              <a:srgbClr val="2A3A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2976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100" kern="0" dirty="0">
                <a:solidFill>
                  <a:srgbClr val="C9A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.md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" y="457200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475488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纯文本 · 飞书/Notion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337560" y="42976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100" kern="0" dirty="0">
                <a:solidFill>
                  <a:srgbClr val="C9A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.docx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337560" y="457200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文档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337560" y="475488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中文字体优化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126480" y="42976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100" kern="0" dirty="0">
                <a:solidFill>
                  <a:srgbClr val="C9A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.pptx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126480" y="457200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设计 PPT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26480" y="475488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套配色方案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CHEMIST · R&amp;D Intelligence Report Generator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09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2A3A5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4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生产级技术架构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371600" cy="0"/>
          </a:xfrm>
          <a:prstGeom prst="line">
            <a:avLst/>
          </a:prstGeom>
          <a:noFill/>
          <a:ln w="19050">
            <a:solidFill>
              <a:srgbClr val="C9A9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98448"/>
            <a:ext cx="8046720" cy="1051560"/>
          </a:xfrm>
          <a:prstGeom prst="rect">
            <a:avLst>
              <a:gd name="adj" fmla="val 4348"/>
            </a:avLst>
          </a:prstGeom>
          <a:solidFill>
            <a:srgbClr val="C9A96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898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011680" y="13898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V3 · 128K 上下文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212080" y="13898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流式输出 · 逐 token 推送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011680" y="177393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兼容协议 · 易于替换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212080" y="177393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 ~¥8 / 100 次报告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532888"/>
            <a:ext cx="8046720" cy="1051560"/>
          </a:xfrm>
          <a:prstGeom prst="rect">
            <a:avLst>
              <a:gd name="adj" fmla="val 4348"/>
            </a:avLst>
          </a:prstGeom>
          <a:solidFill>
            <a:srgbClr val="152238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6243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4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后端层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011680" y="26243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Uvicorn · 异步高性能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212080" y="26243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httpx 多源并发专利检索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11680" y="300837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PptxGenJS 子进程 · AI 设计 PPT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212080" y="300837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级回退链 · 自动切换数据源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767328"/>
            <a:ext cx="8046720" cy="1051560"/>
          </a:xfrm>
          <a:prstGeom prst="rect">
            <a:avLst>
              <a:gd name="adj" fmla="val 4348"/>
            </a:avLst>
          </a:prstGeom>
          <a:solidFill>
            <a:srgbClr val="152238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8587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4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前端层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011680" y="38587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 + Vite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212080" y="38587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EventSource 流式渲染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011680" y="424281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react-markdown 实时预览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212080" y="424281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镜像 · 一键部署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CHEMIST · R&amp;D Intelligence Report Generator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09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2A3A5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4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步开始使用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371600" cy="0"/>
          </a:xfrm>
          <a:prstGeom prst="line">
            <a:avLst/>
          </a:prstGeom>
          <a:noFill/>
          <a:ln w="19050">
            <a:solidFill>
              <a:srgbClr val="C9A9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325880"/>
            <a:ext cx="8046720" cy="1005840"/>
          </a:xfrm>
          <a:prstGeom prst="rect">
            <a:avLst>
              <a:gd name="adj" fmla="val 4545"/>
            </a:avLst>
          </a:prstGeom>
          <a:solidFill>
            <a:srgbClr val="152238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325880"/>
            <a:ext cx="54864" cy="100584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4630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7160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克隆 &amp; 配置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176479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8A9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https://github.com/newbison/AI_CHEMIST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8A9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AI_CHEMIST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8A9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"DEEPSEEK_API_KEY=sk-你的key" &gt; .env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8046720" cy="1005840"/>
          </a:xfrm>
          <a:prstGeom prst="rect">
            <a:avLst>
              <a:gd name="adj" fmla="val 4545"/>
            </a:avLst>
          </a:prstGeom>
          <a:solidFill>
            <a:srgbClr val="152238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514600"/>
            <a:ext cx="54864" cy="100584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6517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2606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启动后端 &amp; 前端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295351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8A9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webapp/backend &amp;&amp; pip install -r requirements.txt &amp;&amp; python main.py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8A9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webapp/frontend &amp;&amp; npm install &amp;&amp; npm run dev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3703320"/>
            <a:ext cx="8046720" cy="1005840"/>
          </a:xfrm>
          <a:prstGeom prst="rect">
            <a:avLst>
              <a:gd name="adj" fmla="val 4545"/>
            </a:avLst>
          </a:prstGeom>
          <a:solidFill>
            <a:srgbClr val="152238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3703320"/>
            <a:ext cx="54864" cy="100584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840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371600" y="3794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 VOC · 获得报告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14223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8A9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打开浏览器 http://localhost:5173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8A9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输入客户需求 → 选择专利 → 生成报告 → 导出 PPT/Word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4864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CHEMIST · R&amp;D Intelligence Report Generator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09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2A3A5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400" kern="0" dirty="0">
                <a:solidFill>
                  <a:srgbClr val="E8E4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让 AI 成为你的研发助手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31520" y="2377440"/>
            <a:ext cx="2743200" cy="0"/>
          </a:xfrm>
          <a:prstGeom prst="line">
            <a:avLst/>
          </a:prstGeom>
          <a:noFill/>
          <a:ln w="19050">
            <a:solidFill>
              <a:srgbClr val="C9A9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5176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dirty="0">
                <a:solidFill>
                  <a:srgbClr val="C9A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github.com/newbison/AI_CHEMIST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8A95A5"/>
                </a:solidFill>
              </a:rPr>
              <a:t>开源 · MIT License · Built with DeepSeek + FastAPI + React + PptxGenJS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4069080"/>
            <a:ext cx="7772400" cy="0"/>
          </a:xfrm>
          <a:prstGeom prst="line">
            <a:avLst/>
          </a:prstGeom>
          <a:noFill/>
          <a:ln w="6350">
            <a:solidFill>
              <a:srgbClr val="2A3A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CHEMIST ·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CHEMIST — AI 驱动的材料科学研发加速器</dc:title>
  <dc:subject>PptxGenJS Presentation</dc:subject>
  <dc:creator>AI CHEMIST</dc:creator>
  <cp:lastModifiedBy>AI CHEMIST</cp:lastModifiedBy>
  <cp:revision>1</cp:revision>
  <dcterms:created xsi:type="dcterms:W3CDTF">2026-06-20T09:47:07Z</dcterms:created>
  <dcterms:modified xsi:type="dcterms:W3CDTF">2026-06-20T09:47:07Z</dcterms:modified>
</cp:coreProperties>
</file>