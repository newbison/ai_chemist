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822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237744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CHEMIST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22860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驱动的材料科学研发加速器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从客户需求到 R&amp;D 智能报告 — 一键生成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全球专利检索 · AI 逐篇分析 · X-Y 关系抽取 · DOE 实验设计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R&amp;D Intelligence Report Generator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 R&amp;D 流程的痛点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28800" cy="233172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828800" cy="4572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手动搜索专利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 / USPTO / 知网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关键词组合 · 结果筛选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50592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764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1828800" cy="233172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651760" y="1371600"/>
            <a:ext cx="1828800" cy="4572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78892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88920" y="19385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阅读与筛选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逐篇阅读摘要和权利要求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判断相关性 · 排除无关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53712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764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1828800" cy="233172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828800" cy="4572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92040" y="19385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整理与分析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提取技术方案 · 对比分析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X-Y 关系矩阵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56832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764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1371600"/>
            <a:ext cx="1828800" cy="233172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858000" y="1371600"/>
            <a:ext cx="1828800" cy="4572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99516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19385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撰写报告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267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编写技术报告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 PPT 演示文稿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977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</a:rPr>
              <a:t>总耗时</a:t>
            </a:r>
            <a:endParaRPr lang="en-US" sz="11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R&amp;D Intelligence Report Generator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CHEMIST 解决方案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分钟</a:t>
            </a:r>
            <a:r>
              <a:rPr lang="en-US" sz="1600" dirty="0">
                <a:solidFill>
                  <a:srgbClr val="8A95A5"/>
                </a:solidFill>
              </a:rPr>
              <a:t>  完成传统 8 天的 R&amp;D 调研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28800" cy="150876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客户需求描述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3017520"/>
            <a:ext cx="13716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651760" y="2331720"/>
            <a:ext cx="1828800" cy="15087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788920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743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全球专利检索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源自动回退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53712" y="3017520"/>
            <a:ext cx="13716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1828800" cy="15087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92040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743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逐篇分析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字符 / 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56832" y="3017520"/>
            <a:ext cx="13716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858000" y="2331720"/>
            <a:ext cx="1828800" cy="15087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995160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2743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智能报告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3127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.docx .pptx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4462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专利数据源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645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自动回退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5176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51760" y="4462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字符 / 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4645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完整文本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步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54880" y="4462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分析工作流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645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→ DOE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种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58000" y="4462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导出格式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4645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md·docx·pptx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R&amp;D Intelligence Report Generator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全球专利检索 — 6 源自动回退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无需科学上网 · Google 被墙自动切换到 EPO / WIPO / Scholar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3258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0320" cy="36576"/>
          </a:xfrm>
          <a:prstGeom prst="rect">
            <a:avLst/>
          </a:prstGeom>
          <a:solidFill>
            <a:srgbClr val="8A95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21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</a:rPr>
              <a:t>全球</a:t>
            </a:r>
            <a:r>
              <a:rPr lang="en-US" sz="800" dirty="0">
                <a:solidFill>
                  <a:srgbClr val="8B764A"/>
                </a:solidFill>
              </a:rPr>
              <a:t>  ·  </a:t>
            </a:r>
            <a:r>
              <a:rPr lang="en-US" sz="1000" dirty="0">
                <a:solidFill>
                  <a:srgbClr val="8A95A5"/>
                </a:solidFill>
              </a:rPr>
              <a:t>最快·US 优先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560320" cy="13258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2560320" cy="36576"/>
          </a:xfrm>
          <a:prstGeom prst="rect">
            <a:avLst/>
          </a:prstGeom>
          <a:solidFill>
            <a:srgbClr val="8A95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PatentsView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221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</a:rPr>
              <a:t>美国</a:t>
            </a:r>
            <a:r>
              <a:rPr lang="en-US" sz="800" dirty="0">
                <a:solidFill>
                  <a:srgbClr val="8B764A"/>
                </a:solidFill>
              </a:rPr>
              <a:t>  ·  </a:t>
            </a:r>
            <a:r>
              <a:rPr lang="en-US" sz="1000" dirty="0">
                <a:solidFill>
                  <a:srgbClr val="8A95A5"/>
                </a:solidFill>
              </a:rPr>
              <a:t>REST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560320" cy="13258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256032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 Espacenet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221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</a:rPr>
              <a:t>欧洲/全球</a:t>
            </a:r>
            <a:r>
              <a:rPr lang="en-US" sz="800" dirty="0">
                <a:solidFill>
                  <a:srgbClr val="8B764A"/>
                </a:solidFill>
              </a:rPr>
              <a:t>  ·  </a:t>
            </a:r>
            <a:r>
              <a:rPr lang="en-US" sz="1000" dirty="0">
                <a:solidFill>
                  <a:srgbClr val="8A95A5"/>
                </a:solidFill>
              </a:rPr>
              <a:t>OAuth2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国内可达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2560320" cy="13258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256032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 Patentscope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776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</a:rPr>
              <a:t>全球 PCT</a:t>
            </a:r>
            <a:r>
              <a:rPr lang="en-US" sz="800" dirty="0">
                <a:solidFill>
                  <a:srgbClr val="8B764A"/>
                </a:solidFill>
              </a:rPr>
              <a:t>  ·  </a:t>
            </a:r>
            <a:r>
              <a:rPr lang="en-US" sz="1000" dirty="0">
                <a:solidFill>
                  <a:srgbClr val="8A95A5"/>
                </a:solidFill>
              </a:rPr>
              <a:t>联合国机构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国内可达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3246120"/>
            <a:ext cx="2560320" cy="13258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337560" y="3246120"/>
            <a:ext cx="256032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52044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3776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</a:rPr>
              <a:t>全球学术</a:t>
            </a:r>
            <a:r>
              <a:rPr lang="en-US" sz="800" dirty="0">
                <a:solidFill>
                  <a:srgbClr val="8B764A"/>
                </a:solidFill>
              </a:rPr>
              <a:t>  ·  </a:t>
            </a:r>
            <a:r>
              <a:rPr lang="en-US" sz="1000" dirty="0">
                <a:solidFill>
                  <a:srgbClr val="8A95A5"/>
                </a:solidFill>
              </a:rPr>
              <a:t>HTML 解析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常可通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3246120"/>
            <a:ext cx="2560320" cy="13258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126480" y="3246120"/>
            <a:ext cx="256032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LLM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776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5"/>
                </a:solidFill>
              </a:rPr>
              <a:t>训练知识</a:t>
            </a:r>
            <a:r>
              <a:rPr lang="en-US" sz="800" dirty="0">
                <a:solidFill>
                  <a:srgbClr val="8B764A"/>
                </a:solidFill>
              </a:rPr>
              <a:t>  ·  </a:t>
            </a:r>
            <a:r>
              <a:rPr lang="en-US" sz="1000" dirty="0">
                <a:solidFill>
                  <a:srgbClr val="8A95A5"/>
                </a:solidFill>
              </a:rPr>
              <a:t>永远可用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保底兜底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R&amp;D Intelligence Report Generator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深度专利分析 — 不只是摘要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32918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US11685841B2 · Avery Dennison Corp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Cure-in-place pressure sensitive adhesive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84832"/>
            <a:ext cx="18288" cy="36576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in place pressure sensitive adhesive compositions comprising a bodying component, a structural diluent, a radical diluent, and additives...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633472"/>
            <a:ext cx="18288" cy="36576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868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Zajaczkowski, Michael T. Waterman, Kyle R. Heimbach, Eric L. Bartholomew, Brandon S. Miller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3090672"/>
            <a:ext cx="18288" cy="36576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6868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claims · Method of curing a liquid composition comprising: providing a cure in place liquid composition comprising 5-70 wt% of a bodying component...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639312"/>
            <a:ext cx="18288" cy="36576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subject matter relates to pressure sensitive adhesive compositions. In particular, the compositions are curable in place...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264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每篇提取 10K+ 字符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7830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变量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0208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材料/组分/工艺参数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变量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587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性能/效果/测试结果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29169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证据层级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154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事实→抽取→推断→假设→DOE (0-5级)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34838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矛盾矩阵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721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识别技术矛盾 (如粘接力↑ vs 耐电解液↓)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40507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横向对比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4288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不同专利技术方案差异 + 性能数据对比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R&amp;D Intelligence Report Generator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 R&amp;D 报告 — 9 步工作流输出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0320" cy="6583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项目摄入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560320" cy="65836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520440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VOC→CTQ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325880"/>
            <a:ext cx="2560320" cy="65836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证据挖掘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560320" cy="6583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专利抽取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2194560"/>
            <a:ext cx="2560320" cy="65836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52044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X-Y 综合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60320" cy="65836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风险筛查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2560320" cy="65836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DOE 设计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3063240"/>
            <a:ext cx="2560320" cy="65836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520440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后实验学习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063240"/>
            <a:ext cx="2560320" cy="658368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组合复制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94501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131661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40598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68030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纯文本 · 飞书/Notion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4131661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.docx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37560" y="440598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文档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68030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中文字体优化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4131661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.pptx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26480" y="440598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设计 PPT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698589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套配色方案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927189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R&amp;D Intelligence Report Generator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543141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生产级技术架构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05156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· 128K 上下文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流式输出 · 逐 token 推送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7739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兼容协议 · 易于替换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7739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 ~¥8 / 100 次报告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8046720" cy="10515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624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· 异步高性能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2624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多源并发专利检索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30083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子进程 · AI 设计 PPT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30083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级回退链 · 自动切换数据源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8046720" cy="105156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724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858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3858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EventSource 流式渲染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4242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react-markdown 实时预览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4242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镜像 · 一键部署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R&amp;D Intelligence Report Generator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步开始使用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" cy="100584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克隆 &amp; 配置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https://github.com/newbison/AI_CHEMIST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AI_CHEMIST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"DEEPSEEK_API_KEY=sk-你的key" &gt; .env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8046720" cy="10058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54864" cy="100584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启动后端 &amp; 前端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9535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webapp/backend &amp;&amp; pip install -r requirements.txt &amp;&amp; python main.py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webapp/frontend &amp;&amp; npm install &amp;&amp; npm run dev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4864" cy="100584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VOC · 获得报告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142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打开浏览器 http://localhost:5173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输入客户需求 → 选择专利 → 生成报告 → 导出 PPT/Word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R&amp;D Intelligence Report Generator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 AI 成为你的研发助手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7432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github.com/newbison/AI_CHEMIST</a:t>
            </a:r>
            <a:endParaRPr lang="en-US" sz="1400" dirty="0"/>
          </a:p>
          <a:p>
            <a:pPr marL="0" indent="0">
              <a:lnSpc>
                <a:spcPct val="180000"/>
              </a:lnSpc>
              <a:buNone/>
            </a:pPr>
            <a:endParaRPr lang="en-US" sz="14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A95A5"/>
                </a:solidFill>
              </a:rPr>
              <a:t>开源 · MIT License · Built with DeepSeek + FastAPI + React + PptxGenJS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777240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676</Words>
  <Application>Microsoft Office PowerPoint</Application>
  <PresentationFormat>On-screen Show (16:9)</PresentationFormat>
  <Paragraphs>177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CHEMIST — AI 驱动的材料科学研发加速器</dc:title>
  <dc:subject>PptxGenJS Presentation</dc:subject>
  <dc:creator>AI CHEMIST</dc:creator>
  <cp:lastModifiedBy>JUN NIE</cp:lastModifiedBy>
  <cp:revision>2</cp:revision>
  <dcterms:created xsi:type="dcterms:W3CDTF">2026-06-20T09:47:07Z</dcterms:created>
  <dcterms:modified xsi:type="dcterms:W3CDTF">2026-06-20T09:59:10Z</dcterms:modified>
</cp:coreProperties>
</file>